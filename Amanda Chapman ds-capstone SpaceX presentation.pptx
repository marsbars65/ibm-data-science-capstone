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5"/>
  </p:notesMasterIdLst>
  <p:handoutMasterIdLst>
    <p:handoutMasterId r:id="rId56"/>
  </p:handoutMasterIdLst>
  <p:sldIdLst>
    <p:sldId id="327" r:id="rId5"/>
    <p:sldId id="330" r:id="rId6"/>
    <p:sldId id="331" r:id="rId7"/>
    <p:sldId id="332" r:id="rId8"/>
    <p:sldId id="298" r:id="rId9"/>
    <p:sldId id="262" r:id="rId10"/>
    <p:sldId id="263" r:id="rId11"/>
    <p:sldId id="335" r:id="rId12"/>
    <p:sldId id="334" r:id="rId13"/>
    <p:sldId id="264" r:id="rId14"/>
    <p:sldId id="336" r:id="rId15"/>
    <p:sldId id="266" r:id="rId16"/>
    <p:sldId id="265" r:id="rId17"/>
    <p:sldId id="276" r:id="rId18"/>
    <p:sldId id="303" r:id="rId19"/>
    <p:sldId id="337" r:id="rId20"/>
    <p:sldId id="277" r:id="rId21"/>
    <p:sldId id="284" r:id="rId22"/>
    <p:sldId id="338" r:id="rId23"/>
    <p:sldId id="269" r:id="rId24"/>
    <p:sldId id="304" r:id="rId25"/>
    <p:sldId id="305" r:id="rId26"/>
    <p:sldId id="307" r:id="rId27"/>
    <p:sldId id="306" r:id="rId28"/>
    <p:sldId id="308" r:id="rId29"/>
    <p:sldId id="339" r:id="rId30"/>
    <p:sldId id="270" r:id="rId31"/>
    <p:sldId id="309" r:id="rId32"/>
    <p:sldId id="310" r:id="rId33"/>
    <p:sldId id="311" r:id="rId34"/>
    <p:sldId id="312" r:id="rId35"/>
    <p:sldId id="314" r:id="rId36"/>
    <p:sldId id="313" r:id="rId37"/>
    <p:sldId id="315" r:id="rId38"/>
    <p:sldId id="316" r:id="rId39"/>
    <p:sldId id="317" r:id="rId40"/>
    <p:sldId id="294" r:id="rId41"/>
    <p:sldId id="296" r:id="rId42"/>
    <p:sldId id="318" r:id="rId43"/>
    <p:sldId id="319" r:id="rId44"/>
    <p:sldId id="321" r:id="rId45"/>
    <p:sldId id="322" r:id="rId46"/>
    <p:sldId id="323" r:id="rId47"/>
    <p:sldId id="324" r:id="rId48"/>
    <p:sldId id="288" r:id="rId49"/>
    <p:sldId id="289" r:id="rId50"/>
    <p:sldId id="320" r:id="rId51"/>
    <p:sldId id="274" r:id="rId52"/>
    <p:sldId id="275" r:id="rId53"/>
    <p:sldId id="329" r:id="rId54"/>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The Chapmans" initials="TC" lastIdx="4" clrIdx="6">
    <p:extLst>
      <p:ext uri="{19B8F6BF-5375-455C-9EA6-DF929625EA0E}">
        <p15:presenceInfo xmlns:p15="http://schemas.microsoft.com/office/powerpoint/2012/main" userId="16b43df9dd860e42" providerId="Windows Live"/>
      </p:ext>
    </p:extLst>
  </p:cmAuthor>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9CB"/>
    <a:srgbClr val="D9E8FB"/>
    <a:srgbClr val="C7F2C3"/>
    <a:srgbClr val="FCC6B5"/>
    <a:srgbClr val="0948CB"/>
    <a:srgbClr val="F2F4F8"/>
    <a:srgbClr val="1C7DDB"/>
    <a:srgbClr val="121619"/>
    <a:srgbClr val="F2F2F2"/>
    <a:srgbClr val="1455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85213" autoAdjust="0"/>
  </p:normalViewPr>
  <p:slideViewPr>
    <p:cSldViewPr snapToGrid="0" snapToObjects="1">
      <p:cViewPr varScale="1">
        <p:scale>
          <a:sx n="104" d="100"/>
          <a:sy n="104" d="100"/>
        </p:scale>
        <p:origin x="828" y="96"/>
      </p:cViewPr>
      <p:guideLst>
        <p:guide orient="horz" pos="2160"/>
        <p:guide pos="3840"/>
      </p:guideLst>
    </p:cSldViewPr>
  </p:slideViewPr>
  <p:outlineViewPr>
    <p:cViewPr>
      <p:scale>
        <a:sx n="33" d="100"/>
        <a:sy n="33" d="100"/>
      </p:scale>
      <p:origin x="0" y="-24294"/>
    </p:cViewPr>
  </p:outlineViewPr>
  <p:notesTextViewPr>
    <p:cViewPr>
      <p:scale>
        <a:sx n="1" d="1"/>
        <a:sy n="1" d="1"/>
      </p:scale>
      <p:origin x="0" y="0"/>
    </p:cViewPr>
  </p:notesTextViewPr>
  <p:sorterViewPr>
    <p:cViewPr>
      <p:scale>
        <a:sx n="100" d="100"/>
        <a:sy n="100" d="100"/>
      </p:scale>
      <p:origin x="0" y="-6379"/>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6A5C50-4889-41E4-8B40-2FDA3EBCFD02}"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GB"/>
        </a:p>
      </dgm:t>
    </dgm:pt>
    <dgm:pt modelId="{22A3F257-A587-4B28-A550-C5C410B28D89}">
      <dgm:prSet phldrT="[Text]" phldr="0" custT="1"/>
      <dgm:spPr>
        <a:solidFill>
          <a:srgbClr val="C7F2C3"/>
        </a:solidFill>
      </dgm:spPr>
      <dgm:t>
        <a:bodyPr/>
        <a:lstStyle/>
        <a:p>
          <a:r>
            <a:rPr lang="en-GB" sz="1400" dirty="0">
              <a:solidFill>
                <a:schemeClr val="tx1"/>
              </a:solidFill>
            </a:rPr>
            <a:t>Start</a:t>
          </a:r>
        </a:p>
      </dgm:t>
    </dgm:pt>
    <dgm:pt modelId="{D2F30168-B76C-4C53-92A2-BAE35A07F0FF}" type="parTrans" cxnId="{7B7DBBC7-2C49-48A3-988A-401ECB3CF057}">
      <dgm:prSet/>
      <dgm:spPr/>
      <dgm:t>
        <a:bodyPr/>
        <a:lstStyle/>
        <a:p>
          <a:endParaRPr lang="en-GB"/>
        </a:p>
      </dgm:t>
    </dgm:pt>
    <dgm:pt modelId="{C3844E07-4FF5-43BD-80E6-B787ECC90E10}" type="sibTrans" cxnId="{7B7DBBC7-2C49-48A3-988A-401ECB3CF057}">
      <dgm:prSet/>
      <dgm:spPr/>
      <dgm:t>
        <a:bodyPr/>
        <a:lstStyle/>
        <a:p>
          <a:endParaRPr lang="en-GB"/>
        </a:p>
      </dgm:t>
    </dgm:pt>
    <dgm:pt modelId="{C40DA991-897C-4FE6-9A6A-A652B0D413DA}">
      <dgm:prSet phldrT="[Text]" phldr="0" custT="1"/>
      <dgm:spPr>
        <a:solidFill>
          <a:srgbClr val="D9E8FB"/>
        </a:solidFill>
      </dgm:spPr>
      <dgm:t>
        <a:bodyPr/>
        <a:lstStyle/>
        <a:p>
          <a:r>
            <a:rPr lang="en-GB" sz="1400" dirty="0">
              <a:solidFill>
                <a:schemeClr val="tx1"/>
              </a:solidFill>
            </a:rPr>
            <a:t>Import Libraries and Define Helper Functions</a:t>
          </a:r>
        </a:p>
      </dgm:t>
    </dgm:pt>
    <dgm:pt modelId="{E0A91C9D-23D9-482C-9485-21CCE0ECC95C}" type="parTrans" cxnId="{1EEDAEA8-DCD9-40B5-A0B6-06F6672920C8}">
      <dgm:prSet/>
      <dgm:spPr/>
      <dgm:t>
        <a:bodyPr/>
        <a:lstStyle/>
        <a:p>
          <a:endParaRPr lang="en-GB"/>
        </a:p>
      </dgm:t>
    </dgm:pt>
    <dgm:pt modelId="{A3DA7901-9755-4A81-AB27-D7CE42174613}" type="sibTrans" cxnId="{1EEDAEA8-DCD9-40B5-A0B6-06F6672920C8}">
      <dgm:prSet/>
      <dgm:spPr/>
      <dgm:t>
        <a:bodyPr/>
        <a:lstStyle/>
        <a:p>
          <a:endParaRPr lang="en-GB"/>
        </a:p>
      </dgm:t>
    </dgm:pt>
    <dgm:pt modelId="{DEBFDAF7-E334-4094-9D41-23C0F74D020C}">
      <dgm:prSet phldrT="[Text]" phldr="0" custT="1"/>
      <dgm:spPr>
        <a:solidFill>
          <a:srgbClr val="FCC6B5"/>
        </a:solidFill>
      </dgm:spPr>
      <dgm:t>
        <a:bodyPr/>
        <a:lstStyle/>
        <a:p>
          <a:r>
            <a:rPr lang="en-GB" sz="1400" dirty="0">
              <a:solidFill>
                <a:schemeClr val="tx1"/>
              </a:solidFill>
            </a:rPr>
            <a:t>Request Wiki page List of Falcon 9 and Falcon Heavy Launches</a:t>
          </a:r>
        </a:p>
      </dgm:t>
    </dgm:pt>
    <dgm:pt modelId="{ECBBC7F1-815F-4F2F-80BB-32307FF32C52}" type="parTrans" cxnId="{B64CF9BE-1A71-421C-B556-0E5DD9F6AB0F}">
      <dgm:prSet/>
      <dgm:spPr/>
      <dgm:t>
        <a:bodyPr/>
        <a:lstStyle/>
        <a:p>
          <a:endParaRPr lang="en-GB"/>
        </a:p>
      </dgm:t>
    </dgm:pt>
    <dgm:pt modelId="{F25FCE2B-85D4-4EFC-B123-2F2877CC0BB9}" type="sibTrans" cxnId="{B64CF9BE-1A71-421C-B556-0E5DD9F6AB0F}">
      <dgm:prSet/>
      <dgm:spPr/>
      <dgm:t>
        <a:bodyPr/>
        <a:lstStyle/>
        <a:p>
          <a:endParaRPr lang="en-GB"/>
        </a:p>
      </dgm:t>
    </dgm:pt>
    <dgm:pt modelId="{8CDD7E95-FD79-4356-ADCF-71DB2895E6F5}">
      <dgm:prSet phldrT="[Text]" phldr="0" custT="1"/>
      <dgm:spPr>
        <a:solidFill>
          <a:srgbClr val="FCC6B5"/>
        </a:solidFill>
      </dgm:spPr>
      <dgm:t>
        <a:bodyPr/>
        <a:lstStyle/>
        <a:p>
          <a:r>
            <a:rPr lang="en-GB" sz="1400" dirty="0">
              <a:solidFill>
                <a:schemeClr val="tx1"/>
              </a:solidFill>
            </a:rPr>
            <a:t>Export the DataFrame to a CSV file</a:t>
          </a:r>
        </a:p>
      </dgm:t>
    </dgm:pt>
    <dgm:pt modelId="{BC36F5D5-4E57-4DD3-B875-E2CB3FA1F5F6}" type="parTrans" cxnId="{C38774F6-83A3-4AD4-B0AE-759BA3E6FF30}">
      <dgm:prSet/>
      <dgm:spPr/>
      <dgm:t>
        <a:bodyPr/>
        <a:lstStyle/>
        <a:p>
          <a:endParaRPr lang="en-GB"/>
        </a:p>
      </dgm:t>
    </dgm:pt>
    <dgm:pt modelId="{6909AC46-2BAC-412A-981F-5D6294E9EA3A}" type="sibTrans" cxnId="{C38774F6-83A3-4AD4-B0AE-759BA3E6FF30}">
      <dgm:prSet/>
      <dgm:spPr/>
      <dgm:t>
        <a:bodyPr/>
        <a:lstStyle/>
        <a:p>
          <a:endParaRPr lang="en-GB" dirty="0"/>
        </a:p>
      </dgm:t>
    </dgm:pt>
    <dgm:pt modelId="{6119454C-32AD-4EEE-9783-26C7D66441E1}">
      <dgm:prSet phldrT="[Text]" phldr="0" custT="1"/>
      <dgm:spPr>
        <a:solidFill>
          <a:srgbClr val="C7F2C3"/>
        </a:solidFill>
      </dgm:spPr>
      <dgm:t>
        <a:bodyPr/>
        <a:lstStyle/>
        <a:p>
          <a:r>
            <a:rPr lang="en-GB" sz="1400" dirty="0">
              <a:solidFill>
                <a:schemeClr val="tx1"/>
              </a:solidFill>
            </a:rPr>
            <a:t>End</a:t>
          </a:r>
        </a:p>
      </dgm:t>
    </dgm:pt>
    <dgm:pt modelId="{2A31600B-E5AC-49BB-B20E-2837BBA25F15}" type="parTrans" cxnId="{B968A280-541A-4A34-88BE-C8229952B664}">
      <dgm:prSet/>
      <dgm:spPr/>
      <dgm:t>
        <a:bodyPr/>
        <a:lstStyle/>
        <a:p>
          <a:endParaRPr lang="en-GB"/>
        </a:p>
      </dgm:t>
    </dgm:pt>
    <dgm:pt modelId="{43082C69-B38A-419A-A262-37122AB8452D}" type="sibTrans" cxnId="{B968A280-541A-4A34-88BE-C8229952B664}">
      <dgm:prSet/>
      <dgm:spPr/>
      <dgm:t>
        <a:bodyPr/>
        <a:lstStyle/>
        <a:p>
          <a:endParaRPr lang="en-GB"/>
        </a:p>
      </dgm:t>
    </dgm:pt>
    <dgm:pt modelId="{C22FCF8D-56AD-4AF7-BE78-0BA10615FAF1}">
      <dgm:prSet phldrT="[Text]" phldr="0" custT="1"/>
      <dgm:spPr>
        <a:solidFill>
          <a:srgbClr val="FCC6B5"/>
        </a:solidFill>
      </dgm:spPr>
      <dgm:t>
        <a:bodyPr/>
        <a:lstStyle/>
        <a:p>
          <a:r>
            <a:rPr lang="en-GB" sz="1400" dirty="0">
              <a:solidFill>
                <a:schemeClr val="tx1"/>
              </a:solidFill>
            </a:rPr>
            <a:t>Create a Beautiful Soup Object with html. Parser and Extract all Column Names</a:t>
          </a:r>
        </a:p>
      </dgm:t>
    </dgm:pt>
    <dgm:pt modelId="{09D3A5C1-EBDC-42E4-B4D6-D335AD3DA878}" type="parTrans" cxnId="{82CFE7F3-3997-4DDB-9D0D-0D73292CCE5E}">
      <dgm:prSet/>
      <dgm:spPr/>
      <dgm:t>
        <a:bodyPr/>
        <a:lstStyle/>
        <a:p>
          <a:endParaRPr lang="en-GB"/>
        </a:p>
      </dgm:t>
    </dgm:pt>
    <dgm:pt modelId="{B4FF1693-C63D-4EFA-91D3-B89D783328C6}" type="sibTrans" cxnId="{82CFE7F3-3997-4DDB-9D0D-0D73292CCE5E}">
      <dgm:prSet/>
      <dgm:spPr/>
      <dgm:t>
        <a:bodyPr anchor="ctr" anchorCtr="1"/>
        <a:lstStyle/>
        <a:p>
          <a:endParaRPr lang="en-GB" dirty="0"/>
        </a:p>
      </dgm:t>
    </dgm:pt>
    <dgm:pt modelId="{8EEF848C-8E85-4664-8EC1-755A695C55DE}">
      <dgm:prSet phldrT="[Text]" phldr="0" custT="1"/>
      <dgm:spPr>
        <a:solidFill>
          <a:srgbClr val="D9E8FB"/>
        </a:solidFill>
      </dgm:spPr>
      <dgm:t>
        <a:bodyPr/>
        <a:lstStyle/>
        <a:p>
          <a:r>
            <a:rPr lang="en-GB" sz="1400" dirty="0">
              <a:solidFill>
                <a:schemeClr val="tx1"/>
              </a:solidFill>
            </a:rPr>
            <a:t>Construct a Dictionary from the Extracted Data</a:t>
          </a:r>
        </a:p>
      </dgm:t>
    </dgm:pt>
    <dgm:pt modelId="{B3D77D32-BBBF-4F27-8A1C-E3B0CCD507B0}" type="parTrans" cxnId="{ACB0C569-49B5-4868-A467-55DF6BB5D8E3}">
      <dgm:prSet/>
      <dgm:spPr/>
      <dgm:t>
        <a:bodyPr/>
        <a:lstStyle/>
        <a:p>
          <a:endParaRPr lang="en-GB"/>
        </a:p>
      </dgm:t>
    </dgm:pt>
    <dgm:pt modelId="{D2C7F929-4213-4DBD-838F-20FB01467C6D}" type="sibTrans" cxnId="{ACB0C569-49B5-4868-A467-55DF6BB5D8E3}">
      <dgm:prSet/>
      <dgm:spPr/>
      <dgm:t>
        <a:bodyPr/>
        <a:lstStyle/>
        <a:p>
          <a:endParaRPr lang="en-GB"/>
        </a:p>
      </dgm:t>
    </dgm:pt>
    <dgm:pt modelId="{B437506E-0D4C-4326-86CF-5C28E454D939}">
      <dgm:prSet phldrT="[Text]" phldr="0" custT="1"/>
      <dgm:spPr>
        <a:solidFill>
          <a:srgbClr val="D9E8FB"/>
        </a:solidFill>
      </dgm:spPr>
      <dgm:t>
        <a:bodyPr/>
        <a:lstStyle/>
        <a:p>
          <a:r>
            <a:rPr lang="en-GB" sz="1400" dirty="0">
              <a:solidFill>
                <a:schemeClr val="tx1"/>
              </a:solidFill>
            </a:rPr>
            <a:t>Create a DataFrame from the Dictionary</a:t>
          </a:r>
        </a:p>
      </dgm:t>
    </dgm:pt>
    <dgm:pt modelId="{7C23034C-A660-4C4D-B429-366CCD83A2E9}" type="parTrans" cxnId="{F516C546-3FAE-4217-B7F0-C09DFC100AC1}">
      <dgm:prSet/>
      <dgm:spPr/>
      <dgm:t>
        <a:bodyPr/>
        <a:lstStyle/>
        <a:p>
          <a:endParaRPr lang="en-GB"/>
        </a:p>
      </dgm:t>
    </dgm:pt>
    <dgm:pt modelId="{573949F3-E40F-4EBA-8264-E1E0AC61DF2D}" type="sibTrans" cxnId="{F516C546-3FAE-4217-B7F0-C09DFC100AC1}">
      <dgm:prSet/>
      <dgm:spPr/>
      <dgm:t>
        <a:bodyPr/>
        <a:lstStyle/>
        <a:p>
          <a:endParaRPr lang="en-GB"/>
        </a:p>
      </dgm:t>
    </dgm:pt>
    <dgm:pt modelId="{6F376ED5-5F20-4819-A1E4-28E66E0CB373}">
      <dgm:prSet phldrT="[Text]" phldr="0" custT="1"/>
      <dgm:spPr>
        <a:solidFill>
          <a:srgbClr val="D9E8FB"/>
        </a:solidFill>
      </dgm:spPr>
      <dgm:t>
        <a:bodyPr/>
        <a:lstStyle/>
        <a:p>
          <a:r>
            <a:rPr lang="en-GB" sz="1400" dirty="0">
              <a:solidFill>
                <a:schemeClr val="tx1"/>
              </a:solidFill>
            </a:rPr>
            <a:t>Create a DataFrame by Parsing the Launch HTML Table</a:t>
          </a:r>
        </a:p>
      </dgm:t>
    </dgm:pt>
    <dgm:pt modelId="{BF3038CF-A966-4F42-B0DC-9E6EC331C62F}" type="parTrans" cxnId="{2318C7C1-FDCD-4318-A435-6B84A62982D4}">
      <dgm:prSet/>
      <dgm:spPr/>
      <dgm:t>
        <a:bodyPr/>
        <a:lstStyle/>
        <a:p>
          <a:endParaRPr lang="en-GB"/>
        </a:p>
      </dgm:t>
    </dgm:pt>
    <dgm:pt modelId="{499FCB7B-79E3-445B-94C7-F394BC499017}" type="sibTrans" cxnId="{2318C7C1-FDCD-4318-A435-6B84A62982D4}">
      <dgm:prSet/>
      <dgm:spPr/>
      <dgm:t>
        <a:bodyPr/>
        <a:lstStyle/>
        <a:p>
          <a:endParaRPr lang="en-GB"/>
        </a:p>
      </dgm:t>
    </dgm:pt>
    <dgm:pt modelId="{A3E26F6F-ED38-4C8A-97C2-651F6489EE29}" type="pres">
      <dgm:prSet presAssocID="{0A6A5C50-4889-41E4-8B40-2FDA3EBCFD02}" presName="diagram" presStyleCnt="0">
        <dgm:presLayoutVars>
          <dgm:dir/>
          <dgm:resizeHandles val="exact"/>
        </dgm:presLayoutVars>
      </dgm:prSet>
      <dgm:spPr/>
    </dgm:pt>
    <dgm:pt modelId="{8C7CCF37-EF76-4793-9FB1-2AD1369C813D}" type="pres">
      <dgm:prSet presAssocID="{22A3F257-A587-4B28-A550-C5C410B28D89}" presName="node" presStyleLbl="node1" presStyleIdx="0" presStyleCnt="9" custScaleX="58853" custScaleY="61412" custLinFactNeighborX="-44925" custLinFactNeighborY="18099">
        <dgm:presLayoutVars>
          <dgm:bulletEnabled val="1"/>
        </dgm:presLayoutVars>
      </dgm:prSet>
      <dgm:spPr>
        <a:prstGeom prst="ellipse">
          <a:avLst/>
        </a:prstGeom>
      </dgm:spPr>
    </dgm:pt>
    <dgm:pt modelId="{0C9001D7-09CF-4D05-B40B-AEE358083C50}" type="pres">
      <dgm:prSet presAssocID="{C3844E07-4FF5-43BD-80E6-B787ECC90E10}" presName="sibTrans" presStyleLbl="sibTrans2D1" presStyleIdx="0" presStyleCnt="8" custAng="17531" custScaleX="111452" custScaleY="111006" custLinFactNeighborX="7480" custLinFactNeighborY="15679"/>
      <dgm:spPr/>
    </dgm:pt>
    <dgm:pt modelId="{90FF2DE6-19A5-4275-A769-E6CD7CF622E3}" type="pres">
      <dgm:prSet presAssocID="{C3844E07-4FF5-43BD-80E6-B787ECC90E10}" presName="connectorText" presStyleLbl="sibTrans2D1" presStyleIdx="0" presStyleCnt="8"/>
      <dgm:spPr/>
    </dgm:pt>
    <dgm:pt modelId="{69334A09-1683-4C1D-9CCE-1223830D9423}" type="pres">
      <dgm:prSet presAssocID="{C40DA991-897C-4FE6-9A6A-A652B0D413DA}" presName="node" presStyleLbl="node1" presStyleIdx="1" presStyleCnt="9" custScaleX="110527" custScaleY="107814" custLinFactNeighborX="-24338" custLinFactNeighborY="14090">
        <dgm:presLayoutVars>
          <dgm:bulletEnabled val="1"/>
        </dgm:presLayoutVars>
      </dgm:prSet>
      <dgm:spPr/>
    </dgm:pt>
    <dgm:pt modelId="{185F086D-2CD5-4DEB-A934-46AC96F4B845}" type="pres">
      <dgm:prSet presAssocID="{A3DA7901-9755-4A81-AB27-D7CE42174613}" presName="sibTrans" presStyleLbl="sibTrans2D1" presStyleIdx="1" presStyleCnt="8" custScaleX="133645" custLinFactNeighborX="26156"/>
      <dgm:spPr/>
    </dgm:pt>
    <dgm:pt modelId="{12704D37-6982-4AA9-8DD9-E95BBCEFA241}" type="pres">
      <dgm:prSet presAssocID="{A3DA7901-9755-4A81-AB27-D7CE42174613}" presName="connectorText" presStyleLbl="sibTrans2D1" presStyleIdx="1" presStyleCnt="8"/>
      <dgm:spPr/>
    </dgm:pt>
    <dgm:pt modelId="{A35F1870-3090-499D-8613-9A5BEF659C13}" type="pres">
      <dgm:prSet presAssocID="{DEBFDAF7-E334-4094-9D41-23C0F74D020C}" presName="node" presStyleLbl="node1" presStyleIdx="2" presStyleCnt="9" custScaleX="151509" custScaleY="119158" custLinFactNeighborX="-21307" custLinFactNeighborY="11168">
        <dgm:presLayoutVars>
          <dgm:bulletEnabled val="1"/>
        </dgm:presLayoutVars>
      </dgm:prSet>
      <dgm:spPr>
        <a:prstGeom prst="parallelogram">
          <a:avLst/>
        </a:prstGeom>
      </dgm:spPr>
    </dgm:pt>
    <dgm:pt modelId="{F846DB92-CCAF-42CE-B646-C510EEF3FB0B}" type="pres">
      <dgm:prSet presAssocID="{F25FCE2B-85D4-4EFC-B123-2F2877CC0BB9}" presName="sibTrans" presStyleLbl="sibTrans2D1" presStyleIdx="2" presStyleCnt="8" custScaleX="113460" custLinFactNeighborX="17098" custLinFactNeighborY="-2663"/>
      <dgm:spPr/>
    </dgm:pt>
    <dgm:pt modelId="{BD5EED4C-0438-4477-B530-86D4375D80F7}" type="pres">
      <dgm:prSet presAssocID="{F25FCE2B-85D4-4EFC-B123-2F2877CC0BB9}" presName="connectorText" presStyleLbl="sibTrans2D1" presStyleIdx="2" presStyleCnt="8"/>
      <dgm:spPr/>
    </dgm:pt>
    <dgm:pt modelId="{9BB1DC76-117F-494B-9E78-25BF52E25D22}" type="pres">
      <dgm:prSet presAssocID="{C22FCF8D-56AD-4AF7-BE78-0BA10615FAF1}" presName="node" presStyleLbl="node1" presStyleIdx="3" presStyleCnt="9" custScaleX="156989" custScaleY="111371" custLinFactNeighborX="-9243" custLinFactNeighborY="16103">
        <dgm:presLayoutVars>
          <dgm:bulletEnabled val="1"/>
        </dgm:presLayoutVars>
      </dgm:prSet>
      <dgm:spPr>
        <a:prstGeom prst="flowChartInputOutput">
          <a:avLst/>
        </a:prstGeom>
      </dgm:spPr>
    </dgm:pt>
    <dgm:pt modelId="{87696F9A-2A8D-4791-9137-336DC5D84545}" type="pres">
      <dgm:prSet presAssocID="{B4FF1693-C63D-4EFA-91D3-B89D783328C6}" presName="sibTrans" presStyleLbl="sibTrans2D1" presStyleIdx="3" presStyleCnt="8" custAng="214587" custScaleX="160075" custScaleY="132375" custLinFactNeighborX="-23007" custLinFactNeighborY="7828"/>
      <dgm:spPr/>
    </dgm:pt>
    <dgm:pt modelId="{54C2FAAD-F2E4-4930-AB1F-AE47068A8338}" type="pres">
      <dgm:prSet presAssocID="{B4FF1693-C63D-4EFA-91D3-B89D783328C6}" presName="connectorText" presStyleLbl="sibTrans2D1" presStyleIdx="3" presStyleCnt="8"/>
      <dgm:spPr/>
    </dgm:pt>
    <dgm:pt modelId="{66CEABF2-5E62-42AE-AC11-73698A87DE9A}" type="pres">
      <dgm:prSet presAssocID="{6F376ED5-5F20-4819-A1E4-28E66E0CB373}" presName="node" presStyleLbl="node1" presStyleIdx="4" presStyleCnt="9" custScaleX="129506" custScaleY="93013" custLinFactNeighborX="-4422" custLinFactNeighborY="-8272">
        <dgm:presLayoutVars>
          <dgm:bulletEnabled val="1"/>
        </dgm:presLayoutVars>
      </dgm:prSet>
      <dgm:spPr/>
    </dgm:pt>
    <dgm:pt modelId="{6E3F79D4-3A8D-4EAF-9779-136D8624F156}" type="pres">
      <dgm:prSet presAssocID="{499FCB7B-79E3-445B-94C7-F394BC499017}" presName="sibTrans" presStyleLbl="sibTrans2D1" presStyleIdx="4" presStyleCnt="8"/>
      <dgm:spPr/>
    </dgm:pt>
    <dgm:pt modelId="{B4FD22EC-2C50-4481-851E-414F4C7AED04}" type="pres">
      <dgm:prSet presAssocID="{499FCB7B-79E3-445B-94C7-F394BC499017}" presName="connectorText" presStyleLbl="sibTrans2D1" presStyleIdx="4" presStyleCnt="8"/>
      <dgm:spPr/>
    </dgm:pt>
    <dgm:pt modelId="{78E90EFE-5821-4806-B018-6B9DE06E6D0D}" type="pres">
      <dgm:prSet presAssocID="{8EEF848C-8E85-4664-8EC1-755A695C55DE}" presName="node" presStyleLbl="node1" presStyleIdx="5" presStyleCnt="9" custLinFactNeighborX="-9721" custLinFactNeighborY="-5465">
        <dgm:presLayoutVars>
          <dgm:bulletEnabled val="1"/>
        </dgm:presLayoutVars>
      </dgm:prSet>
      <dgm:spPr/>
    </dgm:pt>
    <dgm:pt modelId="{2A8EAFDC-4570-409C-8C53-F7FA74CEC6D2}" type="pres">
      <dgm:prSet presAssocID="{D2C7F929-4213-4DBD-838F-20FB01467C6D}" presName="sibTrans" presStyleLbl="sibTrans2D1" presStyleIdx="5" presStyleCnt="8"/>
      <dgm:spPr/>
    </dgm:pt>
    <dgm:pt modelId="{E67AB52F-F7A9-4B1A-909D-13C4D15009DE}" type="pres">
      <dgm:prSet presAssocID="{D2C7F929-4213-4DBD-838F-20FB01467C6D}" presName="connectorText" presStyleLbl="sibTrans2D1" presStyleIdx="5" presStyleCnt="8"/>
      <dgm:spPr/>
    </dgm:pt>
    <dgm:pt modelId="{C2CC2806-35AF-42C8-BF90-C1DE469646D9}" type="pres">
      <dgm:prSet presAssocID="{B437506E-0D4C-4326-86CF-5C28E454D939}" presName="node" presStyleLbl="node1" presStyleIdx="6" presStyleCnt="9" custLinFactNeighborX="-12918" custLinFactNeighborY="-13128">
        <dgm:presLayoutVars>
          <dgm:bulletEnabled val="1"/>
        </dgm:presLayoutVars>
      </dgm:prSet>
      <dgm:spPr/>
    </dgm:pt>
    <dgm:pt modelId="{579C441F-20E9-4CF6-94A2-995ED3B57F31}" type="pres">
      <dgm:prSet presAssocID="{573949F3-E40F-4EBA-8264-E1E0AC61DF2D}" presName="sibTrans" presStyleLbl="sibTrans2D1" presStyleIdx="6" presStyleCnt="8"/>
      <dgm:spPr/>
    </dgm:pt>
    <dgm:pt modelId="{4ECB6A38-472D-465E-AA18-6242C01AD5E2}" type="pres">
      <dgm:prSet presAssocID="{573949F3-E40F-4EBA-8264-E1E0AC61DF2D}" presName="connectorText" presStyleLbl="sibTrans2D1" presStyleIdx="6" presStyleCnt="8"/>
      <dgm:spPr/>
    </dgm:pt>
    <dgm:pt modelId="{E3BFA96A-D958-4380-A37C-A6C8E6F092A0}" type="pres">
      <dgm:prSet presAssocID="{8CDD7E95-FD79-4356-ADCF-71DB2895E6F5}" presName="node" presStyleLbl="node1" presStyleIdx="7" presStyleCnt="9" custScaleX="113183" custScaleY="112061" custLinFactNeighborX="-15551" custLinFactNeighborY="-19831">
        <dgm:presLayoutVars>
          <dgm:bulletEnabled val="1"/>
        </dgm:presLayoutVars>
      </dgm:prSet>
      <dgm:spPr>
        <a:prstGeom prst="flowChartInputOutput">
          <a:avLst/>
        </a:prstGeom>
      </dgm:spPr>
    </dgm:pt>
    <dgm:pt modelId="{15B5EACF-BBAB-4ABA-9091-A3D38BE80B88}" type="pres">
      <dgm:prSet presAssocID="{6909AC46-2BAC-412A-981F-5D6294E9EA3A}" presName="sibTrans" presStyleLbl="sibTrans2D1" presStyleIdx="7" presStyleCnt="8" custScaleX="157785"/>
      <dgm:spPr/>
    </dgm:pt>
    <dgm:pt modelId="{75D86D44-832A-487C-9F5D-1F10A418F37B}" type="pres">
      <dgm:prSet presAssocID="{6909AC46-2BAC-412A-981F-5D6294E9EA3A}" presName="connectorText" presStyleLbl="sibTrans2D1" presStyleIdx="7" presStyleCnt="8"/>
      <dgm:spPr/>
    </dgm:pt>
    <dgm:pt modelId="{BDD22505-B933-4936-8A32-12B25771088A}" type="pres">
      <dgm:prSet presAssocID="{6119454C-32AD-4EEE-9783-26C7D66441E1}" presName="node" presStyleLbl="node1" presStyleIdx="8" presStyleCnt="9" custScaleX="65301" custScaleY="67449" custLinFactNeighborX="10458" custLinFactNeighborY="-23951">
        <dgm:presLayoutVars>
          <dgm:bulletEnabled val="1"/>
        </dgm:presLayoutVars>
      </dgm:prSet>
      <dgm:spPr>
        <a:prstGeom prst="ellipse">
          <a:avLst/>
        </a:prstGeom>
      </dgm:spPr>
    </dgm:pt>
  </dgm:ptLst>
  <dgm:cxnLst>
    <dgm:cxn modelId="{BDD37D14-03B0-4283-9073-FDF5AE917708}" type="presOf" srcId="{C3844E07-4FF5-43BD-80E6-B787ECC90E10}" destId="{0C9001D7-09CF-4D05-B40B-AEE358083C50}" srcOrd="0" destOrd="0" presId="urn:microsoft.com/office/officeart/2005/8/layout/process5"/>
    <dgm:cxn modelId="{8D94101D-4BDC-42C3-AF59-D42002D31651}" type="presOf" srcId="{C3844E07-4FF5-43BD-80E6-B787ECC90E10}" destId="{90FF2DE6-19A5-4275-A769-E6CD7CF622E3}" srcOrd="1" destOrd="0" presId="urn:microsoft.com/office/officeart/2005/8/layout/process5"/>
    <dgm:cxn modelId="{732B1F23-2FEF-40F7-B6AD-D4813FF433DA}" type="presOf" srcId="{573949F3-E40F-4EBA-8264-E1E0AC61DF2D}" destId="{4ECB6A38-472D-465E-AA18-6242C01AD5E2}" srcOrd="1" destOrd="0" presId="urn:microsoft.com/office/officeart/2005/8/layout/process5"/>
    <dgm:cxn modelId="{365AC02A-F0BE-491C-8A7B-53BAF4F46283}" type="presOf" srcId="{D2C7F929-4213-4DBD-838F-20FB01467C6D}" destId="{2A8EAFDC-4570-409C-8C53-F7FA74CEC6D2}" srcOrd="0" destOrd="0" presId="urn:microsoft.com/office/officeart/2005/8/layout/process5"/>
    <dgm:cxn modelId="{E03AE13E-A66A-4145-868C-664C0AF450C6}" type="presOf" srcId="{499FCB7B-79E3-445B-94C7-F394BC499017}" destId="{6E3F79D4-3A8D-4EAF-9779-136D8624F156}" srcOrd="0" destOrd="0" presId="urn:microsoft.com/office/officeart/2005/8/layout/process5"/>
    <dgm:cxn modelId="{BC1C883F-ACC3-48BE-90CF-71C6B21D250B}" type="presOf" srcId="{6909AC46-2BAC-412A-981F-5D6294E9EA3A}" destId="{75D86D44-832A-487C-9F5D-1F10A418F37B}" srcOrd="1" destOrd="0" presId="urn:microsoft.com/office/officeart/2005/8/layout/process5"/>
    <dgm:cxn modelId="{8EFCCE5B-CD9A-42F2-AEB5-754F59C05DE6}" type="presOf" srcId="{F25FCE2B-85D4-4EFC-B123-2F2877CC0BB9}" destId="{BD5EED4C-0438-4477-B530-86D4375D80F7}" srcOrd="1" destOrd="0" presId="urn:microsoft.com/office/officeart/2005/8/layout/process5"/>
    <dgm:cxn modelId="{D76BFB5B-A310-494C-82C9-8EE417BEDD54}" type="presOf" srcId="{6F376ED5-5F20-4819-A1E4-28E66E0CB373}" destId="{66CEABF2-5E62-42AE-AC11-73698A87DE9A}" srcOrd="0" destOrd="0" presId="urn:microsoft.com/office/officeart/2005/8/layout/process5"/>
    <dgm:cxn modelId="{9BE24A5E-77FF-49CB-B901-3086F7544730}" type="presOf" srcId="{A3DA7901-9755-4A81-AB27-D7CE42174613}" destId="{12704D37-6982-4AA9-8DD9-E95BBCEFA241}" srcOrd="1" destOrd="0" presId="urn:microsoft.com/office/officeart/2005/8/layout/process5"/>
    <dgm:cxn modelId="{2E8DD564-7B31-408D-9FF5-6C15AA6D50D7}" type="presOf" srcId="{D2C7F929-4213-4DBD-838F-20FB01467C6D}" destId="{E67AB52F-F7A9-4B1A-909D-13C4D15009DE}" srcOrd="1" destOrd="0" presId="urn:microsoft.com/office/officeart/2005/8/layout/process5"/>
    <dgm:cxn modelId="{F516C546-3FAE-4217-B7F0-C09DFC100AC1}" srcId="{0A6A5C50-4889-41E4-8B40-2FDA3EBCFD02}" destId="{B437506E-0D4C-4326-86CF-5C28E454D939}" srcOrd="6" destOrd="0" parTransId="{7C23034C-A660-4C4D-B429-366CCD83A2E9}" sibTransId="{573949F3-E40F-4EBA-8264-E1E0AC61DF2D}"/>
    <dgm:cxn modelId="{C3BD6B67-6B44-4B2B-9AC6-42E3C3B580B4}" type="presOf" srcId="{8EEF848C-8E85-4664-8EC1-755A695C55DE}" destId="{78E90EFE-5821-4806-B018-6B9DE06E6D0D}" srcOrd="0" destOrd="0" presId="urn:microsoft.com/office/officeart/2005/8/layout/process5"/>
    <dgm:cxn modelId="{ACB0C569-49B5-4868-A467-55DF6BB5D8E3}" srcId="{0A6A5C50-4889-41E4-8B40-2FDA3EBCFD02}" destId="{8EEF848C-8E85-4664-8EC1-755A695C55DE}" srcOrd="5" destOrd="0" parTransId="{B3D77D32-BBBF-4F27-8A1C-E3B0CCD507B0}" sibTransId="{D2C7F929-4213-4DBD-838F-20FB01467C6D}"/>
    <dgm:cxn modelId="{7F2EB777-9B8B-4259-9365-0C669CE5A9AC}" type="presOf" srcId="{B4FF1693-C63D-4EFA-91D3-B89D783328C6}" destId="{54C2FAAD-F2E4-4930-AB1F-AE47068A8338}" srcOrd="1" destOrd="0" presId="urn:microsoft.com/office/officeart/2005/8/layout/process5"/>
    <dgm:cxn modelId="{476F1B7C-0B8D-4C51-B348-350E18370C0D}" type="presOf" srcId="{DEBFDAF7-E334-4094-9D41-23C0F74D020C}" destId="{A35F1870-3090-499D-8613-9A5BEF659C13}" srcOrd="0" destOrd="0" presId="urn:microsoft.com/office/officeart/2005/8/layout/process5"/>
    <dgm:cxn modelId="{B968A280-541A-4A34-88BE-C8229952B664}" srcId="{0A6A5C50-4889-41E4-8B40-2FDA3EBCFD02}" destId="{6119454C-32AD-4EEE-9783-26C7D66441E1}" srcOrd="8" destOrd="0" parTransId="{2A31600B-E5AC-49BB-B20E-2837BBA25F15}" sibTransId="{43082C69-B38A-419A-A262-37122AB8452D}"/>
    <dgm:cxn modelId="{205F8B82-B8EE-430F-A8ED-B54FC7A3753A}" type="presOf" srcId="{C40DA991-897C-4FE6-9A6A-A652B0D413DA}" destId="{69334A09-1683-4C1D-9CCE-1223830D9423}" srcOrd="0" destOrd="0" presId="urn:microsoft.com/office/officeart/2005/8/layout/process5"/>
    <dgm:cxn modelId="{D022F088-BD0F-4436-96CB-035A7CEA137F}" type="presOf" srcId="{F25FCE2B-85D4-4EFC-B123-2F2877CC0BB9}" destId="{F846DB92-CCAF-42CE-B646-C510EEF3FB0B}" srcOrd="0" destOrd="0" presId="urn:microsoft.com/office/officeart/2005/8/layout/process5"/>
    <dgm:cxn modelId="{7810E38B-A636-426A-9E8E-1DFDB8EBEF6C}" type="presOf" srcId="{6119454C-32AD-4EEE-9783-26C7D66441E1}" destId="{BDD22505-B933-4936-8A32-12B25771088A}" srcOrd="0" destOrd="0" presId="urn:microsoft.com/office/officeart/2005/8/layout/process5"/>
    <dgm:cxn modelId="{A9E2C09D-AB95-4058-8946-5876CC6561F6}" type="presOf" srcId="{573949F3-E40F-4EBA-8264-E1E0AC61DF2D}" destId="{579C441F-20E9-4CF6-94A2-995ED3B57F31}" srcOrd="0" destOrd="0" presId="urn:microsoft.com/office/officeart/2005/8/layout/process5"/>
    <dgm:cxn modelId="{E4F7BBA1-89C9-408B-90BF-09C2ABF55B92}" type="presOf" srcId="{C22FCF8D-56AD-4AF7-BE78-0BA10615FAF1}" destId="{9BB1DC76-117F-494B-9E78-25BF52E25D22}" srcOrd="0" destOrd="0" presId="urn:microsoft.com/office/officeart/2005/8/layout/process5"/>
    <dgm:cxn modelId="{1EEDAEA8-DCD9-40B5-A0B6-06F6672920C8}" srcId="{0A6A5C50-4889-41E4-8B40-2FDA3EBCFD02}" destId="{C40DA991-897C-4FE6-9A6A-A652B0D413DA}" srcOrd="1" destOrd="0" parTransId="{E0A91C9D-23D9-482C-9485-21CCE0ECC95C}" sibTransId="{A3DA7901-9755-4A81-AB27-D7CE42174613}"/>
    <dgm:cxn modelId="{4F59A4B6-4531-41F6-A5C0-142D134E3C54}" type="presOf" srcId="{22A3F257-A587-4B28-A550-C5C410B28D89}" destId="{8C7CCF37-EF76-4793-9FB1-2AD1369C813D}" srcOrd="0" destOrd="0" presId="urn:microsoft.com/office/officeart/2005/8/layout/process5"/>
    <dgm:cxn modelId="{B64CF9BE-1A71-421C-B556-0E5DD9F6AB0F}" srcId="{0A6A5C50-4889-41E4-8B40-2FDA3EBCFD02}" destId="{DEBFDAF7-E334-4094-9D41-23C0F74D020C}" srcOrd="2" destOrd="0" parTransId="{ECBBC7F1-815F-4F2F-80BB-32307FF32C52}" sibTransId="{F25FCE2B-85D4-4EFC-B123-2F2877CC0BB9}"/>
    <dgm:cxn modelId="{2318C7C1-FDCD-4318-A435-6B84A62982D4}" srcId="{0A6A5C50-4889-41E4-8B40-2FDA3EBCFD02}" destId="{6F376ED5-5F20-4819-A1E4-28E66E0CB373}" srcOrd="4" destOrd="0" parTransId="{BF3038CF-A966-4F42-B0DC-9E6EC331C62F}" sibTransId="{499FCB7B-79E3-445B-94C7-F394BC499017}"/>
    <dgm:cxn modelId="{E6FE5DC3-8019-4D99-B06D-1A44C8AC7FCC}" type="presOf" srcId="{0A6A5C50-4889-41E4-8B40-2FDA3EBCFD02}" destId="{A3E26F6F-ED38-4C8A-97C2-651F6489EE29}" srcOrd="0" destOrd="0" presId="urn:microsoft.com/office/officeart/2005/8/layout/process5"/>
    <dgm:cxn modelId="{7B7DBBC7-2C49-48A3-988A-401ECB3CF057}" srcId="{0A6A5C50-4889-41E4-8B40-2FDA3EBCFD02}" destId="{22A3F257-A587-4B28-A550-C5C410B28D89}" srcOrd="0" destOrd="0" parTransId="{D2F30168-B76C-4C53-92A2-BAE35A07F0FF}" sibTransId="{C3844E07-4FF5-43BD-80E6-B787ECC90E10}"/>
    <dgm:cxn modelId="{1800D7CD-CB25-49BD-8761-71C4E2381DDA}" type="presOf" srcId="{B437506E-0D4C-4326-86CF-5C28E454D939}" destId="{C2CC2806-35AF-42C8-BF90-C1DE469646D9}" srcOrd="0" destOrd="0" presId="urn:microsoft.com/office/officeart/2005/8/layout/process5"/>
    <dgm:cxn modelId="{1E201BD6-EC45-441E-AB39-4AEF4677814D}" type="presOf" srcId="{8CDD7E95-FD79-4356-ADCF-71DB2895E6F5}" destId="{E3BFA96A-D958-4380-A37C-A6C8E6F092A0}" srcOrd="0" destOrd="0" presId="urn:microsoft.com/office/officeart/2005/8/layout/process5"/>
    <dgm:cxn modelId="{F0B67BE0-223B-4193-A8E6-DD2D2D5E4B55}" type="presOf" srcId="{B4FF1693-C63D-4EFA-91D3-B89D783328C6}" destId="{87696F9A-2A8D-4791-9137-336DC5D84545}" srcOrd="0" destOrd="0" presId="urn:microsoft.com/office/officeart/2005/8/layout/process5"/>
    <dgm:cxn modelId="{6BA1AEE6-B6FB-4CFE-BC36-68F3EA615DCB}" type="presOf" srcId="{A3DA7901-9755-4A81-AB27-D7CE42174613}" destId="{185F086D-2CD5-4DEB-A934-46AC96F4B845}" srcOrd="0" destOrd="0" presId="urn:microsoft.com/office/officeart/2005/8/layout/process5"/>
    <dgm:cxn modelId="{8B714DEC-2D47-4DA3-9B0A-F02BF79D8C40}" type="presOf" srcId="{499FCB7B-79E3-445B-94C7-F394BC499017}" destId="{B4FD22EC-2C50-4481-851E-414F4C7AED04}" srcOrd="1" destOrd="0" presId="urn:microsoft.com/office/officeart/2005/8/layout/process5"/>
    <dgm:cxn modelId="{72311AF3-28E6-4891-952C-25F81FDB18C4}" type="presOf" srcId="{6909AC46-2BAC-412A-981F-5D6294E9EA3A}" destId="{15B5EACF-BBAB-4ABA-9091-A3D38BE80B88}" srcOrd="0" destOrd="0" presId="urn:microsoft.com/office/officeart/2005/8/layout/process5"/>
    <dgm:cxn modelId="{82CFE7F3-3997-4DDB-9D0D-0D73292CCE5E}" srcId="{0A6A5C50-4889-41E4-8B40-2FDA3EBCFD02}" destId="{C22FCF8D-56AD-4AF7-BE78-0BA10615FAF1}" srcOrd="3" destOrd="0" parTransId="{09D3A5C1-EBDC-42E4-B4D6-D335AD3DA878}" sibTransId="{B4FF1693-C63D-4EFA-91D3-B89D783328C6}"/>
    <dgm:cxn modelId="{C38774F6-83A3-4AD4-B0AE-759BA3E6FF30}" srcId="{0A6A5C50-4889-41E4-8B40-2FDA3EBCFD02}" destId="{8CDD7E95-FD79-4356-ADCF-71DB2895E6F5}" srcOrd="7" destOrd="0" parTransId="{BC36F5D5-4E57-4DD3-B875-E2CB3FA1F5F6}" sibTransId="{6909AC46-2BAC-412A-981F-5D6294E9EA3A}"/>
    <dgm:cxn modelId="{9C3C2621-2858-4889-B926-22CF9C787005}" type="presParOf" srcId="{A3E26F6F-ED38-4C8A-97C2-651F6489EE29}" destId="{8C7CCF37-EF76-4793-9FB1-2AD1369C813D}" srcOrd="0" destOrd="0" presId="urn:microsoft.com/office/officeart/2005/8/layout/process5"/>
    <dgm:cxn modelId="{024D7B61-7912-4263-8ECE-D600A2A2E78D}" type="presParOf" srcId="{A3E26F6F-ED38-4C8A-97C2-651F6489EE29}" destId="{0C9001D7-09CF-4D05-B40B-AEE358083C50}" srcOrd="1" destOrd="0" presId="urn:microsoft.com/office/officeart/2005/8/layout/process5"/>
    <dgm:cxn modelId="{89134F62-984E-431A-B3E8-F1263C344E66}" type="presParOf" srcId="{0C9001D7-09CF-4D05-B40B-AEE358083C50}" destId="{90FF2DE6-19A5-4275-A769-E6CD7CF622E3}" srcOrd="0" destOrd="0" presId="urn:microsoft.com/office/officeart/2005/8/layout/process5"/>
    <dgm:cxn modelId="{E18BCA89-BE58-421C-956E-BBF6FB186C39}" type="presParOf" srcId="{A3E26F6F-ED38-4C8A-97C2-651F6489EE29}" destId="{69334A09-1683-4C1D-9CCE-1223830D9423}" srcOrd="2" destOrd="0" presId="urn:microsoft.com/office/officeart/2005/8/layout/process5"/>
    <dgm:cxn modelId="{D86ED89E-7A4E-4E77-9E44-BE709B639D90}" type="presParOf" srcId="{A3E26F6F-ED38-4C8A-97C2-651F6489EE29}" destId="{185F086D-2CD5-4DEB-A934-46AC96F4B845}" srcOrd="3" destOrd="0" presId="urn:microsoft.com/office/officeart/2005/8/layout/process5"/>
    <dgm:cxn modelId="{8D9B71FE-8D3E-40C1-AAB0-C29C8DE12B41}" type="presParOf" srcId="{185F086D-2CD5-4DEB-A934-46AC96F4B845}" destId="{12704D37-6982-4AA9-8DD9-E95BBCEFA241}" srcOrd="0" destOrd="0" presId="urn:microsoft.com/office/officeart/2005/8/layout/process5"/>
    <dgm:cxn modelId="{B9B55763-55C3-436B-A513-FF4FD96122DF}" type="presParOf" srcId="{A3E26F6F-ED38-4C8A-97C2-651F6489EE29}" destId="{A35F1870-3090-499D-8613-9A5BEF659C13}" srcOrd="4" destOrd="0" presId="urn:microsoft.com/office/officeart/2005/8/layout/process5"/>
    <dgm:cxn modelId="{BEAAA180-663E-42BF-9A9E-CFE98158EE48}" type="presParOf" srcId="{A3E26F6F-ED38-4C8A-97C2-651F6489EE29}" destId="{F846DB92-CCAF-42CE-B646-C510EEF3FB0B}" srcOrd="5" destOrd="0" presId="urn:microsoft.com/office/officeart/2005/8/layout/process5"/>
    <dgm:cxn modelId="{4F06852F-78D0-4E87-92AA-7CBE090FB831}" type="presParOf" srcId="{F846DB92-CCAF-42CE-B646-C510EEF3FB0B}" destId="{BD5EED4C-0438-4477-B530-86D4375D80F7}" srcOrd="0" destOrd="0" presId="urn:microsoft.com/office/officeart/2005/8/layout/process5"/>
    <dgm:cxn modelId="{E6ADE869-F25E-420C-A0B0-D139C77C86E3}" type="presParOf" srcId="{A3E26F6F-ED38-4C8A-97C2-651F6489EE29}" destId="{9BB1DC76-117F-494B-9E78-25BF52E25D22}" srcOrd="6" destOrd="0" presId="urn:microsoft.com/office/officeart/2005/8/layout/process5"/>
    <dgm:cxn modelId="{3E0A1423-6594-40BA-B38F-723FA6D8069A}" type="presParOf" srcId="{A3E26F6F-ED38-4C8A-97C2-651F6489EE29}" destId="{87696F9A-2A8D-4791-9137-336DC5D84545}" srcOrd="7" destOrd="0" presId="urn:microsoft.com/office/officeart/2005/8/layout/process5"/>
    <dgm:cxn modelId="{0F39E80C-76AF-4BC7-B7C9-B71100515A7A}" type="presParOf" srcId="{87696F9A-2A8D-4791-9137-336DC5D84545}" destId="{54C2FAAD-F2E4-4930-AB1F-AE47068A8338}" srcOrd="0" destOrd="0" presId="urn:microsoft.com/office/officeart/2005/8/layout/process5"/>
    <dgm:cxn modelId="{E81E6475-DBE3-46E4-AE94-9B887B929AB6}" type="presParOf" srcId="{A3E26F6F-ED38-4C8A-97C2-651F6489EE29}" destId="{66CEABF2-5E62-42AE-AC11-73698A87DE9A}" srcOrd="8" destOrd="0" presId="urn:microsoft.com/office/officeart/2005/8/layout/process5"/>
    <dgm:cxn modelId="{2E950022-BCBF-4FF6-91C8-BC09111F6D0A}" type="presParOf" srcId="{A3E26F6F-ED38-4C8A-97C2-651F6489EE29}" destId="{6E3F79D4-3A8D-4EAF-9779-136D8624F156}" srcOrd="9" destOrd="0" presId="urn:microsoft.com/office/officeart/2005/8/layout/process5"/>
    <dgm:cxn modelId="{9913E882-62E0-458F-99A5-C81E2214A3CD}" type="presParOf" srcId="{6E3F79D4-3A8D-4EAF-9779-136D8624F156}" destId="{B4FD22EC-2C50-4481-851E-414F4C7AED04}" srcOrd="0" destOrd="0" presId="urn:microsoft.com/office/officeart/2005/8/layout/process5"/>
    <dgm:cxn modelId="{8EF77DD4-3E73-44CB-AB6E-8ACE06E0DEAA}" type="presParOf" srcId="{A3E26F6F-ED38-4C8A-97C2-651F6489EE29}" destId="{78E90EFE-5821-4806-B018-6B9DE06E6D0D}" srcOrd="10" destOrd="0" presId="urn:microsoft.com/office/officeart/2005/8/layout/process5"/>
    <dgm:cxn modelId="{21E4D857-85D7-4AA8-A44A-131251E04BFA}" type="presParOf" srcId="{A3E26F6F-ED38-4C8A-97C2-651F6489EE29}" destId="{2A8EAFDC-4570-409C-8C53-F7FA74CEC6D2}" srcOrd="11" destOrd="0" presId="urn:microsoft.com/office/officeart/2005/8/layout/process5"/>
    <dgm:cxn modelId="{C5B38A5B-98C1-47BC-9296-A4B911837B66}" type="presParOf" srcId="{2A8EAFDC-4570-409C-8C53-F7FA74CEC6D2}" destId="{E67AB52F-F7A9-4B1A-909D-13C4D15009DE}" srcOrd="0" destOrd="0" presId="urn:microsoft.com/office/officeart/2005/8/layout/process5"/>
    <dgm:cxn modelId="{F194CFFD-89FB-4077-96A1-FE980BF0031C}" type="presParOf" srcId="{A3E26F6F-ED38-4C8A-97C2-651F6489EE29}" destId="{C2CC2806-35AF-42C8-BF90-C1DE469646D9}" srcOrd="12" destOrd="0" presId="urn:microsoft.com/office/officeart/2005/8/layout/process5"/>
    <dgm:cxn modelId="{8CC61653-5601-4F2A-B481-C114A80B7794}" type="presParOf" srcId="{A3E26F6F-ED38-4C8A-97C2-651F6489EE29}" destId="{579C441F-20E9-4CF6-94A2-995ED3B57F31}" srcOrd="13" destOrd="0" presId="urn:microsoft.com/office/officeart/2005/8/layout/process5"/>
    <dgm:cxn modelId="{9FFC13D0-BF1F-4B4A-8E6A-55F2F75C3041}" type="presParOf" srcId="{579C441F-20E9-4CF6-94A2-995ED3B57F31}" destId="{4ECB6A38-472D-465E-AA18-6242C01AD5E2}" srcOrd="0" destOrd="0" presId="urn:microsoft.com/office/officeart/2005/8/layout/process5"/>
    <dgm:cxn modelId="{A39FA0F6-C0F9-49EE-8E94-ABCAFA6EA14A}" type="presParOf" srcId="{A3E26F6F-ED38-4C8A-97C2-651F6489EE29}" destId="{E3BFA96A-D958-4380-A37C-A6C8E6F092A0}" srcOrd="14" destOrd="0" presId="urn:microsoft.com/office/officeart/2005/8/layout/process5"/>
    <dgm:cxn modelId="{67BFFEE4-DA45-460A-89EB-CB1FE02FC876}" type="presParOf" srcId="{A3E26F6F-ED38-4C8A-97C2-651F6489EE29}" destId="{15B5EACF-BBAB-4ABA-9091-A3D38BE80B88}" srcOrd="15" destOrd="0" presId="urn:microsoft.com/office/officeart/2005/8/layout/process5"/>
    <dgm:cxn modelId="{8870985D-70C4-4C72-8AE5-7C73207A22D5}" type="presParOf" srcId="{15B5EACF-BBAB-4ABA-9091-A3D38BE80B88}" destId="{75D86D44-832A-487C-9F5D-1F10A418F37B}" srcOrd="0" destOrd="0" presId="urn:microsoft.com/office/officeart/2005/8/layout/process5"/>
    <dgm:cxn modelId="{ADD21D99-DE09-481F-AF9C-4C09B5B0C56C}" type="presParOf" srcId="{A3E26F6F-ED38-4C8A-97C2-651F6489EE29}" destId="{BDD22505-B933-4936-8A32-12B25771088A}"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3D3F08-6B86-4EFB-B5D5-92332832AED2}"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GB"/>
        </a:p>
      </dgm:t>
    </dgm:pt>
    <dgm:pt modelId="{A78C9B33-D5B5-4A03-8EA8-ED182616A68B}">
      <dgm:prSet phldrT="[Text]" phldr="0" custT="1"/>
      <dgm:spPr>
        <a:solidFill>
          <a:srgbClr val="C7F2C3"/>
        </a:solidFill>
      </dgm:spPr>
      <dgm:t>
        <a:bodyPr/>
        <a:lstStyle/>
        <a:p>
          <a:r>
            <a:rPr lang="en-GB" sz="1400" dirty="0">
              <a:solidFill>
                <a:schemeClr val="tx1"/>
              </a:solidFill>
            </a:rPr>
            <a:t>Start</a:t>
          </a:r>
        </a:p>
      </dgm:t>
    </dgm:pt>
    <dgm:pt modelId="{11F0B57C-4991-48B4-A84F-48C2247D4672}" type="parTrans" cxnId="{0E332072-BC65-49A2-A347-970C5A21A9B3}">
      <dgm:prSet/>
      <dgm:spPr/>
      <dgm:t>
        <a:bodyPr/>
        <a:lstStyle/>
        <a:p>
          <a:endParaRPr lang="en-GB"/>
        </a:p>
      </dgm:t>
    </dgm:pt>
    <dgm:pt modelId="{389D7065-8E6A-4965-B8B2-A6491DB3FC7B}" type="sibTrans" cxnId="{0E332072-BC65-49A2-A347-970C5A21A9B3}">
      <dgm:prSet/>
      <dgm:spPr/>
      <dgm:t>
        <a:bodyPr/>
        <a:lstStyle/>
        <a:p>
          <a:endParaRPr lang="en-GB"/>
        </a:p>
      </dgm:t>
    </dgm:pt>
    <dgm:pt modelId="{CC98180E-AD2F-4802-88F5-01A306CA7F9A}">
      <dgm:prSet phldrT="[Text]" phldr="0" custT="1"/>
      <dgm:spPr>
        <a:solidFill>
          <a:srgbClr val="D9E8FB"/>
        </a:solidFill>
      </dgm:spPr>
      <dgm:t>
        <a:bodyPr/>
        <a:lstStyle/>
        <a:p>
          <a:r>
            <a:rPr lang="en-GB" sz="1400" dirty="0">
              <a:solidFill>
                <a:schemeClr val="tx1"/>
              </a:solidFill>
            </a:rPr>
            <a:t>Import Libraries and Define Auxiliary Functions</a:t>
          </a:r>
        </a:p>
      </dgm:t>
    </dgm:pt>
    <dgm:pt modelId="{FB942CDB-A56C-41AC-A264-417BFC58C272}" type="parTrans" cxnId="{CA79248F-8B2B-41DB-89FA-708DD59539BB}">
      <dgm:prSet/>
      <dgm:spPr/>
      <dgm:t>
        <a:bodyPr/>
        <a:lstStyle/>
        <a:p>
          <a:endParaRPr lang="en-GB"/>
        </a:p>
      </dgm:t>
    </dgm:pt>
    <dgm:pt modelId="{73B8B10D-EB3C-4ADD-90FE-6020C9114262}" type="sibTrans" cxnId="{CA79248F-8B2B-41DB-89FA-708DD59539BB}">
      <dgm:prSet/>
      <dgm:spPr/>
      <dgm:t>
        <a:bodyPr/>
        <a:lstStyle/>
        <a:p>
          <a:endParaRPr lang="en-GB"/>
        </a:p>
      </dgm:t>
    </dgm:pt>
    <dgm:pt modelId="{8F78B5CB-7B24-45FD-846A-322DC3A19EB5}">
      <dgm:prSet phldrT="[Text]" phldr="0" custT="1"/>
      <dgm:spPr>
        <a:solidFill>
          <a:srgbClr val="FCC6B5"/>
        </a:solidFill>
      </dgm:spPr>
      <dgm:t>
        <a:bodyPr/>
        <a:lstStyle/>
        <a:p>
          <a:r>
            <a:rPr lang="en-GB" sz="1400" dirty="0">
              <a:solidFill>
                <a:schemeClr val="tx1"/>
              </a:solidFill>
            </a:rPr>
            <a:t>Load CSV file from SpaceX from API Dataset</a:t>
          </a:r>
        </a:p>
      </dgm:t>
    </dgm:pt>
    <dgm:pt modelId="{D3F8EC86-8E77-42E6-A3D9-A74D317F23C0}" type="parTrans" cxnId="{35190579-0119-4B34-9B3D-6415394ADE5C}">
      <dgm:prSet/>
      <dgm:spPr/>
      <dgm:t>
        <a:bodyPr/>
        <a:lstStyle/>
        <a:p>
          <a:endParaRPr lang="en-GB"/>
        </a:p>
      </dgm:t>
    </dgm:pt>
    <dgm:pt modelId="{252961F7-7D91-4C13-81AC-75F3293D9916}" type="sibTrans" cxnId="{35190579-0119-4B34-9B3D-6415394ADE5C}">
      <dgm:prSet/>
      <dgm:spPr/>
      <dgm:t>
        <a:bodyPr/>
        <a:lstStyle/>
        <a:p>
          <a:endParaRPr lang="en-GB"/>
        </a:p>
      </dgm:t>
    </dgm:pt>
    <dgm:pt modelId="{31440F50-B21E-4655-B174-EF3617196887}">
      <dgm:prSet phldrT="[Text]" phldr="0" custT="1"/>
      <dgm:spPr>
        <a:solidFill>
          <a:srgbClr val="D9E8FB"/>
        </a:solidFill>
      </dgm:spPr>
      <dgm:t>
        <a:bodyPr/>
        <a:lstStyle/>
        <a:p>
          <a:r>
            <a:rPr lang="en-GB" sz="1400" dirty="0">
              <a:solidFill>
                <a:schemeClr val="tx1"/>
              </a:solidFill>
            </a:rPr>
            <a:t>Identify and Calculate Percentage of Missing Values in Each Attribute</a:t>
          </a:r>
        </a:p>
      </dgm:t>
    </dgm:pt>
    <dgm:pt modelId="{B60668CE-63E3-47FA-876E-7EFBEE450C51}" type="parTrans" cxnId="{46A49AC1-B413-44AE-B641-65380325A213}">
      <dgm:prSet/>
      <dgm:spPr/>
      <dgm:t>
        <a:bodyPr/>
        <a:lstStyle/>
        <a:p>
          <a:endParaRPr lang="en-GB"/>
        </a:p>
      </dgm:t>
    </dgm:pt>
    <dgm:pt modelId="{3260E31F-7E21-4622-9911-1AAE9D11A6D7}" type="sibTrans" cxnId="{46A49AC1-B413-44AE-B641-65380325A213}">
      <dgm:prSet/>
      <dgm:spPr/>
      <dgm:t>
        <a:bodyPr/>
        <a:lstStyle/>
        <a:p>
          <a:endParaRPr lang="en-GB"/>
        </a:p>
      </dgm:t>
    </dgm:pt>
    <dgm:pt modelId="{2A706FA1-3A1C-4275-970B-BA15CF18AE90}">
      <dgm:prSet phldrT="[Text]" phldr="0" custT="1"/>
      <dgm:spPr>
        <a:solidFill>
          <a:srgbClr val="D9E8FB"/>
        </a:solidFill>
      </dgm:spPr>
      <dgm:t>
        <a:bodyPr/>
        <a:lstStyle/>
        <a:p>
          <a:r>
            <a:rPr lang="en-GB" sz="1400" dirty="0">
              <a:solidFill>
                <a:schemeClr val="tx1"/>
              </a:solidFill>
            </a:rPr>
            <a:t>Calculate the number of launches on each site</a:t>
          </a:r>
        </a:p>
      </dgm:t>
    </dgm:pt>
    <dgm:pt modelId="{85D678B5-6E51-4124-B615-E7005D68C4CA}" type="parTrans" cxnId="{CBE6C615-6310-4D8A-971A-BF4C9A0F2A62}">
      <dgm:prSet/>
      <dgm:spPr/>
      <dgm:t>
        <a:bodyPr/>
        <a:lstStyle/>
        <a:p>
          <a:endParaRPr lang="en-GB"/>
        </a:p>
      </dgm:t>
    </dgm:pt>
    <dgm:pt modelId="{360C89B2-40BB-4325-A3EC-520D29CF87A8}" type="sibTrans" cxnId="{CBE6C615-6310-4D8A-971A-BF4C9A0F2A62}">
      <dgm:prSet/>
      <dgm:spPr/>
      <dgm:t>
        <a:bodyPr/>
        <a:lstStyle/>
        <a:p>
          <a:endParaRPr lang="en-GB"/>
        </a:p>
      </dgm:t>
    </dgm:pt>
    <dgm:pt modelId="{452CF2E2-B0B2-4691-B8F3-7B4E818BF5A8}">
      <dgm:prSet phldrT="[Text]" phldr="0" custT="1"/>
      <dgm:spPr>
        <a:solidFill>
          <a:srgbClr val="D9E8FB"/>
        </a:solidFill>
      </dgm:spPr>
      <dgm:t>
        <a:bodyPr/>
        <a:lstStyle/>
        <a:p>
          <a:r>
            <a:rPr lang="en-GB" sz="1400" dirty="0">
              <a:solidFill>
                <a:schemeClr val="tx1"/>
              </a:solidFill>
            </a:rPr>
            <a:t>Identify Numerical and Categorical Values</a:t>
          </a:r>
        </a:p>
      </dgm:t>
    </dgm:pt>
    <dgm:pt modelId="{108E9187-4FB6-4EFF-89AF-8831F9D48A6E}" type="parTrans" cxnId="{6A3EA3DC-851F-48F1-B855-025C0F00A797}">
      <dgm:prSet/>
      <dgm:spPr/>
      <dgm:t>
        <a:bodyPr/>
        <a:lstStyle/>
        <a:p>
          <a:endParaRPr lang="en-GB"/>
        </a:p>
      </dgm:t>
    </dgm:pt>
    <dgm:pt modelId="{0D3650E9-75AF-4799-B7FF-7C3A4BE90EAB}" type="sibTrans" cxnId="{6A3EA3DC-851F-48F1-B855-025C0F00A797}">
      <dgm:prSet/>
      <dgm:spPr/>
      <dgm:t>
        <a:bodyPr/>
        <a:lstStyle/>
        <a:p>
          <a:endParaRPr lang="en-GB"/>
        </a:p>
      </dgm:t>
    </dgm:pt>
    <dgm:pt modelId="{501E5538-007B-4BBF-83C3-23BF59A7F4FE}">
      <dgm:prSet phldrT="[Text]" phldr="0" custT="1"/>
      <dgm:spPr>
        <a:solidFill>
          <a:srgbClr val="D9E8FB"/>
        </a:solidFill>
      </dgm:spPr>
      <dgm:t>
        <a:bodyPr/>
        <a:lstStyle/>
        <a:p>
          <a:r>
            <a:rPr lang="en-GB" sz="1400" dirty="0">
              <a:solidFill>
                <a:schemeClr val="tx1"/>
              </a:solidFill>
            </a:rPr>
            <a:t>Calculate the number and occurrence of each orbit</a:t>
          </a:r>
        </a:p>
      </dgm:t>
    </dgm:pt>
    <dgm:pt modelId="{60C794FF-3EC9-4631-97CE-3DD45C04B3EC}" type="parTrans" cxnId="{76679303-16CA-4489-A18D-D1D896A1AD9D}">
      <dgm:prSet/>
      <dgm:spPr/>
      <dgm:t>
        <a:bodyPr/>
        <a:lstStyle/>
        <a:p>
          <a:endParaRPr lang="en-GB"/>
        </a:p>
      </dgm:t>
    </dgm:pt>
    <dgm:pt modelId="{17BFD085-1F87-44A4-B706-C8686749E4D7}" type="sibTrans" cxnId="{76679303-16CA-4489-A18D-D1D896A1AD9D}">
      <dgm:prSet/>
      <dgm:spPr/>
      <dgm:t>
        <a:bodyPr/>
        <a:lstStyle/>
        <a:p>
          <a:endParaRPr lang="en-GB"/>
        </a:p>
      </dgm:t>
    </dgm:pt>
    <dgm:pt modelId="{DBB4C3B6-AE44-4D8B-9058-27E493FE3CF0}">
      <dgm:prSet phldrT="[Text]" phldr="0" custT="1"/>
      <dgm:spPr>
        <a:solidFill>
          <a:srgbClr val="D9E8FB"/>
        </a:solidFill>
      </dgm:spPr>
      <dgm:t>
        <a:bodyPr/>
        <a:lstStyle/>
        <a:p>
          <a:r>
            <a:rPr lang="en-GB" sz="1400" dirty="0">
              <a:solidFill>
                <a:schemeClr val="tx1"/>
              </a:solidFill>
            </a:rPr>
            <a:t>Calculate the Number and occurrence of mission outcomes</a:t>
          </a:r>
        </a:p>
      </dgm:t>
    </dgm:pt>
    <dgm:pt modelId="{CE6A4E94-7C7A-4A1D-8DFC-82AD6A835AC7}" type="parTrans" cxnId="{DE312A94-536E-498C-954A-1EA27769697C}">
      <dgm:prSet/>
      <dgm:spPr/>
      <dgm:t>
        <a:bodyPr/>
        <a:lstStyle/>
        <a:p>
          <a:endParaRPr lang="en-GB"/>
        </a:p>
      </dgm:t>
    </dgm:pt>
    <dgm:pt modelId="{E821BDC4-CE3A-4A4A-98FD-FB07F32D1D1C}" type="sibTrans" cxnId="{DE312A94-536E-498C-954A-1EA27769697C}">
      <dgm:prSet/>
      <dgm:spPr/>
      <dgm:t>
        <a:bodyPr/>
        <a:lstStyle/>
        <a:p>
          <a:endParaRPr lang="en-GB"/>
        </a:p>
      </dgm:t>
    </dgm:pt>
    <dgm:pt modelId="{EA3ECF14-87EE-4417-8BD6-356B635D2923}">
      <dgm:prSet phldrT="[Text]" phldr="0" custT="1"/>
      <dgm:spPr>
        <a:solidFill>
          <a:srgbClr val="D9E8FB"/>
        </a:solidFill>
      </dgm:spPr>
      <dgm:t>
        <a:bodyPr/>
        <a:lstStyle/>
        <a:p>
          <a:r>
            <a:rPr lang="en-GB" sz="1400" dirty="0">
              <a:solidFill>
                <a:schemeClr val="tx1"/>
              </a:solidFill>
            </a:rPr>
            <a:t>Create a landing outcome column</a:t>
          </a:r>
        </a:p>
      </dgm:t>
    </dgm:pt>
    <dgm:pt modelId="{ECE76D57-7FED-45E1-BC6F-D023CA09C40A}" type="parTrans" cxnId="{DD7D0E46-9207-439C-8197-FA081E69D634}">
      <dgm:prSet/>
      <dgm:spPr/>
      <dgm:t>
        <a:bodyPr/>
        <a:lstStyle/>
        <a:p>
          <a:endParaRPr lang="en-GB"/>
        </a:p>
      </dgm:t>
    </dgm:pt>
    <dgm:pt modelId="{092CCED5-9D86-4627-85FD-28A05128FA65}" type="sibTrans" cxnId="{DD7D0E46-9207-439C-8197-FA081E69D634}">
      <dgm:prSet/>
      <dgm:spPr/>
      <dgm:t>
        <a:bodyPr/>
        <a:lstStyle/>
        <a:p>
          <a:endParaRPr lang="en-GB"/>
        </a:p>
      </dgm:t>
    </dgm:pt>
    <dgm:pt modelId="{DDE44986-3AB4-411C-891F-5A2FB06262D7}">
      <dgm:prSet phldrT="[Text]" phldr="0" custT="1"/>
      <dgm:spPr>
        <a:solidFill>
          <a:srgbClr val="C7F2C3"/>
        </a:solidFill>
      </dgm:spPr>
      <dgm:t>
        <a:bodyPr/>
        <a:lstStyle/>
        <a:p>
          <a:r>
            <a:rPr lang="en-GB" sz="1400" dirty="0">
              <a:solidFill>
                <a:schemeClr val="tx1"/>
              </a:solidFill>
            </a:rPr>
            <a:t>End</a:t>
          </a:r>
        </a:p>
      </dgm:t>
    </dgm:pt>
    <dgm:pt modelId="{1BF8FE09-8BB7-4069-A789-2D8AF156F204}" type="parTrans" cxnId="{D4455167-974D-421C-A240-6B7B08EB0B89}">
      <dgm:prSet/>
      <dgm:spPr/>
      <dgm:t>
        <a:bodyPr/>
        <a:lstStyle/>
        <a:p>
          <a:endParaRPr lang="en-GB"/>
        </a:p>
      </dgm:t>
    </dgm:pt>
    <dgm:pt modelId="{7E366148-04AC-49AF-B13C-75EA30AB88B2}" type="sibTrans" cxnId="{D4455167-974D-421C-A240-6B7B08EB0B89}">
      <dgm:prSet/>
      <dgm:spPr/>
      <dgm:t>
        <a:bodyPr/>
        <a:lstStyle/>
        <a:p>
          <a:endParaRPr lang="en-GB"/>
        </a:p>
      </dgm:t>
    </dgm:pt>
    <dgm:pt modelId="{8F8F601C-F28F-4FC0-9309-2BF1B4BF997D}">
      <dgm:prSet phldrT="[Text]" phldr="0" custT="1"/>
      <dgm:spPr>
        <a:solidFill>
          <a:srgbClr val="FCC6B5"/>
        </a:solidFill>
      </dgm:spPr>
      <dgm:t>
        <a:bodyPr/>
        <a:lstStyle/>
        <a:p>
          <a:r>
            <a:rPr lang="en-GB" sz="1400" dirty="0">
              <a:solidFill>
                <a:schemeClr val="tx1"/>
              </a:solidFill>
            </a:rPr>
            <a:t>Export the DataFrame to CSV file</a:t>
          </a:r>
        </a:p>
      </dgm:t>
    </dgm:pt>
    <dgm:pt modelId="{9D3A83AE-3F59-4145-B8A2-FC89B1B8DE51}" type="parTrans" cxnId="{4C2D947D-88DF-4E01-A924-83E415792D93}">
      <dgm:prSet/>
      <dgm:spPr/>
      <dgm:t>
        <a:bodyPr/>
        <a:lstStyle/>
        <a:p>
          <a:endParaRPr lang="en-GB"/>
        </a:p>
      </dgm:t>
    </dgm:pt>
    <dgm:pt modelId="{668D2573-5A4D-4809-A55D-D352847D4A8E}" type="sibTrans" cxnId="{4C2D947D-88DF-4E01-A924-83E415792D93}">
      <dgm:prSet/>
      <dgm:spPr/>
      <dgm:t>
        <a:bodyPr/>
        <a:lstStyle/>
        <a:p>
          <a:endParaRPr lang="en-GB"/>
        </a:p>
      </dgm:t>
    </dgm:pt>
    <dgm:pt modelId="{4B4612DE-A7F4-4757-B697-11261D541D44}" type="pres">
      <dgm:prSet presAssocID="{CF3D3F08-6B86-4EFB-B5D5-92332832AED2}" presName="diagram" presStyleCnt="0">
        <dgm:presLayoutVars>
          <dgm:dir/>
          <dgm:resizeHandles val="exact"/>
        </dgm:presLayoutVars>
      </dgm:prSet>
      <dgm:spPr/>
    </dgm:pt>
    <dgm:pt modelId="{C87FAB33-43A5-4E7F-852E-2BEE0E535749}" type="pres">
      <dgm:prSet presAssocID="{A78C9B33-D5B5-4A03-8EA8-ED182616A68B}" presName="node" presStyleLbl="node1" presStyleIdx="0" presStyleCnt="11" custScaleX="80687" custScaleY="46656" custLinFactNeighborX="-58187" custLinFactNeighborY="12572">
        <dgm:presLayoutVars>
          <dgm:bulletEnabled val="1"/>
        </dgm:presLayoutVars>
      </dgm:prSet>
      <dgm:spPr>
        <a:prstGeom prst="ellipse">
          <a:avLst/>
        </a:prstGeom>
      </dgm:spPr>
    </dgm:pt>
    <dgm:pt modelId="{09C71D7A-7AAA-442B-95ED-11E856AC8BCA}" type="pres">
      <dgm:prSet presAssocID="{389D7065-8E6A-4965-B8B2-A6491DB3FC7B}" presName="sibTrans" presStyleLbl="sibTrans2D1" presStyleIdx="0" presStyleCnt="10" custLinFactNeighborX="-609" custLinFactNeighborY="2077"/>
      <dgm:spPr/>
    </dgm:pt>
    <dgm:pt modelId="{0CBAFCBE-0F14-44BA-99A7-C990754E76EA}" type="pres">
      <dgm:prSet presAssocID="{389D7065-8E6A-4965-B8B2-A6491DB3FC7B}" presName="connectorText" presStyleLbl="sibTrans2D1" presStyleIdx="0" presStyleCnt="10"/>
      <dgm:spPr/>
    </dgm:pt>
    <dgm:pt modelId="{FB601A8C-5D61-4223-9F1F-9F55691272E6}" type="pres">
      <dgm:prSet presAssocID="{CC98180E-AD2F-4802-88F5-01A306CA7F9A}" presName="node" presStyleLbl="node1" presStyleIdx="1" presStyleCnt="11" custScaleX="90342" custScaleY="60158" custLinFactNeighborX="-51545" custLinFactNeighborY="15186">
        <dgm:presLayoutVars>
          <dgm:bulletEnabled val="1"/>
        </dgm:presLayoutVars>
      </dgm:prSet>
      <dgm:spPr/>
    </dgm:pt>
    <dgm:pt modelId="{D6C03A89-8BFA-48CC-A610-EB04B8F0C020}" type="pres">
      <dgm:prSet presAssocID="{73B8B10D-EB3C-4ADD-90FE-6020C9114262}" presName="sibTrans" presStyleLbl="sibTrans2D1" presStyleIdx="1" presStyleCnt="10" custLinFactNeighborX="-2510" custLinFactNeighborY="2155"/>
      <dgm:spPr/>
    </dgm:pt>
    <dgm:pt modelId="{455BA323-FB41-4B51-A332-FE0059CC5E5F}" type="pres">
      <dgm:prSet presAssocID="{73B8B10D-EB3C-4ADD-90FE-6020C9114262}" presName="connectorText" presStyleLbl="sibTrans2D1" presStyleIdx="1" presStyleCnt="10"/>
      <dgm:spPr/>
    </dgm:pt>
    <dgm:pt modelId="{7C8CF362-2FB7-405B-9CF4-5D1E30B5141F}" type="pres">
      <dgm:prSet presAssocID="{8F78B5CB-7B24-45FD-846A-322DC3A19EB5}" presName="node" presStyleLbl="node1" presStyleIdx="2" presStyleCnt="11" custScaleX="83561" custScaleY="82739" custLinFactNeighborX="-14916" custLinFactNeighborY="14925">
        <dgm:presLayoutVars>
          <dgm:bulletEnabled val="1"/>
        </dgm:presLayoutVars>
      </dgm:prSet>
      <dgm:spPr>
        <a:prstGeom prst="parallelogram">
          <a:avLst/>
        </a:prstGeom>
      </dgm:spPr>
    </dgm:pt>
    <dgm:pt modelId="{E790EE79-7E10-4786-90CC-284C75A725AC}" type="pres">
      <dgm:prSet presAssocID="{252961F7-7D91-4C13-81AC-75F3293D9916}" presName="sibTrans" presStyleLbl="sibTrans2D1" presStyleIdx="2" presStyleCnt="10"/>
      <dgm:spPr/>
    </dgm:pt>
    <dgm:pt modelId="{8657C65D-B958-49D6-A66B-64A01A59BF0A}" type="pres">
      <dgm:prSet presAssocID="{252961F7-7D91-4C13-81AC-75F3293D9916}" presName="connectorText" presStyleLbl="sibTrans2D1" presStyleIdx="2" presStyleCnt="10"/>
      <dgm:spPr/>
    </dgm:pt>
    <dgm:pt modelId="{B937985F-845F-447D-8672-FA7C078FEE07}" type="pres">
      <dgm:prSet presAssocID="{31440F50-B21E-4655-B174-EF3617196887}" presName="node" presStyleLbl="node1" presStyleIdx="3" presStyleCnt="11" custScaleX="100358" custScaleY="55735" custLinFactNeighborX="-4845">
        <dgm:presLayoutVars>
          <dgm:bulletEnabled val="1"/>
        </dgm:presLayoutVars>
      </dgm:prSet>
      <dgm:spPr/>
    </dgm:pt>
    <dgm:pt modelId="{8667E54A-356A-4305-B19A-703F8E70838B}" type="pres">
      <dgm:prSet presAssocID="{3260E31F-7E21-4622-9911-1AAE9D11A6D7}" presName="sibTrans" presStyleLbl="sibTrans2D1" presStyleIdx="3" presStyleCnt="10"/>
      <dgm:spPr/>
    </dgm:pt>
    <dgm:pt modelId="{25E1F1F4-BA2E-45E8-8A97-CB657A8C36B4}" type="pres">
      <dgm:prSet presAssocID="{3260E31F-7E21-4622-9911-1AAE9D11A6D7}" presName="connectorText" presStyleLbl="sibTrans2D1" presStyleIdx="3" presStyleCnt="10"/>
      <dgm:spPr/>
    </dgm:pt>
    <dgm:pt modelId="{8271730B-C6F6-4B0F-9F24-9AD99F6532D2}" type="pres">
      <dgm:prSet presAssocID="{452CF2E2-B0B2-4691-B8F3-7B4E818BF5A8}" presName="node" presStyleLbl="node1" presStyleIdx="4" presStyleCnt="11" custScaleX="111750" custScaleY="42449" custLinFactNeighborX="179">
        <dgm:presLayoutVars>
          <dgm:bulletEnabled val="1"/>
        </dgm:presLayoutVars>
      </dgm:prSet>
      <dgm:spPr/>
    </dgm:pt>
    <dgm:pt modelId="{BC527A81-2DA1-4A46-96BB-E5CB30C9862E}" type="pres">
      <dgm:prSet presAssocID="{0D3650E9-75AF-4799-B7FF-7C3A4BE90EAB}" presName="sibTrans" presStyleLbl="sibTrans2D1" presStyleIdx="4" presStyleCnt="10"/>
      <dgm:spPr/>
    </dgm:pt>
    <dgm:pt modelId="{90A738C6-A27D-471A-ACCC-E19D1646FA91}" type="pres">
      <dgm:prSet presAssocID="{0D3650E9-75AF-4799-B7FF-7C3A4BE90EAB}" presName="connectorText" presStyleLbl="sibTrans2D1" presStyleIdx="4" presStyleCnt="10"/>
      <dgm:spPr/>
    </dgm:pt>
    <dgm:pt modelId="{EE52ACB0-9E4A-4337-B6C9-183D9420EB7C}" type="pres">
      <dgm:prSet presAssocID="{2A706FA1-3A1C-4275-970B-BA15CF18AE90}" presName="node" presStyleLbl="node1" presStyleIdx="5" presStyleCnt="11" custScaleY="38689">
        <dgm:presLayoutVars>
          <dgm:bulletEnabled val="1"/>
        </dgm:presLayoutVars>
      </dgm:prSet>
      <dgm:spPr/>
    </dgm:pt>
    <dgm:pt modelId="{6561E160-9578-4D33-B26F-E8943FA7B6C4}" type="pres">
      <dgm:prSet presAssocID="{360C89B2-40BB-4325-A3EC-520D29CF87A8}" presName="sibTrans" presStyleLbl="sibTrans2D1" presStyleIdx="5" presStyleCnt="10"/>
      <dgm:spPr/>
    </dgm:pt>
    <dgm:pt modelId="{623AE180-4A6C-42FA-B21E-C5952CEE591A}" type="pres">
      <dgm:prSet presAssocID="{360C89B2-40BB-4325-A3EC-520D29CF87A8}" presName="connectorText" presStyleLbl="sibTrans2D1" presStyleIdx="5" presStyleCnt="10"/>
      <dgm:spPr/>
    </dgm:pt>
    <dgm:pt modelId="{5EC562EB-C614-4CD6-936B-A97A2F7A1061}" type="pres">
      <dgm:prSet presAssocID="{501E5538-007B-4BBF-83C3-23BF59A7F4FE}" presName="node" presStyleLbl="node1" presStyleIdx="6" presStyleCnt="11" custScaleY="59667">
        <dgm:presLayoutVars>
          <dgm:bulletEnabled val="1"/>
        </dgm:presLayoutVars>
      </dgm:prSet>
      <dgm:spPr/>
    </dgm:pt>
    <dgm:pt modelId="{62B2EC5E-751B-4EAD-9389-15E2FD659B4D}" type="pres">
      <dgm:prSet presAssocID="{17BFD085-1F87-44A4-B706-C8686749E4D7}" presName="sibTrans" presStyleLbl="sibTrans2D1" presStyleIdx="6" presStyleCnt="10"/>
      <dgm:spPr/>
    </dgm:pt>
    <dgm:pt modelId="{FB9B4A56-D6BD-4289-990E-47F479D3AA2B}" type="pres">
      <dgm:prSet presAssocID="{17BFD085-1F87-44A4-B706-C8686749E4D7}" presName="connectorText" presStyleLbl="sibTrans2D1" presStyleIdx="6" presStyleCnt="10"/>
      <dgm:spPr/>
    </dgm:pt>
    <dgm:pt modelId="{924369E0-52DA-4432-8E84-692F69C31933}" type="pres">
      <dgm:prSet presAssocID="{DBB4C3B6-AE44-4D8B-9058-27E493FE3CF0}" presName="node" presStyleLbl="node1" presStyleIdx="7" presStyleCnt="11" custScaleY="67648">
        <dgm:presLayoutVars>
          <dgm:bulletEnabled val="1"/>
        </dgm:presLayoutVars>
      </dgm:prSet>
      <dgm:spPr/>
    </dgm:pt>
    <dgm:pt modelId="{06EA6359-E221-40C6-9529-E59950E38E99}" type="pres">
      <dgm:prSet presAssocID="{E821BDC4-CE3A-4A4A-98FD-FB07F32D1D1C}" presName="sibTrans" presStyleLbl="sibTrans2D1" presStyleIdx="7" presStyleCnt="10"/>
      <dgm:spPr/>
    </dgm:pt>
    <dgm:pt modelId="{A1D68108-B7B8-4F32-8DC9-CDB48D54DD5A}" type="pres">
      <dgm:prSet presAssocID="{E821BDC4-CE3A-4A4A-98FD-FB07F32D1D1C}" presName="connectorText" presStyleLbl="sibTrans2D1" presStyleIdx="7" presStyleCnt="10"/>
      <dgm:spPr/>
    </dgm:pt>
    <dgm:pt modelId="{970CB319-B164-46AA-911C-6D093D077412}" type="pres">
      <dgm:prSet presAssocID="{EA3ECF14-87EE-4417-8BD6-356B635D2923}" presName="node" presStyleLbl="node1" presStyleIdx="8" presStyleCnt="11" custScaleY="52770" custLinFactNeighborX="-940" custLinFactNeighborY="4220">
        <dgm:presLayoutVars>
          <dgm:bulletEnabled val="1"/>
        </dgm:presLayoutVars>
      </dgm:prSet>
      <dgm:spPr/>
    </dgm:pt>
    <dgm:pt modelId="{45FDFE82-7B5E-4B3D-AD86-21E07D440693}" type="pres">
      <dgm:prSet presAssocID="{092CCED5-9D86-4627-85FD-28A05128FA65}" presName="sibTrans" presStyleLbl="sibTrans2D1" presStyleIdx="8" presStyleCnt="10"/>
      <dgm:spPr/>
    </dgm:pt>
    <dgm:pt modelId="{FBCEC213-E4BF-45FF-B085-7AA98B486970}" type="pres">
      <dgm:prSet presAssocID="{092CCED5-9D86-4627-85FD-28A05128FA65}" presName="connectorText" presStyleLbl="sibTrans2D1" presStyleIdx="8" presStyleCnt="10"/>
      <dgm:spPr/>
    </dgm:pt>
    <dgm:pt modelId="{E6C98775-3557-4B27-8191-DB12B0CF84F0}" type="pres">
      <dgm:prSet presAssocID="{8F8F601C-F28F-4FC0-9309-2BF1B4BF997D}" presName="node" presStyleLbl="node1" presStyleIdx="9" presStyleCnt="11" custScaleY="64832" custLinFactNeighborX="-515" custLinFactNeighborY="-12021">
        <dgm:presLayoutVars>
          <dgm:bulletEnabled val="1"/>
        </dgm:presLayoutVars>
      </dgm:prSet>
      <dgm:spPr>
        <a:prstGeom prst="parallelogram">
          <a:avLst/>
        </a:prstGeom>
      </dgm:spPr>
    </dgm:pt>
    <dgm:pt modelId="{CE6B9172-F084-41A1-B103-12ADDC4483C4}" type="pres">
      <dgm:prSet presAssocID="{668D2573-5A4D-4809-A55D-D352847D4A8E}" presName="sibTrans" presStyleLbl="sibTrans2D1" presStyleIdx="9" presStyleCnt="10"/>
      <dgm:spPr/>
    </dgm:pt>
    <dgm:pt modelId="{76F3B093-E2AE-49A6-9FA2-832077C0B13B}" type="pres">
      <dgm:prSet presAssocID="{668D2573-5A4D-4809-A55D-D352847D4A8E}" presName="connectorText" presStyleLbl="sibTrans2D1" presStyleIdx="9" presStyleCnt="10"/>
      <dgm:spPr/>
    </dgm:pt>
    <dgm:pt modelId="{B9D01266-F884-461E-B4C5-8829FC211D57}" type="pres">
      <dgm:prSet presAssocID="{DDE44986-3AB4-411C-891F-5A2FB06262D7}" presName="node" presStyleLbl="node1" presStyleIdx="10" presStyleCnt="11" custScaleX="86529" custScaleY="36033" custLinFactNeighborX="-2564" custLinFactNeighborY="-18643">
        <dgm:presLayoutVars>
          <dgm:bulletEnabled val="1"/>
        </dgm:presLayoutVars>
      </dgm:prSet>
      <dgm:spPr>
        <a:prstGeom prst="ellipse">
          <a:avLst/>
        </a:prstGeom>
      </dgm:spPr>
    </dgm:pt>
  </dgm:ptLst>
  <dgm:cxnLst>
    <dgm:cxn modelId="{76679303-16CA-4489-A18D-D1D896A1AD9D}" srcId="{CF3D3F08-6B86-4EFB-B5D5-92332832AED2}" destId="{501E5538-007B-4BBF-83C3-23BF59A7F4FE}" srcOrd="6" destOrd="0" parTransId="{60C794FF-3EC9-4631-97CE-3DD45C04B3EC}" sibTransId="{17BFD085-1F87-44A4-B706-C8686749E4D7}"/>
    <dgm:cxn modelId="{D0BCAF05-66B5-4BBC-AEA9-B9749D1123B0}" type="presOf" srcId="{E821BDC4-CE3A-4A4A-98FD-FB07F32D1D1C}" destId="{A1D68108-B7B8-4F32-8DC9-CDB48D54DD5A}" srcOrd="1" destOrd="0" presId="urn:microsoft.com/office/officeart/2005/8/layout/process5"/>
    <dgm:cxn modelId="{8BF7BC07-FB2A-4691-B9FC-B6F9505AC611}" type="presOf" srcId="{668D2573-5A4D-4809-A55D-D352847D4A8E}" destId="{CE6B9172-F084-41A1-B103-12ADDC4483C4}" srcOrd="0" destOrd="0" presId="urn:microsoft.com/office/officeart/2005/8/layout/process5"/>
    <dgm:cxn modelId="{AC74C014-71A4-4B20-A795-0CBCA33186C3}" type="presOf" srcId="{092CCED5-9D86-4627-85FD-28A05128FA65}" destId="{FBCEC213-E4BF-45FF-B085-7AA98B486970}" srcOrd="1" destOrd="0" presId="urn:microsoft.com/office/officeart/2005/8/layout/process5"/>
    <dgm:cxn modelId="{CBE6C615-6310-4D8A-971A-BF4C9A0F2A62}" srcId="{CF3D3F08-6B86-4EFB-B5D5-92332832AED2}" destId="{2A706FA1-3A1C-4275-970B-BA15CF18AE90}" srcOrd="5" destOrd="0" parTransId="{85D678B5-6E51-4124-B615-E7005D68C4CA}" sibTransId="{360C89B2-40BB-4325-A3EC-520D29CF87A8}"/>
    <dgm:cxn modelId="{C6536124-A19C-4906-ACF9-885F08305148}" type="presOf" srcId="{2A706FA1-3A1C-4275-970B-BA15CF18AE90}" destId="{EE52ACB0-9E4A-4337-B6C9-183D9420EB7C}" srcOrd="0" destOrd="0" presId="urn:microsoft.com/office/officeart/2005/8/layout/process5"/>
    <dgm:cxn modelId="{389B6625-9FD8-49C9-81D7-381DA9E458E0}" type="presOf" srcId="{0D3650E9-75AF-4799-B7FF-7C3A4BE90EAB}" destId="{90A738C6-A27D-471A-ACCC-E19D1646FA91}" srcOrd="1" destOrd="0" presId="urn:microsoft.com/office/officeart/2005/8/layout/process5"/>
    <dgm:cxn modelId="{4A7E892B-E08C-49A6-8840-7C39A5939E8D}" type="presOf" srcId="{EA3ECF14-87EE-4417-8BD6-356B635D2923}" destId="{970CB319-B164-46AA-911C-6D093D077412}" srcOrd="0" destOrd="0" presId="urn:microsoft.com/office/officeart/2005/8/layout/process5"/>
    <dgm:cxn modelId="{5D8C5836-5786-462D-B4AA-D5BC4557F982}" type="presOf" srcId="{252961F7-7D91-4C13-81AC-75F3293D9916}" destId="{8657C65D-B958-49D6-A66B-64A01A59BF0A}" srcOrd="1" destOrd="0" presId="urn:microsoft.com/office/officeart/2005/8/layout/process5"/>
    <dgm:cxn modelId="{4E909836-57F0-4D35-95BE-E1BC78B45FAA}" type="presOf" srcId="{3260E31F-7E21-4622-9911-1AAE9D11A6D7}" destId="{25E1F1F4-BA2E-45E8-8A97-CB657A8C36B4}" srcOrd="1" destOrd="0" presId="urn:microsoft.com/office/officeart/2005/8/layout/process5"/>
    <dgm:cxn modelId="{ABDE6D3C-5B08-4CE3-959C-28AC6560A311}" type="presOf" srcId="{252961F7-7D91-4C13-81AC-75F3293D9916}" destId="{E790EE79-7E10-4786-90CC-284C75A725AC}" srcOrd="0" destOrd="0" presId="urn:microsoft.com/office/officeart/2005/8/layout/process5"/>
    <dgm:cxn modelId="{E214E844-1C92-41C9-82A3-596EFE844F2D}" type="presOf" srcId="{E821BDC4-CE3A-4A4A-98FD-FB07F32D1D1C}" destId="{06EA6359-E221-40C6-9529-E59950E38E99}" srcOrd="0" destOrd="0" presId="urn:microsoft.com/office/officeart/2005/8/layout/process5"/>
    <dgm:cxn modelId="{DD7D0E46-9207-439C-8197-FA081E69D634}" srcId="{CF3D3F08-6B86-4EFB-B5D5-92332832AED2}" destId="{EA3ECF14-87EE-4417-8BD6-356B635D2923}" srcOrd="8" destOrd="0" parTransId="{ECE76D57-7FED-45E1-BC6F-D023CA09C40A}" sibTransId="{092CCED5-9D86-4627-85FD-28A05128FA65}"/>
    <dgm:cxn modelId="{986F8F66-7385-48E5-915E-4616BC5D804B}" type="presOf" srcId="{668D2573-5A4D-4809-A55D-D352847D4A8E}" destId="{76F3B093-E2AE-49A6-9FA2-832077C0B13B}" srcOrd="1" destOrd="0" presId="urn:microsoft.com/office/officeart/2005/8/layout/process5"/>
    <dgm:cxn modelId="{D4455167-974D-421C-A240-6B7B08EB0B89}" srcId="{CF3D3F08-6B86-4EFB-B5D5-92332832AED2}" destId="{DDE44986-3AB4-411C-891F-5A2FB06262D7}" srcOrd="10" destOrd="0" parTransId="{1BF8FE09-8BB7-4069-A789-2D8AF156F204}" sibTransId="{7E366148-04AC-49AF-B13C-75EA30AB88B2}"/>
    <dgm:cxn modelId="{E6DBDB67-656C-4920-9489-95B855653428}" type="presOf" srcId="{17BFD085-1F87-44A4-B706-C8686749E4D7}" destId="{62B2EC5E-751B-4EAD-9389-15E2FD659B4D}" srcOrd="0" destOrd="0" presId="urn:microsoft.com/office/officeart/2005/8/layout/process5"/>
    <dgm:cxn modelId="{97596C4A-DC53-44A4-84EA-5085A5CE1C9C}" type="presOf" srcId="{389D7065-8E6A-4965-B8B2-A6491DB3FC7B}" destId="{0CBAFCBE-0F14-44BA-99A7-C990754E76EA}" srcOrd="1" destOrd="0" presId="urn:microsoft.com/office/officeart/2005/8/layout/process5"/>
    <dgm:cxn modelId="{3B2B254B-2661-4346-8D50-A2E1D753E07C}" type="presOf" srcId="{73B8B10D-EB3C-4ADD-90FE-6020C9114262}" destId="{455BA323-FB41-4B51-A332-FE0059CC5E5F}" srcOrd="1" destOrd="0" presId="urn:microsoft.com/office/officeart/2005/8/layout/process5"/>
    <dgm:cxn modelId="{B1E9484E-9EDF-44EF-B8AF-89A5E5B33AA7}" type="presOf" srcId="{8F8F601C-F28F-4FC0-9309-2BF1B4BF997D}" destId="{E6C98775-3557-4B27-8191-DB12B0CF84F0}" srcOrd="0" destOrd="0" presId="urn:microsoft.com/office/officeart/2005/8/layout/process5"/>
    <dgm:cxn modelId="{4C36CB4E-AFD2-42FB-AC20-A7145F60DD0C}" type="presOf" srcId="{360C89B2-40BB-4325-A3EC-520D29CF87A8}" destId="{623AE180-4A6C-42FA-B21E-C5952CEE591A}" srcOrd="1" destOrd="0" presId="urn:microsoft.com/office/officeart/2005/8/layout/process5"/>
    <dgm:cxn modelId="{0E332072-BC65-49A2-A347-970C5A21A9B3}" srcId="{CF3D3F08-6B86-4EFB-B5D5-92332832AED2}" destId="{A78C9B33-D5B5-4A03-8EA8-ED182616A68B}" srcOrd="0" destOrd="0" parTransId="{11F0B57C-4991-48B4-A84F-48C2247D4672}" sibTransId="{389D7065-8E6A-4965-B8B2-A6491DB3FC7B}"/>
    <dgm:cxn modelId="{BDAFF958-B493-4BCA-A39B-BE4E0DB123D6}" type="presOf" srcId="{17BFD085-1F87-44A4-B706-C8686749E4D7}" destId="{FB9B4A56-D6BD-4289-990E-47F479D3AA2B}" srcOrd="1" destOrd="0" presId="urn:microsoft.com/office/officeart/2005/8/layout/process5"/>
    <dgm:cxn modelId="{35190579-0119-4B34-9B3D-6415394ADE5C}" srcId="{CF3D3F08-6B86-4EFB-B5D5-92332832AED2}" destId="{8F78B5CB-7B24-45FD-846A-322DC3A19EB5}" srcOrd="2" destOrd="0" parTransId="{D3F8EC86-8E77-42E6-A3D9-A74D317F23C0}" sibTransId="{252961F7-7D91-4C13-81AC-75F3293D9916}"/>
    <dgm:cxn modelId="{FF0E9D5A-A33E-4890-8FAC-0A4211A64D71}" type="presOf" srcId="{3260E31F-7E21-4622-9911-1AAE9D11A6D7}" destId="{8667E54A-356A-4305-B19A-703F8E70838B}" srcOrd="0" destOrd="0" presId="urn:microsoft.com/office/officeart/2005/8/layout/process5"/>
    <dgm:cxn modelId="{CF43A27A-02B9-41B8-8C01-9B781D8DF4AB}" type="presOf" srcId="{DBB4C3B6-AE44-4D8B-9058-27E493FE3CF0}" destId="{924369E0-52DA-4432-8E84-692F69C31933}" srcOrd="0" destOrd="0" presId="urn:microsoft.com/office/officeart/2005/8/layout/process5"/>
    <dgm:cxn modelId="{4C2D947D-88DF-4E01-A924-83E415792D93}" srcId="{CF3D3F08-6B86-4EFB-B5D5-92332832AED2}" destId="{8F8F601C-F28F-4FC0-9309-2BF1B4BF997D}" srcOrd="9" destOrd="0" parTransId="{9D3A83AE-3F59-4145-B8A2-FC89B1B8DE51}" sibTransId="{668D2573-5A4D-4809-A55D-D352847D4A8E}"/>
    <dgm:cxn modelId="{CA79248F-8B2B-41DB-89FA-708DD59539BB}" srcId="{CF3D3F08-6B86-4EFB-B5D5-92332832AED2}" destId="{CC98180E-AD2F-4802-88F5-01A306CA7F9A}" srcOrd="1" destOrd="0" parTransId="{FB942CDB-A56C-41AC-A264-417BFC58C272}" sibTransId="{73B8B10D-EB3C-4ADD-90FE-6020C9114262}"/>
    <dgm:cxn modelId="{B4D6268F-F82B-423B-A447-678477025827}" type="presOf" srcId="{31440F50-B21E-4655-B174-EF3617196887}" destId="{B937985F-845F-447D-8672-FA7C078FEE07}" srcOrd="0" destOrd="0" presId="urn:microsoft.com/office/officeart/2005/8/layout/process5"/>
    <dgm:cxn modelId="{C54C5B91-6770-4A80-942A-58A948632319}" type="presOf" srcId="{0D3650E9-75AF-4799-B7FF-7C3A4BE90EAB}" destId="{BC527A81-2DA1-4A46-96BB-E5CB30C9862E}" srcOrd="0" destOrd="0" presId="urn:microsoft.com/office/officeart/2005/8/layout/process5"/>
    <dgm:cxn modelId="{DE312A94-536E-498C-954A-1EA27769697C}" srcId="{CF3D3F08-6B86-4EFB-B5D5-92332832AED2}" destId="{DBB4C3B6-AE44-4D8B-9058-27E493FE3CF0}" srcOrd="7" destOrd="0" parTransId="{CE6A4E94-7C7A-4A1D-8DFC-82AD6A835AC7}" sibTransId="{E821BDC4-CE3A-4A4A-98FD-FB07F32D1D1C}"/>
    <dgm:cxn modelId="{197B5E9D-013E-4C30-A498-4D97AC88E311}" type="presOf" srcId="{092CCED5-9D86-4627-85FD-28A05128FA65}" destId="{45FDFE82-7B5E-4B3D-AD86-21E07D440693}" srcOrd="0" destOrd="0" presId="urn:microsoft.com/office/officeart/2005/8/layout/process5"/>
    <dgm:cxn modelId="{2EFDAA9F-79E8-4F77-9D4D-C405F6945AA0}" type="presOf" srcId="{73B8B10D-EB3C-4ADD-90FE-6020C9114262}" destId="{D6C03A89-8BFA-48CC-A610-EB04B8F0C020}" srcOrd="0" destOrd="0" presId="urn:microsoft.com/office/officeart/2005/8/layout/process5"/>
    <dgm:cxn modelId="{D04FD5B6-315B-483F-9A4C-B99237A01C49}" type="presOf" srcId="{DDE44986-3AB4-411C-891F-5A2FB06262D7}" destId="{B9D01266-F884-461E-B4C5-8829FC211D57}" srcOrd="0" destOrd="0" presId="urn:microsoft.com/office/officeart/2005/8/layout/process5"/>
    <dgm:cxn modelId="{46A49AC1-B413-44AE-B641-65380325A213}" srcId="{CF3D3F08-6B86-4EFB-B5D5-92332832AED2}" destId="{31440F50-B21E-4655-B174-EF3617196887}" srcOrd="3" destOrd="0" parTransId="{B60668CE-63E3-47FA-876E-7EFBEE450C51}" sibTransId="{3260E31F-7E21-4622-9911-1AAE9D11A6D7}"/>
    <dgm:cxn modelId="{34C703CE-644D-4AF8-8191-AE23F3A042E9}" type="presOf" srcId="{501E5538-007B-4BBF-83C3-23BF59A7F4FE}" destId="{5EC562EB-C614-4CD6-936B-A97A2F7A1061}" srcOrd="0" destOrd="0" presId="urn:microsoft.com/office/officeart/2005/8/layout/process5"/>
    <dgm:cxn modelId="{ECC3B7D6-D46C-4D2E-B773-710361460B42}" type="presOf" srcId="{452CF2E2-B0B2-4691-B8F3-7B4E818BF5A8}" destId="{8271730B-C6F6-4B0F-9F24-9AD99F6532D2}" srcOrd="0" destOrd="0" presId="urn:microsoft.com/office/officeart/2005/8/layout/process5"/>
    <dgm:cxn modelId="{251417DB-A91E-4685-9523-5B3323F93484}" type="presOf" srcId="{389D7065-8E6A-4965-B8B2-A6491DB3FC7B}" destId="{09C71D7A-7AAA-442B-95ED-11E856AC8BCA}" srcOrd="0" destOrd="0" presId="urn:microsoft.com/office/officeart/2005/8/layout/process5"/>
    <dgm:cxn modelId="{6A3EA3DC-851F-48F1-B855-025C0F00A797}" srcId="{CF3D3F08-6B86-4EFB-B5D5-92332832AED2}" destId="{452CF2E2-B0B2-4691-B8F3-7B4E818BF5A8}" srcOrd="4" destOrd="0" parTransId="{108E9187-4FB6-4EFF-89AF-8831F9D48A6E}" sibTransId="{0D3650E9-75AF-4799-B7FF-7C3A4BE90EAB}"/>
    <dgm:cxn modelId="{7C5EEEE2-5D55-4842-9723-EAEFB0DBC3E6}" type="presOf" srcId="{CF3D3F08-6B86-4EFB-B5D5-92332832AED2}" destId="{4B4612DE-A7F4-4757-B697-11261D541D44}" srcOrd="0" destOrd="0" presId="urn:microsoft.com/office/officeart/2005/8/layout/process5"/>
    <dgm:cxn modelId="{5ABFE6EB-EBC0-4944-B680-D691B5EDD9D9}" type="presOf" srcId="{360C89B2-40BB-4325-A3EC-520D29CF87A8}" destId="{6561E160-9578-4D33-B26F-E8943FA7B6C4}" srcOrd="0" destOrd="0" presId="urn:microsoft.com/office/officeart/2005/8/layout/process5"/>
    <dgm:cxn modelId="{919344EC-9661-4D1B-BDEF-F98B592A3B85}" type="presOf" srcId="{CC98180E-AD2F-4802-88F5-01A306CA7F9A}" destId="{FB601A8C-5D61-4223-9F1F-9F55691272E6}" srcOrd="0" destOrd="0" presId="urn:microsoft.com/office/officeart/2005/8/layout/process5"/>
    <dgm:cxn modelId="{F8BFBCF2-AC5C-4A1B-83D3-7F2525D24235}" type="presOf" srcId="{8F78B5CB-7B24-45FD-846A-322DC3A19EB5}" destId="{7C8CF362-2FB7-405B-9CF4-5D1E30B5141F}" srcOrd="0" destOrd="0" presId="urn:microsoft.com/office/officeart/2005/8/layout/process5"/>
    <dgm:cxn modelId="{CBE17AFD-B954-401A-8641-D5EAE66EE3F0}" type="presOf" srcId="{A78C9B33-D5B5-4A03-8EA8-ED182616A68B}" destId="{C87FAB33-43A5-4E7F-852E-2BEE0E535749}" srcOrd="0" destOrd="0" presId="urn:microsoft.com/office/officeart/2005/8/layout/process5"/>
    <dgm:cxn modelId="{08995D58-DB53-45F5-8927-4AFC8735F431}" type="presParOf" srcId="{4B4612DE-A7F4-4757-B697-11261D541D44}" destId="{C87FAB33-43A5-4E7F-852E-2BEE0E535749}" srcOrd="0" destOrd="0" presId="urn:microsoft.com/office/officeart/2005/8/layout/process5"/>
    <dgm:cxn modelId="{9EFEEAF3-8B4E-4957-96F3-E1DDDD3C6943}" type="presParOf" srcId="{4B4612DE-A7F4-4757-B697-11261D541D44}" destId="{09C71D7A-7AAA-442B-95ED-11E856AC8BCA}" srcOrd="1" destOrd="0" presId="urn:microsoft.com/office/officeart/2005/8/layout/process5"/>
    <dgm:cxn modelId="{A4893F3D-F4D2-470A-8EBC-1A65D7E9E544}" type="presParOf" srcId="{09C71D7A-7AAA-442B-95ED-11E856AC8BCA}" destId="{0CBAFCBE-0F14-44BA-99A7-C990754E76EA}" srcOrd="0" destOrd="0" presId="urn:microsoft.com/office/officeart/2005/8/layout/process5"/>
    <dgm:cxn modelId="{19FA2E3B-8801-4AC0-A30D-D4FA3BDD5CB3}" type="presParOf" srcId="{4B4612DE-A7F4-4757-B697-11261D541D44}" destId="{FB601A8C-5D61-4223-9F1F-9F55691272E6}" srcOrd="2" destOrd="0" presId="urn:microsoft.com/office/officeart/2005/8/layout/process5"/>
    <dgm:cxn modelId="{D4C50755-EA12-4906-92EF-B2DB7F79E94F}" type="presParOf" srcId="{4B4612DE-A7F4-4757-B697-11261D541D44}" destId="{D6C03A89-8BFA-48CC-A610-EB04B8F0C020}" srcOrd="3" destOrd="0" presId="urn:microsoft.com/office/officeart/2005/8/layout/process5"/>
    <dgm:cxn modelId="{E5343E0E-B238-49E6-B654-BA1D66E135D1}" type="presParOf" srcId="{D6C03A89-8BFA-48CC-A610-EB04B8F0C020}" destId="{455BA323-FB41-4B51-A332-FE0059CC5E5F}" srcOrd="0" destOrd="0" presId="urn:microsoft.com/office/officeart/2005/8/layout/process5"/>
    <dgm:cxn modelId="{D5B30BA9-A535-4B1D-86F0-2D54C83DE541}" type="presParOf" srcId="{4B4612DE-A7F4-4757-B697-11261D541D44}" destId="{7C8CF362-2FB7-405B-9CF4-5D1E30B5141F}" srcOrd="4" destOrd="0" presId="urn:microsoft.com/office/officeart/2005/8/layout/process5"/>
    <dgm:cxn modelId="{F0BE42C1-9018-44F3-B5D3-09F93794BB9C}" type="presParOf" srcId="{4B4612DE-A7F4-4757-B697-11261D541D44}" destId="{E790EE79-7E10-4786-90CC-284C75A725AC}" srcOrd="5" destOrd="0" presId="urn:microsoft.com/office/officeart/2005/8/layout/process5"/>
    <dgm:cxn modelId="{94AB0C95-895E-4782-AF4A-9F21B2C5C72C}" type="presParOf" srcId="{E790EE79-7E10-4786-90CC-284C75A725AC}" destId="{8657C65D-B958-49D6-A66B-64A01A59BF0A}" srcOrd="0" destOrd="0" presId="urn:microsoft.com/office/officeart/2005/8/layout/process5"/>
    <dgm:cxn modelId="{49E6443C-DE7B-4973-B367-FF084A108CBB}" type="presParOf" srcId="{4B4612DE-A7F4-4757-B697-11261D541D44}" destId="{B937985F-845F-447D-8672-FA7C078FEE07}" srcOrd="6" destOrd="0" presId="urn:microsoft.com/office/officeart/2005/8/layout/process5"/>
    <dgm:cxn modelId="{619C3437-87DC-43FD-848E-80F8C080875F}" type="presParOf" srcId="{4B4612DE-A7F4-4757-B697-11261D541D44}" destId="{8667E54A-356A-4305-B19A-703F8E70838B}" srcOrd="7" destOrd="0" presId="urn:microsoft.com/office/officeart/2005/8/layout/process5"/>
    <dgm:cxn modelId="{5660D27F-8E63-4EF6-B7A8-B110AB9A8802}" type="presParOf" srcId="{8667E54A-356A-4305-B19A-703F8E70838B}" destId="{25E1F1F4-BA2E-45E8-8A97-CB657A8C36B4}" srcOrd="0" destOrd="0" presId="urn:microsoft.com/office/officeart/2005/8/layout/process5"/>
    <dgm:cxn modelId="{4A0DDEEB-07F0-44E4-8E32-61122F187F9E}" type="presParOf" srcId="{4B4612DE-A7F4-4757-B697-11261D541D44}" destId="{8271730B-C6F6-4B0F-9F24-9AD99F6532D2}" srcOrd="8" destOrd="0" presId="urn:microsoft.com/office/officeart/2005/8/layout/process5"/>
    <dgm:cxn modelId="{D390049A-4FEE-4F8E-A85D-38BE2389AEAC}" type="presParOf" srcId="{4B4612DE-A7F4-4757-B697-11261D541D44}" destId="{BC527A81-2DA1-4A46-96BB-E5CB30C9862E}" srcOrd="9" destOrd="0" presId="urn:microsoft.com/office/officeart/2005/8/layout/process5"/>
    <dgm:cxn modelId="{1C3E9BD6-55EA-4C0C-9E60-576A29DC9E01}" type="presParOf" srcId="{BC527A81-2DA1-4A46-96BB-E5CB30C9862E}" destId="{90A738C6-A27D-471A-ACCC-E19D1646FA91}" srcOrd="0" destOrd="0" presId="urn:microsoft.com/office/officeart/2005/8/layout/process5"/>
    <dgm:cxn modelId="{1A6EFCC2-F4FE-41AD-9913-FCE565FB25C0}" type="presParOf" srcId="{4B4612DE-A7F4-4757-B697-11261D541D44}" destId="{EE52ACB0-9E4A-4337-B6C9-183D9420EB7C}" srcOrd="10" destOrd="0" presId="urn:microsoft.com/office/officeart/2005/8/layout/process5"/>
    <dgm:cxn modelId="{84E054BE-20C2-4CB4-AAD6-297CA4B7D3AF}" type="presParOf" srcId="{4B4612DE-A7F4-4757-B697-11261D541D44}" destId="{6561E160-9578-4D33-B26F-E8943FA7B6C4}" srcOrd="11" destOrd="0" presId="urn:microsoft.com/office/officeart/2005/8/layout/process5"/>
    <dgm:cxn modelId="{E35349C5-8D24-49DB-8E93-20729DA36544}" type="presParOf" srcId="{6561E160-9578-4D33-B26F-E8943FA7B6C4}" destId="{623AE180-4A6C-42FA-B21E-C5952CEE591A}" srcOrd="0" destOrd="0" presId="urn:microsoft.com/office/officeart/2005/8/layout/process5"/>
    <dgm:cxn modelId="{885E5804-02B6-432B-B75E-D4551074DB96}" type="presParOf" srcId="{4B4612DE-A7F4-4757-B697-11261D541D44}" destId="{5EC562EB-C614-4CD6-936B-A97A2F7A1061}" srcOrd="12" destOrd="0" presId="urn:microsoft.com/office/officeart/2005/8/layout/process5"/>
    <dgm:cxn modelId="{E84064AA-DB3B-48B6-AF89-0ED965751617}" type="presParOf" srcId="{4B4612DE-A7F4-4757-B697-11261D541D44}" destId="{62B2EC5E-751B-4EAD-9389-15E2FD659B4D}" srcOrd="13" destOrd="0" presId="urn:microsoft.com/office/officeart/2005/8/layout/process5"/>
    <dgm:cxn modelId="{E425AF43-88A2-477C-9870-F7CFA96EAB96}" type="presParOf" srcId="{62B2EC5E-751B-4EAD-9389-15E2FD659B4D}" destId="{FB9B4A56-D6BD-4289-990E-47F479D3AA2B}" srcOrd="0" destOrd="0" presId="urn:microsoft.com/office/officeart/2005/8/layout/process5"/>
    <dgm:cxn modelId="{075990D2-7D5D-430C-A1A7-08105FC26364}" type="presParOf" srcId="{4B4612DE-A7F4-4757-B697-11261D541D44}" destId="{924369E0-52DA-4432-8E84-692F69C31933}" srcOrd="14" destOrd="0" presId="urn:microsoft.com/office/officeart/2005/8/layout/process5"/>
    <dgm:cxn modelId="{7D1FB9D1-1CE5-4F1F-8CB5-3F5D4D69DAC7}" type="presParOf" srcId="{4B4612DE-A7F4-4757-B697-11261D541D44}" destId="{06EA6359-E221-40C6-9529-E59950E38E99}" srcOrd="15" destOrd="0" presId="urn:microsoft.com/office/officeart/2005/8/layout/process5"/>
    <dgm:cxn modelId="{C58A4351-FAEB-4DCF-9CC2-4F83FC537331}" type="presParOf" srcId="{06EA6359-E221-40C6-9529-E59950E38E99}" destId="{A1D68108-B7B8-4F32-8DC9-CDB48D54DD5A}" srcOrd="0" destOrd="0" presId="urn:microsoft.com/office/officeart/2005/8/layout/process5"/>
    <dgm:cxn modelId="{8BC2F309-D81B-405D-991A-426C7D350A3E}" type="presParOf" srcId="{4B4612DE-A7F4-4757-B697-11261D541D44}" destId="{970CB319-B164-46AA-911C-6D093D077412}" srcOrd="16" destOrd="0" presId="urn:microsoft.com/office/officeart/2005/8/layout/process5"/>
    <dgm:cxn modelId="{50D99B99-F853-42AC-A5C4-ADE897362CF8}" type="presParOf" srcId="{4B4612DE-A7F4-4757-B697-11261D541D44}" destId="{45FDFE82-7B5E-4B3D-AD86-21E07D440693}" srcOrd="17" destOrd="0" presId="urn:microsoft.com/office/officeart/2005/8/layout/process5"/>
    <dgm:cxn modelId="{2C32748C-83EB-488B-8B9F-734AFE058331}" type="presParOf" srcId="{45FDFE82-7B5E-4B3D-AD86-21E07D440693}" destId="{FBCEC213-E4BF-45FF-B085-7AA98B486970}" srcOrd="0" destOrd="0" presId="urn:microsoft.com/office/officeart/2005/8/layout/process5"/>
    <dgm:cxn modelId="{11B2232B-253C-4762-985D-0CA199F535AF}" type="presParOf" srcId="{4B4612DE-A7F4-4757-B697-11261D541D44}" destId="{E6C98775-3557-4B27-8191-DB12B0CF84F0}" srcOrd="18" destOrd="0" presId="urn:microsoft.com/office/officeart/2005/8/layout/process5"/>
    <dgm:cxn modelId="{05469619-4464-4FF8-88CF-62B7622DEB6E}" type="presParOf" srcId="{4B4612DE-A7F4-4757-B697-11261D541D44}" destId="{CE6B9172-F084-41A1-B103-12ADDC4483C4}" srcOrd="19" destOrd="0" presId="urn:microsoft.com/office/officeart/2005/8/layout/process5"/>
    <dgm:cxn modelId="{79B7E84C-97EC-4D81-8621-30BE673E1A32}" type="presParOf" srcId="{CE6B9172-F084-41A1-B103-12ADDC4483C4}" destId="{76F3B093-E2AE-49A6-9FA2-832077C0B13B}" srcOrd="0" destOrd="0" presId="urn:microsoft.com/office/officeart/2005/8/layout/process5"/>
    <dgm:cxn modelId="{C6CCA3ED-09BF-4562-A0BC-58BFC8038A84}" type="presParOf" srcId="{4B4612DE-A7F4-4757-B697-11261D541D44}" destId="{B9D01266-F884-461E-B4C5-8829FC211D57}" srcOrd="2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7CCF37-EF76-4793-9FB1-2AD1369C813D}">
      <dsp:nvSpPr>
        <dsp:cNvPr id="0" name=""/>
        <dsp:cNvSpPr/>
      </dsp:nvSpPr>
      <dsp:spPr>
        <a:xfrm>
          <a:off x="0" y="443372"/>
          <a:ext cx="920631" cy="576397"/>
        </a:xfrm>
        <a:prstGeom prst="ellipse">
          <a:avLst/>
        </a:prstGeom>
        <a:solidFill>
          <a:srgbClr val="C7F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Start</a:t>
          </a:r>
        </a:p>
      </dsp:txBody>
      <dsp:txXfrm>
        <a:off x="134823" y="527783"/>
        <a:ext cx="650985" cy="407575"/>
      </dsp:txXfrm>
    </dsp:sp>
    <dsp:sp modelId="{0C9001D7-09CF-4D05-B40B-AEE358083C50}">
      <dsp:nvSpPr>
        <dsp:cNvPr id="0" name=""/>
        <dsp:cNvSpPr/>
      </dsp:nvSpPr>
      <dsp:spPr>
        <a:xfrm rot="21549990">
          <a:off x="1055920" y="562406"/>
          <a:ext cx="348664" cy="4306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1055926" y="649295"/>
        <a:ext cx="244065" cy="258385"/>
      </dsp:txXfrm>
    </dsp:sp>
    <dsp:sp modelId="{69334A09-1683-4C1D-9CCE-1223830D9423}">
      <dsp:nvSpPr>
        <dsp:cNvPr id="0" name=""/>
        <dsp:cNvSpPr/>
      </dsp:nvSpPr>
      <dsp:spPr>
        <a:xfrm>
          <a:off x="1510777" y="187986"/>
          <a:ext cx="1728963" cy="1011914"/>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Import Libraries and Define Helper Functions</a:t>
          </a:r>
        </a:p>
      </dsp:txBody>
      <dsp:txXfrm>
        <a:off x="1540415" y="217624"/>
        <a:ext cx="1669687" cy="952638"/>
      </dsp:txXfrm>
    </dsp:sp>
    <dsp:sp modelId="{185F086D-2CD5-4DEB-A934-46AC96F4B845}">
      <dsp:nvSpPr>
        <dsp:cNvPr id="0" name=""/>
        <dsp:cNvSpPr/>
      </dsp:nvSpPr>
      <dsp:spPr>
        <a:xfrm rot="21565373">
          <a:off x="3421120" y="487974"/>
          <a:ext cx="476814"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p>
      </dsp:txBody>
      <dsp:txXfrm>
        <a:off x="3421123" y="566149"/>
        <a:ext cx="360431" cy="232765"/>
      </dsp:txXfrm>
    </dsp:sp>
    <dsp:sp modelId="{A35F1870-3090-499D-8613-9A5BEF659C13}">
      <dsp:nvSpPr>
        <dsp:cNvPr id="0" name=""/>
        <dsp:cNvSpPr/>
      </dsp:nvSpPr>
      <dsp:spPr>
        <a:xfrm>
          <a:off x="3912870" y="107325"/>
          <a:ext cx="2370040" cy="1118386"/>
        </a:xfrm>
        <a:prstGeom prst="parallelogram">
          <a:avLst/>
        </a:prstGeom>
        <a:solidFill>
          <a:srgbClr val="FCC6B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Request Wiki page List of Falcon 9 and Falcon Heavy Launches</a:t>
          </a:r>
        </a:p>
      </dsp:txBody>
      <dsp:txXfrm>
        <a:off x="4226872" y="255498"/>
        <a:ext cx="1742036" cy="822040"/>
      </dsp:txXfrm>
    </dsp:sp>
    <dsp:sp modelId="{F846DB92-CCAF-42CE-B646-C510EEF3FB0B}">
      <dsp:nvSpPr>
        <dsp:cNvPr id="0" name=""/>
        <dsp:cNvSpPr/>
      </dsp:nvSpPr>
      <dsp:spPr>
        <a:xfrm rot="49335">
          <a:off x="6506821" y="484891"/>
          <a:ext cx="489799"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p>
      </dsp:txBody>
      <dsp:txXfrm>
        <a:off x="6506827" y="561645"/>
        <a:ext cx="373416" cy="232765"/>
      </dsp:txXfrm>
    </dsp:sp>
    <dsp:sp modelId="{9BB1DC76-117F-494B-9E78-25BF52E25D22}">
      <dsp:nvSpPr>
        <dsp:cNvPr id="0" name=""/>
        <dsp:cNvSpPr/>
      </dsp:nvSpPr>
      <dsp:spPr>
        <a:xfrm>
          <a:off x="7097343" y="190187"/>
          <a:ext cx="2455763" cy="1045299"/>
        </a:xfrm>
        <a:prstGeom prst="flowChartInputOutput">
          <a:avLst/>
        </a:prstGeom>
        <a:solidFill>
          <a:srgbClr val="FCC6B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Create a Beautiful Soup Object with html. Parser and Extract all Column Names</a:t>
          </a:r>
        </a:p>
      </dsp:txBody>
      <dsp:txXfrm>
        <a:off x="7588496" y="190187"/>
        <a:ext cx="1473457" cy="1045299"/>
      </dsp:txXfrm>
    </dsp:sp>
    <dsp:sp modelId="{87696F9A-2A8D-4791-9137-336DC5D84545}">
      <dsp:nvSpPr>
        <dsp:cNvPr id="0" name=""/>
        <dsp:cNvSpPr/>
      </dsp:nvSpPr>
      <dsp:spPr>
        <a:xfrm rot="4949457">
          <a:off x="8186325" y="1262677"/>
          <a:ext cx="452037" cy="5135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1">
          <a:noAutofit/>
        </a:bodyPr>
        <a:lstStyle/>
        <a:p>
          <a:pPr marL="0" lvl="0" indent="0" algn="ctr" defTabSz="977900">
            <a:lnSpc>
              <a:spcPct val="90000"/>
            </a:lnSpc>
            <a:spcBef>
              <a:spcPct val="0"/>
            </a:spcBef>
            <a:spcAft>
              <a:spcPct val="35000"/>
            </a:spcAft>
            <a:buNone/>
          </a:pPr>
          <a:endParaRPr lang="en-GB" sz="2200" kern="1200" dirty="0"/>
        </a:p>
      </dsp:txBody>
      <dsp:txXfrm rot="-5400000">
        <a:off x="8249420" y="1294010"/>
        <a:ext cx="308124" cy="316426"/>
      </dsp:txXfrm>
    </dsp:sp>
    <dsp:sp modelId="{66CEABF2-5E62-42AE-AC11-73698A87DE9A}">
      <dsp:nvSpPr>
        <dsp:cNvPr id="0" name=""/>
        <dsp:cNvSpPr/>
      </dsp:nvSpPr>
      <dsp:spPr>
        <a:xfrm>
          <a:off x="7602671" y="1758358"/>
          <a:ext cx="2025849" cy="872995"/>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Create a DataFrame by Parsing the Launch HTML Table</a:t>
          </a:r>
        </a:p>
      </dsp:txBody>
      <dsp:txXfrm>
        <a:off x="7628240" y="1783927"/>
        <a:ext cx="1974711" cy="821857"/>
      </dsp:txXfrm>
    </dsp:sp>
    <dsp:sp modelId="{6E3F79D4-3A8D-4EAF-9779-136D8624F156}">
      <dsp:nvSpPr>
        <dsp:cNvPr id="0" name=""/>
        <dsp:cNvSpPr/>
      </dsp:nvSpPr>
      <dsp:spPr>
        <a:xfrm rot="10763827">
          <a:off x="7071205" y="2015159"/>
          <a:ext cx="375582"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p>
      </dsp:txBody>
      <dsp:txXfrm rot="10800000">
        <a:off x="7183877" y="2092155"/>
        <a:ext cx="262907" cy="232765"/>
      </dsp:txXfrm>
    </dsp:sp>
    <dsp:sp modelId="{78E90EFE-5821-4806-B018-6B9DE06E6D0D}">
      <dsp:nvSpPr>
        <dsp:cNvPr id="0" name=""/>
        <dsp:cNvSpPr/>
      </dsp:nvSpPr>
      <dsp:spPr>
        <a:xfrm>
          <a:off x="5329773" y="1751915"/>
          <a:ext cx="1564290" cy="938574"/>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Construct a Dictionary from the Extracted Data</a:t>
          </a:r>
        </a:p>
      </dsp:txBody>
      <dsp:txXfrm>
        <a:off x="5357263" y="1779405"/>
        <a:ext cx="1509310" cy="883594"/>
      </dsp:txXfrm>
    </dsp:sp>
    <dsp:sp modelId="{2A8EAFDC-4570-409C-8C53-F7FA74CEC6D2}">
      <dsp:nvSpPr>
        <dsp:cNvPr id="0" name=""/>
        <dsp:cNvSpPr/>
      </dsp:nvSpPr>
      <dsp:spPr>
        <a:xfrm rot="10910342">
          <a:off x="4822886" y="1991594"/>
          <a:ext cx="358319"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p>
      </dsp:txBody>
      <dsp:txXfrm rot="10800000">
        <a:off x="4930354" y="2070908"/>
        <a:ext cx="250823" cy="232765"/>
      </dsp:txXfrm>
    </dsp:sp>
    <dsp:sp modelId="{C2CC2806-35AF-42C8-BF90-C1DE469646D9}">
      <dsp:nvSpPr>
        <dsp:cNvPr id="0" name=""/>
        <dsp:cNvSpPr/>
      </dsp:nvSpPr>
      <dsp:spPr>
        <a:xfrm>
          <a:off x="3089756" y="1679992"/>
          <a:ext cx="1564290" cy="938574"/>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Create a DataFrame from the Dictionary</a:t>
          </a:r>
        </a:p>
      </dsp:txBody>
      <dsp:txXfrm>
        <a:off x="3117246" y="1707482"/>
        <a:ext cx="1509310" cy="883594"/>
      </dsp:txXfrm>
    </dsp:sp>
    <dsp:sp modelId="{579C441F-20E9-4CF6-94A2-995ED3B57F31}">
      <dsp:nvSpPr>
        <dsp:cNvPr id="0" name=""/>
        <dsp:cNvSpPr/>
      </dsp:nvSpPr>
      <dsp:spPr>
        <a:xfrm rot="10892629">
          <a:off x="2589514" y="1925509"/>
          <a:ext cx="353587"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p>
      </dsp:txBody>
      <dsp:txXfrm rot="10800000">
        <a:off x="2695571" y="2004527"/>
        <a:ext cx="247511" cy="232765"/>
      </dsp:txXfrm>
    </dsp:sp>
    <dsp:sp modelId="{E3BFA96A-D958-4380-A37C-A6C8E6F092A0}">
      <dsp:nvSpPr>
        <dsp:cNvPr id="0" name=""/>
        <dsp:cNvSpPr/>
      </dsp:nvSpPr>
      <dsp:spPr>
        <a:xfrm>
          <a:off x="652342" y="1560478"/>
          <a:ext cx="1770510" cy="1051775"/>
        </a:xfrm>
        <a:prstGeom prst="flowChartInputOutput">
          <a:avLst/>
        </a:prstGeom>
        <a:solidFill>
          <a:srgbClr val="FCC6B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Export the DataFrame to a CSV file</a:t>
          </a:r>
        </a:p>
      </dsp:txBody>
      <dsp:txXfrm>
        <a:off x="1006444" y="1560478"/>
        <a:ext cx="1062306" cy="1051775"/>
      </dsp:txXfrm>
    </dsp:sp>
    <dsp:sp modelId="{15B5EACF-BBAB-4ABA-9091-A3D38BE80B88}">
      <dsp:nvSpPr>
        <dsp:cNvPr id="0" name=""/>
        <dsp:cNvSpPr/>
      </dsp:nvSpPr>
      <dsp:spPr>
        <a:xfrm rot="5322215">
          <a:off x="1310417" y="2702999"/>
          <a:ext cx="491049" cy="3879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GB" sz="2600" kern="1200" dirty="0"/>
        </a:p>
      </dsp:txBody>
      <dsp:txXfrm rot="-5400000">
        <a:off x="1438242" y="2651461"/>
        <a:ext cx="232765" cy="374666"/>
      </dsp:txXfrm>
    </dsp:sp>
    <dsp:sp modelId="{BDD22505-B933-4936-8A32-12B25771088A}">
      <dsp:nvSpPr>
        <dsp:cNvPr id="0" name=""/>
        <dsp:cNvSpPr/>
      </dsp:nvSpPr>
      <dsp:spPr>
        <a:xfrm>
          <a:off x="1059198" y="3199301"/>
          <a:ext cx="1021497" cy="633058"/>
        </a:xfrm>
        <a:prstGeom prst="ellipse">
          <a:avLst/>
        </a:prstGeom>
        <a:solidFill>
          <a:srgbClr val="C7F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End</a:t>
          </a:r>
        </a:p>
      </dsp:txBody>
      <dsp:txXfrm>
        <a:off x="1208793" y="3292010"/>
        <a:ext cx="722307" cy="447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FAB33-43A5-4E7F-852E-2BEE0E535749}">
      <dsp:nvSpPr>
        <dsp:cNvPr id="0" name=""/>
        <dsp:cNvSpPr/>
      </dsp:nvSpPr>
      <dsp:spPr>
        <a:xfrm>
          <a:off x="0" y="1041023"/>
          <a:ext cx="1521004" cy="527698"/>
        </a:xfrm>
        <a:prstGeom prst="ellipse">
          <a:avLst/>
        </a:prstGeom>
        <a:solidFill>
          <a:srgbClr val="C7F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Start</a:t>
          </a:r>
        </a:p>
      </dsp:txBody>
      <dsp:txXfrm>
        <a:off x="222746" y="1118303"/>
        <a:ext cx="1075512" cy="373138"/>
      </dsp:txXfrm>
    </dsp:sp>
    <dsp:sp modelId="{09C71D7A-7AAA-442B-95ED-11E856AC8BCA}">
      <dsp:nvSpPr>
        <dsp:cNvPr id="0" name=""/>
        <dsp:cNvSpPr/>
      </dsp:nvSpPr>
      <dsp:spPr>
        <a:xfrm rot="41197">
          <a:off x="1706326" y="1094917"/>
          <a:ext cx="453178"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1706331" y="1187601"/>
        <a:ext cx="317225" cy="280498"/>
      </dsp:txXfrm>
    </dsp:sp>
    <dsp:sp modelId="{FB601A8C-5D61-4223-9F1F-9F55691272E6}">
      <dsp:nvSpPr>
        <dsp:cNvPr id="0" name=""/>
        <dsp:cNvSpPr/>
      </dsp:nvSpPr>
      <dsp:spPr>
        <a:xfrm>
          <a:off x="2375995" y="994232"/>
          <a:ext cx="1703007" cy="680411"/>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Import Libraries and Define Auxiliary Functions</a:t>
          </a:r>
        </a:p>
      </dsp:txBody>
      <dsp:txXfrm>
        <a:off x="2395924" y="1014161"/>
        <a:ext cx="1663149" cy="640553"/>
      </dsp:txXfrm>
    </dsp:sp>
    <dsp:sp modelId="{D6C03A89-8BFA-48CC-A610-EB04B8F0C020}">
      <dsp:nvSpPr>
        <dsp:cNvPr id="0" name=""/>
        <dsp:cNvSpPr/>
      </dsp:nvSpPr>
      <dsp:spPr>
        <a:xfrm rot="21596709">
          <a:off x="4377578" y="1109278"/>
          <a:ext cx="765589"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377578" y="1202844"/>
        <a:ext cx="625340" cy="280498"/>
      </dsp:txXfrm>
    </dsp:sp>
    <dsp:sp modelId="{7C8CF362-2FB7-405B-9CF4-5D1E30B5141F}">
      <dsp:nvSpPr>
        <dsp:cNvPr id="0" name=""/>
        <dsp:cNvSpPr/>
      </dsp:nvSpPr>
      <dsp:spPr>
        <a:xfrm>
          <a:off x="5523511" y="863580"/>
          <a:ext cx="1575180" cy="935811"/>
        </a:xfrm>
        <a:prstGeom prst="parallelogram">
          <a:avLst/>
        </a:prstGeom>
        <a:solidFill>
          <a:srgbClr val="FCC6B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Load CSV file from SpaceX from API Dataset</a:t>
          </a:r>
        </a:p>
      </dsp:txBody>
      <dsp:txXfrm>
        <a:off x="5752256" y="999477"/>
        <a:ext cx="1117690" cy="664017"/>
      </dsp:txXfrm>
    </dsp:sp>
    <dsp:sp modelId="{E790EE79-7E10-4786-90CC-284C75A725AC}">
      <dsp:nvSpPr>
        <dsp:cNvPr id="0" name=""/>
        <dsp:cNvSpPr/>
      </dsp:nvSpPr>
      <dsp:spPr>
        <a:xfrm rot="21383537">
          <a:off x="7305847" y="1019217"/>
          <a:ext cx="501245"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7305986" y="1117129"/>
        <a:ext cx="360996" cy="280498"/>
      </dsp:txXfrm>
    </dsp:sp>
    <dsp:sp modelId="{B937985F-845F-447D-8672-FA7C078FEE07}">
      <dsp:nvSpPr>
        <dsp:cNvPr id="0" name=""/>
        <dsp:cNvSpPr/>
      </dsp:nvSpPr>
      <dsp:spPr>
        <a:xfrm>
          <a:off x="8042564" y="847485"/>
          <a:ext cx="1891815" cy="630385"/>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Identify and Calculate Percentage of Missing Values in Each Attribute</a:t>
          </a:r>
        </a:p>
      </dsp:txBody>
      <dsp:txXfrm>
        <a:off x="8061027" y="865948"/>
        <a:ext cx="1854889" cy="593459"/>
      </dsp:txXfrm>
    </dsp:sp>
    <dsp:sp modelId="{8667E54A-356A-4305-B19A-703F8E70838B}">
      <dsp:nvSpPr>
        <dsp:cNvPr id="0" name=""/>
        <dsp:cNvSpPr/>
      </dsp:nvSpPr>
      <dsp:spPr>
        <a:xfrm rot="5430371">
          <a:off x="8703130" y="1753006"/>
          <a:ext cx="556121"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GB" sz="2900" kern="1200"/>
        </a:p>
      </dsp:txBody>
      <dsp:txXfrm rot="-5400000">
        <a:off x="8841561" y="1708696"/>
        <a:ext cx="280498" cy="415872"/>
      </dsp:txXfrm>
    </dsp:sp>
    <dsp:sp modelId="{8271730B-C6F6-4B0F-9F24-9AD99F6532D2}">
      <dsp:nvSpPr>
        <dsp:cNvPr id="0" name=""/>
        <dsp:cNvSpPr/>
      </dsp:nvSpPr>
      <dsp:spPr>
        <a:xfrm>
          <a:off x="7921015" y="2527116"/>
          <a:ext cx="2106562" cy="480115"/>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Identify Numerical and Categorical Values</a:t>
          </a:r>
        </a:p>
      </dsp:txBody>
      <dsp:txXfrm>
        <a:off x="7935077" y="2541178"/>
        <a:ext cx="2078438" cy="451991"/>
      </dsp:txXfrm>
    </dsp:sp>
    <dsp:sp modelId="{BC527A81-2DA1-4A46-96BB-E5CB30C9862E}">
      <dsp:nvSpPr>
        <dsp:cNvPr id="0" name=""/>
        <dsp:cNvSpPr/>
      </dsp:nvSpPr>
      <dsp:spPr>
        <a:xfrm rot="10800000">
          <a:off x="7354095" y="2533425"/>
          <a:ext cx="400623"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rot="10800000">
        <a:off x="7474282" y="2626924"/>
        <a:ext cx="280436" cy="280498"/>
      </dsp:txXfrm>
    </dsp:sp>
    <dsp:sp modelId="{EE52ACB0-9E4A-4337-B6C9-183D9420EB7C}">
      <dsp:nvSpPr>
        <dsp:cNvPr id="0" name=""/>
        <dsp:cNvSpPr/>
      </dsp:nvSpPr>
      <dsp:spPr>
        <a:xfrm>
          <a:off x="5280054" y="2548379"/>
          <a:ext cx="1885067" cy="437588"/>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Calculate the number of launches on each site</a:t>
          </a:r>
        </a:p>
      </dsp:txBody>
      <dsp:txXfrm>
        <a:off x="5292871" y="2561196"/>
        <a:ext cx="1859433" cy="411954"/>
      </dsp:txXfrm>
    </dsp:sp>
    <dsp:sp modelId="{6561E160-9578-4D33-B26F-E8943FA7B6C4}">
      <dsp:nvSpPr>
        <dsp:cNvPr id="0" name=""/>
        <dsp:cNvSpPr/>
      </dsp:nvSpPr>
      <dsp:spPr>
        <a:xfrm rot="10800000">
          <a:off x="4714534" y="2533425"/>
          <a:ext cx="399634"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rot="10800000">
        <a:off x="4834424" y="2626924"/>
        <a:ext cx="279744" cy="280498"/>
      </dsp:txXfrm>
    </dsp:sp>
    <dsp:sp modelId="{5EC562EB-C614-4CD6-936B-A97A2F7A1061}">
      <dsp:nvSpPr>
        <dsp:cNvPr id="0" name=""/>
        <dsp:cNvSpPr/>
      </dsp:nvSpPr>
      <dsp:spPr>
        <a:xfrm>
          <a:off x="2640960" y="2429744"/>
          <a:ext cx="1885067" cy="674857"/>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Calculate the number and occurrence of each orbit</a:t>
          </a:r>
        </a:p>
      </dsp:txBody>
      <dsp:txXfrm>
        <a:off x="2660726" y="2449510"/>
        <a:ext cx="1845535" cy="635325"/>
      </dsp:txXfrm>
    </dsp:sp>
    <dsp:sp modelId="{62B2EC5E-751B-4EAD-9389-15E2FD659B4D}">
      <dsp:nvSpPr>
        <dsp:cNvPr id="0" name=""/>
        <dsp:cNvSpPr/>
      </dsp:nvSpPr>
      <dsp:spPr>
        <a:xfrm rot="10800000">
          <a:off x="2075440" y="2533425"/>
          <a:ext cx="399634"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rot="10800000">
        <a:off x="2195330" y="2626924"/>
        <a:ext cx="279744" cy="280498"/>
      </dsp:txXfrm>
    </dsp:sp>
    <dsp:sp modelId="{924369E0-52DA-4432-8E84-692F69C31933}">
      <dsp:nvSpPr>
        <dsp:cNvPr id="0" name=""/>
        <dsp:cNvSpPr/>
      </dsp:nvSpPr>
      <dsp:spPr>
        <a:xfrm>
          <a:off x="1866" y="2384610"/>
          <a:ext cx="1885067" cy="765126"/>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Calculate the Number and occurrence of mission outcomes</a:t>
          </a:r>
        </a:p>
      </dsp:txBody>
      <dsp:txXfrm>
        <a:off x="24276" y="2407020"/>
        <a:ext cx="1840247" cy="720306"/>
      </dsp:txXfrm>
    </dsp:sp>
    <dsp:sp modelId="{06EA6359-E221-40C6-9529-E59950E38E99}">
      <dsp:nvSpPr>
        <dsp:cNvPr id="0" name=""/>
        <dsp:cNvSpPr/>
      </dsp:nvSpPr>
      <dsp:spPr>
        <a:xfrm rot="5404138">
          <a:off x="712889" y="3337923"/>
          <a:ext cx="461084"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GB" sz="2300" kern="1200"/>
        </a:p>
      </dsp:txBody>
      <dsp:txXfrm rot="-5400000">
        <a:off x="803265" y="3341130"/>
        <a:ext cx="280498" cy="322759"/>
      </dsp:txXfrm>
    </dsp:sp>
    <dsp:sp modelId="{970CB319-B164-46AA-911C-6D093D077412}">
      <dsp:nvSpPr>
        <dsp:cNvPr id="0" name=""/>
        <dsp:cNvSpPr/>
      </dsp:nvSpPr>
      <dsp:spPr>
        <a:xfrm>
          <a:off x="0" y="4019706"/>
          <a:ext cx="1885067" cy="596849"/>
        </a:xfrm>
        <a:prstGeom prst="roundRect">
          <a:avLst>
            <a:gd name="adj" fmla="val 10000"/>
          </a:avLst>
        </a:prstGeom>
        <a:solidFill>
          <a:srgbClr val="D9E8F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Create a landing outcome column</a:t>
          </a:r>
        </a:p>
      </dsp:txBody>
      <dsp:txXfrm>
        <a:off x="17481" y="4037187"/>
        <a:ext cx="1850105" cy="561887"/>
      </dsp:txXfrm>
    </dsp:sp>
    <dsp:sp modelId="{45FDFE82-7B5E-4B3D-AD86-21E07D440693}">
      <dsp:nvSpPr>
        <dsp:cNvPr id="0" name=""/>
        <dsp:cNvSpPr/>
      </dsp:nvSpPr>
      <dsp:spPr>
        <a:xfrm rot="21360394">
          <a:off x="2048746" y="3993318"/>
          <a:ext cx="396440"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048890" y="4090958"/>
        <a:ext cx="277508" cy="280498"/>
      </dsp:txXfrm>
    </dsp:sp>
    <dsp:sp modelId="{E6C98775-3557-4B27-8191-DB12B0CF84F0}">
      <dsp:nvSpPr>
        <dsp:cNvPr id="0" name=""/>
        <dsp:cNvSpPr/>
      </dsp:nvSpPr>
      <dsp:spPr>
        <a:xfrm>
          <a:off x="2631252" y="3767801"/>
          <a:ext cx="1885067" cy="733276"/>
        </a:xfrm>
        <a:prstGeom prst="parallelogram">
          <a:avLst/>
        </a:prstGeom>
        <a:solidFill>
          <a:srgbClr val="FCC6B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Export the DataFrame to CSV file</a:t>
          </a:r>
        </a:p>
      </dsp:txBody>
      <dsp:txXfrm>
        <a:off x="2864724" y="3858620"/>
        <a:ext cx="1418123" cy="551638"/>
      </dsp:txXfrm>
    </dsp:sp>
    <dsp:sp modelId="{CE6B9172-F084-41A1-B103-12ADDC4483C4}">
      <dsp:nvSpPr>
        <dsp:cNvPr id="0" name=""/>
        <dsp:cNvSpPr/>
      </dsp:nvSpPr>
      <dsp:spPr>
        <a:xfrm rot="21495937">
          <a:off x="4673621" y="3861644"/>
          <a:ext cx="379336" cy="467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673647" y="3956865"/>
        <a:ext cx="265535" cy="280498"/>
      </dsp:txXfrm>
    </dsp:sp>
    <dsp:sp modelId="{B9D01266-F884-461E-B4C5-8829FC211D57}">
      <dsp:nvSpPr>
        <dsp:cNvPr id="0" name=""/>
        <dsp:cNvSpPr/>
      </dsp:nvSpPr>
      <dsp:spPr>
        <a:xfrm>
          <a:off x="5231721" y="3855767"/>
          <a:ext cx="1631129" cy="407547"/>
        </a:xfrm>
        <a:prstGeom prst="ellipse">
          <a:avLst/>
        </a:prstGeom>
        <a:solidFill>
          <a:srgbClr val="C7F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End</a:t>
          </a:r>
        </a:p>
      </dsp:txBody>
      <dsp:txXfrm>
        <a:off x="5470594" y="3915451"/>
        <a:ext cx="1153383" cy="2881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5/9/2026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5/9/2026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2708193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1631173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49</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r>
              <a:rPr lang="en-US" dirty="0">
                <a:solidFill>
                  <a:srgbClr val="D9E8FB"/>
                </a:solidFill>
              </a:rPr>
              <a:t>Love Border Collies</a:t>
            </a:r>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5/9/2026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r>
              <a:rPr lang="en-US" dirty="0">
                <a:solidFill>
                  <a:srgbClr val="D9E8FB"/>
                </a:solidFill>
              </a:rPr>
              <a:t>Love Border Collies</a:t>
            </a:r>
          </a:p>
        </p:txBody>
      </p:sp>
    </p:spTree>
    <p:extLst>
      <p:ext uri="{BB962C8B-B14F-4D97-AF65-F5344CB8AC3E}">
        <p14:creationId xmlns:p14="http://schemas.microsoft.com/office/powerpoint/2010/main" val="3679491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299586291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815" r:id="rId14"/>
    <p:sldLayoutId id="2147483816"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arsbars65/IBM-Data-Science-Capstone/blob/main/SpacexX-%20Lab1%20Collecting%20the%20Data%20with%20API.ipynb"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github.com/Marsbars65/IBM-Data-Science-Capstone/blob/main/SpaceX%20-%20Collecting%20the%20data%20with%20webscraping.ipynb"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github.com/Marsbars65/IBM-Data-Science-Capstone/blob/main/SpaceX%20-%20Lab%202%20Data%20Wrangling.ipynb" TargetMode="Externa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arsbars65/IBM-Data-Science-Capstone/blob/main/Spacex%20-%20EDA%20%20with%20Visualisation%20(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arsbars65/IBM-Data-Science-Capstone/blob/main/SpaceX%20-%20EDA%20with%20SQL.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Marsbars65/IBM-Data-Science-Capstone/blob/main/Spacex%20-%20Interactive%20Visual%20Analytics%20with%20Folium%20(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arsbars65/IBM-Data-Science-Capstone/blob/main/SpaceX%20-%20%20Launch%20Records%20Dashboard%20(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arsbars65/IBM-Data-Science-Capstone/blob/main/SpaceX_Machine%20Learning%20Prediction_Part_5%20(3).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923330"/>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Amanda Chapman</a:t>
            </a:r>
          </a:p>
          <a:p>
            <a:r>
              <a:rPr lang="en-US" dirty="0">
                <a:solidFill>
                  <a:schemeClr val="bg2"/>
                </a:solidFill>
                <a:latin typeface="Abadi" panose="020B0604020104020204" pitchFamily="34" charset="0"/>
                <a:ea typeface="SF Pro" pitchFamily="2" charset="0"/>
                <a:cs typeface="SF Pro" pitchFamily="2" charset="0"/>
              </a:rPr>
              <a:t>30</a:t>
            </a:r>
            <a:r>
              <a:rPr lang="en-US" baseline="30000" dirty="0">
                <a:solidFill>
                  <a:schemeClr val="bg2"/>
                </a:solidFill>
                <a:latin typeface="Abadi" panose="020B0604020104020204" pitchFamily="34" charset="0"/>
                <a:ea typeface="SF Pro" pitchFamily="2" charset="0"/>
                <a:cs typeface="SF Pro" pitchFamily="2" charset="0"/>
              </a:rPr>
              <a:t>th</a:t>
            </a:r>
            <a:r>
              <a:rPr lang="en-US" dirty="0">
                <a:solidFill>
                  <a:schemeClr val="bg2"/>
                </a:solidFill>
                <a:latin typeface="Abadi" panose="020B0604020104020204" pitchFamily="34" charset="0"/>
                <a:ea typeface="SF Pro" pitchFamily="2" charset="0"/>
                <a:cs typeface="SF Pro" pitchFamily="2" charset="0"/>
              </a:rPr>
              <a:t> March 2026</a:t>
            </a:r>
          </a:p>
          <a:p>
            <a:r>
              <a:rPr lang="en-US" dirty="0">
                <a:solidFill>
                  <a:schemeClr val="bg2"/>
                </a:solidFill>
                <a:latin typeface="Abadi" panose="020B0604020104020204" pitchFamily="34" charset="0"/>
                <a:ea typeface="SF Pro" pitchFamily="2" charset="0"/>
                <a:cs typeface="SF Pro" pitchFamily="2" charset="0"/>
              </a:rPr>
              <a:t>Data Science Capstone</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5036766"/>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dirty="0">
              <a:solidFill>
                <a:srgbClr val="0B49CB"/>
              </a:solidFill>
            </a:endParaRPr>
          </a:p>
        </p:txBody>
      </p:sp>
      <p:sp>
        <p:nvSpPr>
          <p:cNvPr id="14" name="TextBox 13">
            <a:extLst>
              <a:ext uri="{FF2B5EF4-FFF2-40B4-BE49-F238E27FC236}">
                <a16:creationId xmlns:a16="http://schemas.microsoft.com/office/drawing/2014/main" id="{58657F76-F544-0779-0FDD-76A558E28564}"/>
              </a:ext>
            </a:extLst>
          </p:cNvPr>
          <p:cNvSpPr txBox="1"/>
          <p:nvPr/>
        </p:nvSpPr>
        <p:spPr>
          <a:xfrm>
            <a:off x="770011" y="1959495"/>
            <a:ext cx="10090146" cy="1938992"/>
          </a:xfrm>
          <a:prstGeom prst="rect">
            <a:avLst/>
          </a:prstGeom>
          <a:noFill/>
        </p:spPr>
        <p:txBody>
          <a:bodyPr wrap="square">
            <a:spAutoFit/>
          </a:bodyPr>
          <a:lstStyle/>
          <a:p>
            <a:pPr marL="285750" lvl="0" indent="-285750">
              <a:buFont typeface="Arial" panose="020B0604020202020204" pitchFamily="34" charset="0"/>
              <a:buChar char="•"/>
            </a:pPr>
            <a:r>
              <a:rPr lang="en-US" sz="2400" dirty="0"/>
              <a:t>Data collection from SpaceX API web scraping Wikipedia </a:t>
            </a:r>
            <a:endParaRPr lang="en-GB" sz="2400" dirty="0"/>
          </a:p>
          <a:p>
            <a:pPr marL="285750" lvl="0" indent="-285750">
              <a:buFont typeface="Arial" panose="020B0604020202020204" pitchFamily="34" charset="0"/>
              <a:buChar char="•"/>
            </a:pPr>
            <a:r>
              <a:rPr lang="en-US" sz="2400" dirty="0"/>
              <a:t>Data wrangling</a:t>
            </a:r>
            <a:endParaRPr lang="en-GB" sz="2400" dirty="0"/>
          </a:p>
          <a:p>
            <a:pPr marL="285750" lvl="0" indent="-285750">
              <a:buFont typeface="Arial" panose="020B0604020202020204" pitchFamily="34" charset="0"/>
              <a:buChar char="•"/>
            </a:pPr>
            <a:r>
              <a:rPr lang="en-US" sz="2400" dirty="0"/>
              <a:t>Exploratory data analysis with visualisations and SQL</a:t>
            </a:r>
            <a:endParaRPr lang="en-GB" sz="2400" dirty="0"/>
          </a:p>
          <a:p>
            <a:pPr marL="285750" lvl="0" indent="-285750">
              <a:buFont typeface="Arial" panose="020B0604020202020204" pitchFamily="34" charset="0"/>
              <a:buChar char="•"/>
            </a:pPr>
            <a:r>
              <a:rPr lang="en-US" sz="2400" dirty="0"/>
              <a:t>Interactive visualisations with Folium and Plotly Dash</a:t>
            </a:r>
            <a:endParaRPr lang="en-GB" sz="2400" dirty="0"/>
          </a:p>
          <a:p>
            <a:pPr marL="285750" lvl="0" indent="-285750">
              <a:buFont typeface="Arial" panose="020B0604020202020204" pitchFamily="34" charset="0"/>
              <a:buChar char="•"/>
            </a:pPr>
            <a:r>
              <a:rPr lang="en-US" sz="2400" dirty="0"/>
              <a:t>Predictive analysis with Machine Learning Classification Models</a:t>
            </a:r>
            <a:endParaRPr lang="en-GB" sz="2400" dirty="0"/>
          </a:p>
        </p:txBody>
      </p:sp>
      <p:sp>
        <p:nvSpPr>
          <p:cNvPr id="15" name="TextBox 14">
            <a:extLst>
              <a:ext uri="{FF2B5EF4-FFF2-40B4-BE49-F238E27FC236}">
                <a16:creationId xmlns:a16="http://schemas.microsoft.com/office/drawing/2014/main" id="{8D1440E9-FA7A-939D-2B32-5C2035ED792C}"/>
              </a:ext>
            </a:extLst>
          </p:cNvPr>
          <p:cNvSpPr txBox="1"/>
          <p:nvPr/>
        </p:nvSpPr>
        <p:spPr>
          <a:xfrm>
            <a:off x="770011" y="1388881"/>
            <a:ext cx="10090146" cy="584775"/>
          </a:xfrm>
          <a:prstGeom prst="rect">
            <a:avLst/>
          </a:prstGeom>
          <a:noFill/>
        </p:spPr>
        <p:txBody>
          <a:bodyPr wrap="square" rtlCol="0">
            <a:spAutoFit/>
          </a:bodyPr>
          <a:lstStyle/>
          <a:p>
            <a:r>
              <a:rPr lang="en-GB" sz="3200" dirty="0">
                <a:solidFill>
                  <a:srgbClr val="0B49CB"/>
                </a:solidFill>
              </a:rPr>
              <a:t>Summary of Methodologies</a:t>
            </a:r>
          </a:p>
        </p:txBody>
      </p:sp>
      <p:sp>
        <p:nvSpPr>
          <p:cNvPr id="16" name="TextBox 15">
            <a:extLst>
              <a:ext uri="{FF2B5EF4-FFF2-40B4-BE49-F238E27FC236}">
                <a16:creationId xmlns:a16="http://schemas.microsoft.com/office/drawing/2014/main" id="{B0220F01-CDB1-E227-5E60-0118D0262416}"/>
              </a:ext>
            </a:extLst>
          </p:cNvPr>
          <p:cNvSpPr txBox="1"/>
          <p:nvPr/>
        </p:nvSpPr>
        <p:spPr>
          <a:xfrm>
            <a:off x="838200" y="4006850"/>
            <a:ext cx="10515600" cy="2431435"/>
          </a:xfrm>
          <a:prstGeom prst="rect">
            <a:avLst/>
          </a:prstGeom>
          <a:noFill/>
        </p:spPr>
        <p:txBody>
          <a:bodyPr wrap="square" rtlCol="0">
            <a:spAutoFit/>
          </a:bodyPr>
          <a:lstStyle/>
          <a:p>
            <a:r>
              <a:rPr lang="en-GB" sz="3200" dirty="0">
                <a:solidFill>
                  <a:srgbClr val="0948CB"/>
                </a:solidFill>
              </a:rPr>
              <a:t>Summary of Results</a:t>
            </a:r>
          </a:p>
          <a:p>
            <a:pPr marL="342900" indent="-342900">
              <a:buFont typeface="Arial" panose="020B0604020202020204" pitchFamily="34" charset="0"/>
              <a:buChar char="•"/>
            </a:pPr>
            <a:r>
              <a:rPr lang="en-GB" sz="2400" dirty="0"/>
              <a:t>Production of csv files for use in further project work</a:t>
            </a:r>
          </a:p>
          <a:p>
            <a:pPr marL="342900" indent="-342900">
              <a:buFont typeface="Arial" panose="020B0604020202020204" pitchFamily="34" charset="0"/>
              <a:buChar char="•"/>
            </a:pPr>
            <a:r>
              <a:rPr lang="en-GB" sz="2400" dirty="0"/>
              <a:t>Wrangling of initial csv file to obtain landing outcomes for launch sites </a:t>
            </a:r>
          </a:p>
          <a:p>
            <a:pPr marL="342900" indent="-342900">
              <a:buFont typeface="Arial" panose="020B0604020202020204" pitchFamily="34" charset="0"/>
              <a:buChar char="•"/>
            </a:pPr>
            <a:r>
              <a:rPr lang="en-GB" sz="2400" dirty="0"/>
              <a:t>Exploratory data analysis of variables having an effect on landing outcomes</a:t>
            </a:r>
          </a:p>
          <a:p>
            <a:pPr marL="342900" indent="-342900">
              <a:buFont typeface="Arial" panose="020B0604020202020204" pitchFamily="34" charset="0"/>
              <a:buChar char="•"/>
            </a:pPr>
            <a:r>
              <a:rPr lang="en-GB" sz="2400" dirty="0"/>
              <a:t>Screenshots of EDA visualisations and interactive dash application</a:t>
            </a:r>
          </a:p>
          <a:p>
            <a:pPr marL="342900" indent="-342900">
              <a:buFont typeface="Arial" panose="020B0604020202020204" pitchFamily="34" charset="0"/>
              <a:buChar char="•"/>
            </a:pPr>
            <a:r>
              <a:rPr lang="en-GB" sz="2400" dirty="0"/>
              <a:t>Machine learning predictions to find the best model for landing predictions</a:t>
            </a: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757026" y="1265043"/>
            <a:ext cx="10439242" cy="516216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9600" dirty="0">
                <a:solidFill>
                  <a:srgbClr val="0B49CB"/>
                </a:solidFill>
                <a:latin typeface="Abadi" panose="020B0604020104020204" pitchFamily="34" charset="0"/>
              </a:rPr>
              <a:t>Project background and context</a:t>
            </a:r>
          </a:p>
          <a:p>
            <a:pPr marL="0" lvl="0" indent="0">
              <a:lnSpc>
                <a:spcPct val="120000"/>
              </a:lnSpc>
              <a:spcBef>
                <a:spcPts val="0"/>
              </a:spcBef>
              <a:buNone/>
            </a:pPr>
            <a:r>
              <a:rPr lang="en-GB" sz="8800" dirty="0">
                <a:solidFill>
                  <a:schemeClr val="tx1"/>
                </a:solidFill>
              </a:rPr>
              <a:t>SpaceX is one of the most successful companies in commercial space flight.  </a:t>
            </a:r>
          </a:p>
          <a:p>
            <a:pPr marL="0" lvl="0" indent="0">
              <a:lnSpc>
                <a:spcPct val="120000"/>
              </a:lnSpc>
              <a:spcBef>
                <a:spcPts val="0"/>
              </a:spcBef>
              <a:buNone/>
            </a:pPr>
            <a:r>
              <a:rPr lang="en-GB" sz="8800" dirty="0">
                <a:solidFill>
                  <a:schemeClr val="tx1"/>
                </a:solidFill>
              </a:rPr>
              <a:t>The reason for this competitive edge over competitors, is</a:t>
            </a:r>
            <a:r>
              <a:rPr lang="en-GB" sz="8800" b="1" dirty="0">
                <a:solidFill>
                  <a:schemeClr val="tx1"/>
                </a:solidFill>
              </a:rPr>
              <a:t> </a:t>
            </a:r>
            <a:r>
              <a:rPr lang="en-GB" sz="8800" dirty="0">
                <a:solidFill>
                  <a:schemeClr val="tx1"/>
                </a:solidFill>
              </a:rPr>
              <a:t> due to successful landing and reuse of the first stages of rocket launches.  </a:t>
            </a:r>
          </a:p>
          <a:p>
            <a:pPr marL="0" lvl="0" indent="0">
              <a:lnSpc>
                <a:spcPct val="120000"/>
              </a:lnSpc>
              <a:spcBef>
                <a:spcPts val="0"/>
              </a:spcBef>
              <a:buNone/>
            </a:pPr>
            <a:r>
              <a:rPr lang="en-GB" sz="8800" dirty="0">
                <a:solidFill>
                  <a:schemeClr val="tx1"/>
                </a:solidFill>
              </a:rPr>
              <a:t>SpaceX is able to advertise rocket launches  costing 62 million dollars, with other providers costing upwards of 165 million dollars.</a:t>
            </a:r>
          </a:p>
          <a:p>
            <a:pPr marL="0" lvl="0" indent="0">
              <a:lnSpc>
                <a:spcPct val="120000"/>
              </a:lnSpc>
              <a:spcBef>
                <a:spcPts val="0"/>
              </a:spcBef>
              <a:buNone/>
            </a:pPr>
            <a:r>
              <a:rPr lang="en-GB" sz="8800" dirty="0">
                <a:solidFill>
                  <a:schemeClr val="tx1"/>
                </a:solidFill>
              </a:rPr>
              <a:t>Making effective predictions of whether the first stage can be reused, is essential to continue these huge savings and the competitive edge of SpaceX.</a:t>
            </a:r>
          </a:p>
          <a:p>
            <a:pPr marL="0" lvl="0" indent="0">
              <a:lnSpc>
                <a:spcPct val="120000"/>
              </a:lnSpc>
              <a:spcBef>
                <a:spcPts val="0"/>
              </a:spcBef>
              <a:buNone/>
            </a:pPr>
            <a:endParaRPr lang="en-GB" sz="4000" dirty="0">
              <a:solidFill>
                <a:schemeClr val="tx1"/>
              </a:solidFill>
            </a:endParaRPr>
          </a:p>
          <a:p>
            <a:pPr marL="0" lvl="0" indent="0">
              <a:lnSpc>
                <a:spcPct val="120000"/>
              </a:lnSpc>
              <a:spcBef>
                <a:spcPts val="0"/>
              </a:spcBef>
              <a:buNone/>
            </a:pPr>
            <a:r>
              <a:rPr lang="en-GB" sz="9600" dirty="0">
                <a:solidFill>
                  <a:srgbClr val="0948CB"/>
                </a:solidFill>
                <a:latin typeface="Abadi" panose="020B0604020104020204" pitchFamily="34" charset="0"/>
              </a:rPr>
              <a:t>Questions to be answered</a:t>
            </a:r>
            <a:endParaRPr lang="en-GB" sz="8800" dirty="0">
              <a:solidFill>
                <a:schemeClr val="tx1"/>
              </a:solidFill>
            </a:endParaRPr>
          </a:p>
          <a:p>
            <a:pPr>
              <a:lnSpc>
                <a:spcPct val="120000"/>
              </a:lnSpc>
              <a:spcBef>
                <a:spcPts val="0"/>
              </a:spcBef>
            </a:pPr>
            <a:r>
              <a:rPr lang="en-GB" sz="8800" dirty="0">
                <a:solidFill>
                  <a:schemeClr val="tx1"/>
                </a:solidFill>
              </a:rPr>
              <a:t>Which variables such as booster version, launch site, payload mass, number of flights have the most effect on landing outcomes?</a:t>
            </a:r>
          </a:p>
          <a:p>
            <a:pPr>
              <a:lnSpc>
                <a:spcPct val="120000"/>
              </a:lnSpc>
              <a:spcBef>
                <a:spcPts val="0"/>
              </a:spcBef>
            </a:pPr>
            <a:r>
              <a:rPr lang="en-GB" sz="8800" dirty="0">
                <a:solidFill>
                  <a:schemeClr val="tx1"/>
                </a:solidFill>
              </a:rPr>
              <a:t>Are there changes to the rate of successful landings within a range of years?</a:t>
            </a:r>
          </a:p>
          <a:p>
            <a:pPr>
              <a:lnSpc>
                <a:spcPct val="120000"/>
              </a:lnSpc>
              <a:spcBef>
                <a:spcPts val="0"/>
              </a:spcBef>
            </a:pPr>
            <a:r>
              <a:rPr lang="en-GB" sz="8800" dirty="0">
                <a:solidFill>
                  <a:schemeClr val="tx1"/>
                </a:solidFill>
              </a:rPr>
              <a:t>Can we find the best machine learning classification model to predict the landing outcomes as success or failure?</a:t>
            </a:r>
          </a:p>
          <a:p>
            <a:pPr>
              <a:spcBef>
                <a:spcPts val="1400"/>
              </a:spcBef>
            </a:pPr>
            <a:endParaRPr lang="en-US" sz="2200" dirty="0">
              <a:solidFill>
                <a:schemeClr val="accent3">
                  <a:lumMod val="25000"/>
                </a:schemeClr>
              </a:solidFill>
              <a:latin typeface="Abadi" panose="020B0604020104020204" pitchFamily="34" charset="0"/>
            </a:endParaRPr>
          </a:p>
          <a:p>
            <a:pPr>
              <a:spcBef>
                <a:spcPts val="1400"/>
              </a:spcBef>
            </a:pPr>
            <a:r>
              <a:rPr lang="en-US" sz="2200" dirty="0">
                <a:solidFill>
                  <a:schemeClr val="accent3">
                    <a:lumMod val="25000"/>
                  </a:schemeClr>
                </a:solidFill>
                <a:latin typeface="Abadi" panose="020B0604020104020204" pitchFamily="34" charset="0"/>
              </a:rPr>
              <a:t>Problems you want to find answers</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34029" y="1238984"/>
            <a:ext cx="9761694" cy="518822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marL="0" indent="0">
              <a:lnSpc>
                <a:spcPct val="120000"/>
              </a:lnSpc>
              <a:spcBef>
                <a:spcPts val="1400"/>
              </a:spcBef>
              <a:buNone/>
            </a:pPr>
            <a:r>
              <a:rPr lang="en-US" sz="7600" dirty="0">
                <a:solidFill>
                  <a:schemeClr val="tx1"/>
                </a:solidFill>
                <a:latin typeface="Abadi"/>
              </a:rPr>
              <a:t>Data collection methodology:</a:t>
            </a:r>
          </a:p>
          <a:p>
            <a:pPr lvl="1">
              <a:lnSpc>
                <a:spcPct val="120000"/>
              </a:lnSpc>
              <a:spcBef>
                <a:spcPts val="0"/>
              </a:spcBef>
            </a:pPr>
            <a:r>
              <a:rPr lang="en-US" sz="6800" dirty="0">
                <a:solidFill>
                  <a:schemeClr val="tx1"/>
                </a:solidFill>
                <a:latin typeface="Abadi"/>
              </a:rPr>
              <a:t>Collection of data form SpaceX API </a:t>
            </a:r>
          </a:p>
          <a:p>
            <a:pPr lvl="1">
              <a:lnSpc>
                <a:spcPct val="120000"/>
              </a:lnSpc>
              <a:spcBef>
                <a:spcPts val="0"/>
              </a:spcBef>
            </a:pPr>
            <a:r>
              <a:rPr lang="en-US" sz="6800" dirty="0">
                <a:solidFill>
                  <a:schemeClr val="tx1"/>
                </a:solidFill>
                <a:latin typeface="Abadi"/>
              </a:rPr>
              <a:t>Web scraping of Falcon 9 launch records from Wikipedia</a:t>
            </a:r>
          </a:p>
          <a:p>
            <a:pPr marL="0" lvl="1" indent="0">
              <a:lnSpc>
                <a:spcPct val="120000"/>
              </a:lnSpc>
              <a:spcBef>
                <a:spcPts val="0"/>
              </a:spcBef>
              <a:buNone/>
            </a:pPr>
            <a:endParaRPr lang="en-US" sz="4000" dirty="0">
              <a:solidFill>
                <a:schemeClr val="tx1"/>
              </a:solidFill>
              <a:latin typeface="Abadi"/>
            </a:endParaRPr>
          </a:p>
          <a:p>
            <a:pPr marL="0" lvl="1" indent="0">
              <a:lnSpc>
                <a:spcPct val="120000"/>
              </a:lnSpc>
              <a:spcBef>
                <a:spcPts val="0"/>
              </a:spcBef>
              <a:buNone/>
            </a:pPr>
            <a:r>
              <a:rPr lang="en-US" sz="7600" dirty="0">
                <a:solidFill>
                  <a:schemeClr val="tx1"/>
                </a:solidFill>
                <a:latin typeface="Abadi"/>
              </a:rPr>
              <a:t>Perform data wrangling:</a:t>
            </a:r>
          </a:p>
          <a:p>
            <a:pPr marL="230400" indent="-230400">
              <a:lnSpc>
                <a:spcPct val="120000"/>
              </a:lnSpc>
              <a:spcBef>
                <a:spcPts val="0"/>
              </a:spcBef>
            </a:pPr>
            <a:r>
              <a:rPr lang="en-US" sz="6800" dirty="0">
                <a:solidFill>
                  <a:schemeClr val="tx1"/>
                </a:solidFill>
                <a:latin typeface="Abadi"/>
              </a:rPr>
              <a:t>Conversion of mission outcomes to a binary value and creation of a class column</a:t>
            </a:r>
          </a:p>
          <a:p>
            <a:pPr marL="0" lvl="1" indent="0">
              <a:lnSpc>
                <a:spcPct val="120000"/>
              </a:lnSpc>
              <a:spcBef>
                <a:spcPts val="0"/>
              </a:spcBef>
              <a:buNone/>
            </a:pPr>
            <a:endParaRPr lang="en-US" sz="4000" dirty="0">
              <a:solidFill>
                <a:schemeClr val="bg2">
                  <a:lumMod val="50000"/>
                </a:schemeClr>
              </a:solidFill>
              <a:latin typeface="Abadi"/>
            </a:endParaRPr>
          </a:p>
          <a:p>
            <a:pPr marL="0" lvl="1" indent="0">
              <a:lnSpc>
                <a:spcPct val="120000"/>
              </a:lnSpc>
              <a:spcBef>
                <a:spcPts val="0"/>
              </a:spcBef>
              <a:buNone/>
            </a:pPr>
            <a:r>
              <a:rPr lang="en-US" sz="7600" dirty="0">
                <a:solidFill>
                  <a:schemeClr val="accent3">
                    <a:lumMod val="25000"/>
                  </a:schemeClr>
                </a:solidFill>
                <a:latin typeface="Abadi"/>
              </a:rPr>
              <a:t>Perform exploratory data analysis (EDA) using visualisation and SQL:</a:t>
            </a:r>
          </a:p>
          <a:p>
            <a:pPr marL="687600" lvl="1" indent="-230400">
              <a:lnSpc>
                <a:spcPct val="120000"/>
              </a:lnSpc>
              <a:spcBef>
                <a:spcPts val="0"/>
              </a:spcBef>
              <a:buFont typeface="Arial" panose="020B0604020202020204" pitchFamily="34" charset="0"/>
              <a:buChar char="•"/>
            </a:pPr>
            <a:r>
              <a:rPr lang="en-US" sz="6800" dirty="0">
                <a:solidFill>
                  <a:schemeClr val="accent3">
                    <a:lumMod val="25000"/>
                  </a:schemeClr>
                </a:solidFill>
                <a:latin typeface="Abadi"/>
              </a:rPr>
              <a:t>Use of graphs such bar charts, scatter plots to visualise the data</a:t>
            </a:r>
          </a:p>
          <a:p>
            <a:pPr marL="687600" lvl="1" indent="-230400">
              <a:lnSpc>
                <a:spcPct val="120000"/>
              </a:lnSpc>
              <a:spcBef>
                <a:spcPts val="0"/>
              </a:spcBef>
              <a:buFont typeface="Arial" panose="020B0604020202020204" pitchFamily="34" charset="0"/>
              <a:buChar char="•"/>
            </a:pPr>
            <a:r>
              <a:rPr lang="en-US" sz="6800" dirty="0">
                <a:solidFill>
                  <a:schemeClr val="accent3">
                    <a:lumMod val="25000"/>
                  </a:schemeClr>
                </a:solidFill>
                <a:latin typeface="Abadi"/>
              </a:rPr>
              <a:t>SQL queries to find specific information on the variables in the dataset</a:t>
            </a:r>
          </a:p>
          <a:p>
            <a:pPr marL="0" indent="0">
              <a:lnSpc>
                <a:spcPct val="120000"/>
              </a:lnSpc>
              <a:spcBef>
                <a:spcPts val="1400"/>
              </a:spcBef>
              <a:buNone/>
            </a:pPr>
            <a:r>
              <a:rPr lang="en-US" sz="7600" dirty="0">
                <a:solidFill>
                  <a:schemeClr val="accent3">
                    <a:lumMod val="25000"/>
                  </a:schemeClr>
                </a:solidFill>
                <a:latin typeface="Abadi"/>
              </a:rPr>
              <a:t>Perform interactive visual analytics using Folium and Plotly Dash</a:t>
            </a:r>
          </a:p>
          <a:p>
            <a:pPr marL="687600" indent="-230400">
              <a:lnSpc>
                <a:spcPct val="120000"/>
              </a:lnSpc>
              <a:spcBef>
                <a:spcPts val="0"/>
              </a:spcBef>
            </a:pPr>
            <a:r>
              <a:rPr lang="en-US" sz="6800" dirty="0">
                <a:solidFill>
                  <a:schemeClr val="tx1"/>
                </a:solidFill>
                <a:latin typeface="Abadi"/>
              </a:rPr>
              <a:t>Creation of geospatial map showing launch site data and proximity to certain features </a:t>
            </a:r>
          </a:p>
          <a:p>
            <a:pPr marL="687600" indent="-230400">
              <a:lnSpc>
                <a:spcPct val="120000"/>
              </a:lnSpc>
              <a:spcBef>
                <a:spcPts val="0"/>
              </a:spcBef>
            </a:pPr>
            <a:r>
              <a:rPr lang="en-US" sz="6800" dirty="0">
                <a:solidFill>
                  <a:schemeClr val="tx1"/>
                </a:solidFill>
                <a:latin typeface="Abadi"/>
              </a:rPr>
              <a:t>Creation of a Dash interactive application with drop downs, pie charts and yearly scatter plots</a:t>
            </a:r>
          </a:p>
          <a:p>
            <a:pPr marL="687600" indent="-230400">
              <a:lnSpc>
                <a:spcPct val="120000"/>
              </a:lnSpc>
              <a:spcBef>
                <a:spcPts val="0"/>
              </a:spcBef>
            </a:pPr>
            <a:endParaRPr lang="en-US" sz="8000" dirty="0">
              <a:solidFill>
                <a:schemeClr val="accent3">
                  <a:lumMod val="25000"/>
                </a:schemeClr>
              </a:solidFill>
              <a:latin typeface="Abadi"/>
            </a:endParaRPr>
          </a:p>
          <a:p>
            <a:pPr marL="0" indent="0">
              <a:lnSpc>
                <a:spcPct val="120000"/>
              </a:lnSpc>
              <a:spcBef>
                <a:spcPts val="0"/>
              </a:spcBef>
              <a:buNone/>
            </a:pPr>
            <a:r>
              <a:rPr lang="en-US" sz="7600" dirty="0">
                <a:solidFill>
                  <a:schemeClr val="accent3">
                    <a:lumMod val="25000"/>
                  </a:schemeClr>
                </a:solidFill>
                <a:latin typeface="Abadi"/>
              </a:rPr>
              <a:t>Perform predictive analysis using classification models</a:t>
            </a:r>
          </a:p>
          <a:p>
            <a:pPr lvl="1">
              <a:lnSpc>
                <a:spcPct val="120000"/>
              </a:lnSpc>
              <a:spcBef>
                <a:spcPts val="0"/>
              </a:spcBef>
            </a:pPr>
            <a:r>
              <a:rPr lang="en-US" sz="6800" dirty="0">
                <a:solidFill>
                  <a:schemeClr val="tx1"/>
                </a:solidFill>
                <a:latin typeface="Abadi"/>
              </a:rPr>
              <a:t>Data was split into training and testing sets for use in classification modeling </a:t>
            </a:r>
          </a:p>
          <a:p>
            <a:pPr lvl="1">
              <a:lnSpc>
                <a:spcPct val="120000"/>
              </a:lnSpc>
              <a:spcBef>
                <a:spcPts val="0"/>
              </a:spcBef>
            </a:pPr>
            <a:r>
              <a:rPr lang="en-US" sz="6800" dirty="0">
                <a:solidFill>
                  <a:schemeClr val="tx1"/>
                </a:solidFill>
                <a:latin typeface="Abadi"/>
              </a:rPr>
              <a:t>The best model was determined from grid search cross validation and accuracy metrics</a:t>
            </a:r>
          </a:p>
          <a:p>
            <a:pPr>
              <a:lnSpc>
                <a:spcPct val="120000"/>
              </a:lnSpc>
              <a:spcBef>
                <a:spcPts val="1400"/>
              </a:spcBef>
            </a:pPr>
            <a:endParaRPr lang="en-US" sz="88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13214"/>
            <a:ext cx="10515600" cy="4351338"/>
          </a:xfrm>
          <a:prstGeom prst="rect">
            <a:avLst/>
          </a:prstGeom>
        </p:spPr>
        <p:txBody>
          <a:bodyPr>
            <a:normAutofit fontScale="85000" lnSpcReduction="20000"/>
          </a:bodyPr>
          <a:lstStyle/>
          <a:p>
            <a:pPr marL="0" indent="0">
              <a:lnSpc>
                <a:spcPct val="100000"/>
              </a:lnSpc>
              <a:spcBef>
                <a:spcPts val="0"/>
              </a:spcBef>
              <a:buNone/>
            </a:pPr>
            <a:r>
              <a:rPr lang="en-US" sz="2000" dirty="0">
                <a:latin typeface="Abadi" panose="020B0604020104020204" pitchFamily="34" charset="0"/>
              </a:rPr>
              <a:t>Data was collected from two sources:-</a:t>
            </a:r>
          </a:p>
          <a:p>
            <a:pPr>
              <a:lnSpc>
                <a:spcPct val="100000"/>
              </a:lnSpc>
              <a:spcBef>
                <a:spcPts val="0"/>
              </a:spcBef>
            </a:pPr>
            <a:r>
              <a:rPr lang="en-US" sz="2000" dirty="0">
                <a:latin typeface="Abadi" panose="020B0604020104020204" pitchFamily="34" charset="0"/>
              </a:rPr>
              <a:t>Request for data from SpaceX API</a:t>
            </a:r>
          </a:p>
          <a:p>
            <a:pPr>
              <a:lnSpc>
                <a:spcPct val="100000"/>
              </a:lnSpc>
              <a:spcBef>
                <a:spcPts val="0"/>
              </a:spcBef>
            </a:pPr>
            <a:r>
              <a:rPr lang="en-US" sz="2000" dirty="0">
                <a:latin typeface="Abadi" panose="020B0604020104020204" pitchFamily="34" charset="0"/>
              </a:rPr>
              <a:t>Scraping of Wiki page showing Falcon 9 and Heavy Launches for SpaceX</a:t>
            </a:r>
          </a:p>
          <a:p>
            <a:pPr marL="0" indent="0">
              <a:lnSpc>
                <a:spcPct val="100000"/>
              </a:lnSpc>
              <a:spcBef>
                <a:spcPts val="0"/>
              </a:spcBef>
              <a:buNone/>
            </a:pPr>
            <a:endParaRPr lang="en-US" sz="2000" dirty="0">
              <a:latin typeface="Abadi" panose="020B0604020104020204" pitchFamily="34" charset="0"/>
            </a:endParaRPr>
          </a:p>
          <a:p>
            <a:pPr marL="0" indent="0">
              <a:lnSpc>
                <a:spcPct val="100000"/>
              </a:lnSpc>
              <a:spcBef>
                <a:spcPts val="0"/>
              </a:spcBef>
              <a:buNone/>
            </a:pPr>
            <a:r>
              <a:rPr lang="en-US" sz="2000" dirty="0">
                <a:latin typeface="Abadi" panose="020B0604020104020204" pitchFamily="34" charset="0"/>
              </a:rPr>
              <a:t>After collection of the data  DataFrame were created then loaded into CSV files.</a:t>
            </a:r>
          </a:p>
          <a:p>
            <a:pPr marL="0" indent="0">
              <a:lnSpc>
                <a:spcPct val="100000"/>
              </a:lnSpc>
              <a:buNone/>
            </a:pPr>
            <a:r>
              <a:rPr lang="en-US" sz="2000" b="1" dirty="0">
                <a:latin typeface="Abadi" panose="020B0604020104020204" pitchFamily="34" charset="0"/>
              </a:rPr>
              <a:t>The columns obtained from SpaceX API request:-</a:t>
            </a:r>
          </a:p>
          <a:p>
            <a:pPr marL="0" indent="0">
              <a:lnSpc>
                <a:spcPct val="100000"/>
              </a:lnSpc>
              <a:buNone/>
            </a:pPr>
            <a:r>
              <a:rPr lang="en-US" sz="2000" dirty="0">
                <a:latin typeface="Abadi" panose="020B0604020104020204" pitchFamily="34" charset="0"/>
              </a:rPr>
              <a:t>Flight Number, Date, BoosterVersion, PayloadMass, Orbit, LaunchSite, Outcome, Flights, GridFins, Reused, Legs, LandingPad, Block, ReusedCount, Serial, Longitude, Latitude</a:t>
            </a:r>
          </a:p>
          <a:p>
            <a:pPr marL="0" indent="0">
              <a:lnSpc>
                <a:spcPct val="100000"/>
              </a:lnSpc>
              <a:buNone/>
            </a:pPr>
            <a:r>
              <a:rPr lang="en-US" sz="2000" b="1" dirty="0">
                <a:latin typeface="Abadi" panose="020B0604020104020204" pitchFamily="34" charset="0"/>
              </a:rPr>
              <a:t>The columns obtained from Web Scraping the Wiki page:-</a:t>
            </a:r>
          </a:p>
          <a:p>
            <a:pPr marL="0" indent="0">
              <a:lnSpc>
                <a:spcPct val="100000"/>
              </a:lnSpc>
              <a:buNone/>
            </a:pPr>
            <a:r>
              <a:rPr lang="en-US" sz="2000" dirty="0">
                <a:latin typeface="Abadi" panose="020B0604020104020204" pitchFamily="34" charset="0"/>
              </a:rPr>
              <a:t>Flight No., Launch site, Payload, Payload mass, Orbit, Customer, Launch outcome, Version Booster, Booster landing, Date, Time </a:t>
            </a:r>
          </a:p>
          <a:p>
            <a:pPr marL="0" indent="0">
              <a:lnSpc>
                <a:spcPct val="100000"/>
              </a:lnSpc>
              <a:buNone/>
            </a:pPr>
            <a:endParaRPr lang="en-US" sz="2000" b="1" dirty="0"/>
          </a:p>
          <a:p>
            <a:pPr marL="0" indent="0">
              <a:lnSpc>
                <a:spcPct val="100000"/>
              </a:lnSpc>
              <a:buNone/>
            </a:pPr>
            <a:endParaRPr lang="en-US" sz="2000" dirty="0"/>
          </a:p>
          <a:p>
            <a:pPr marL="0" indent="0">
              <a:buNone/>
            </a:pPr>
            <a:br>
              <a:rPr lang="en-US" dirty="0"/>
            </a:b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DCF8D7-8E4B-4769-F993-DB774997343D}"/>
              </a:ext>
            </a:extLst>
          </p:cNvPr>
          <p:cNvPicPr>
            <a:picLocks noChangeAspect="1"/>
          </p:cNvPicPr>
          <p:nvPr/>
        </p:nvPicPr>
        <p:blipFill>
          <a:blip r:embed="rId2"/>
          <a:stretch>
            <a:fillRect/>
          </a:stretch>
        </p:blipFill>
        <p:spPr>
          <a:xfrm>
            <a:off x="604246" y="1138167"/>
            <a:ext cx="9730059" cy="4621169"/>
          </a:xfrm>
          <a:prstGeom prst="rect">
            <a:avLst/>
          </a:prstGeom>
        </p:spPr>
      </p:pic>
      <p:sp>
        <p:nvSpPr>
          <p:cNvPr id="5" name="TextBox 4">
            <a:extLst>
              <a:ext uri="{FF2B5EF4-FFF2-40B4-BE49-F238E27FC236}">
                <a16:creationId xmlns:a16="http://schemas.microsoft.com/office/drawing/2014/main" id="{6D0430A1-FA78-14F7-3407-159A09C199F1}"/>
              </a:ext>
            </a:extLst>
          </p:cNvPr>
          <p:cNvSpPr txBox="1"/>
          <p:nvPr/>
        </p:nvSpPr>
        <p:spPr>
          <a:xfrm>
            <a:off x="729464" y="214837"/>
            <a:ext cx="8280971" cy="923330"/>
          </a:xfrm>
          <a:prstGeom prst="rect">
            <a:avLst/>
          </a:prstGeom>
          <a:noFill/>
        </p:spPr>
        <p:txBody>
          <a:bodyPr wrap="square" rtlCol="0">
            <a:spAutoFit/>
          </a:bodyPr>
          <a:lstStyle/>
          <a:p>
            <a:r>
              <a:rPr lang="en-US" sz="3600" dirty="0">
                <a:solidFill>
                  <a:srgbClr val="0B49CB"/>
                </a:solidFill>
                <a:latin typeface="Abadi"/>
              </a:rPr>
              <a:t>Data Collection – SpaceX API Flow Chart</a:t>
            </a:r>
          </a:p>
          <a:p>
            <a:endParaRPr lang="en-GB" dirty="0"/>
          </a:p>
        </p:txBody>
      </p:sp>
      <p:sp>
        <p:nvSpPr>
          <p:cNvPr id="6" name="TextBox 5">
            <a:extLst>
              <a:ext uri="{FF2B5EF4-FFF2-40B4-BE49-F238E27FC236}">
                <a16:creationId xmlns:a16="http://schemas.microsoft.com/office/drawing/2014/main" id="{DCB25DFB-0108-BDA7-4471-995CDC0AB71A}"/>
              </a:ext>
            </a:extLst>
          </p:cNvPr>
          <p:cNvSpPr txBox="1"/>
          <p:nvPr/>
        </p:nvSpPr>
        <p:spPr>
          <a:xfrm>
            <a:off x="934947" y="6051479"/>
            <a:ext cx="10993349" cy="646331"/>
          </a:xfrm>
          <a:prstGeom prst="rect">
            <a:avLst/>
          </a:prstGeom>
          <a:noFill/>
        </p:spPr>
        <p:txBody>
          <a:bodyPr wrap="square" rtlCol="0">
            <a:spAutoFit/>
          </a:bodyPr>
          <a:lstStyle/>
          <a:p>
            <a:r>
              <a:rPr lang="en-GB" dirty="0">
                <a:hlinkClick r:id="rId3"/>
              </a:rPr>
              <a:t>IBM-Data-Science-Capstone/</a:t>
            </a:r>
            <a:r>
              <a:rPr lang="en-GB" dirty="0" err="1">
                <a:hlinkClick r:id="rId3"/>
              </a:rPr>
              <a:t>SpacexX</a:t>
            </a:r>
            <a:r>
              <a:rPr lang="en-GB" dirty="0">
                <a:hlinkClick r:id="rId3"/>
              </a:rPr>
              <a:t>- Lab1 Collecting the Data with </a:t>
            </a:r>
            <a:r>
              <a:rPr lang="en-GB" dirty="0" err="1">
                <a:hlinkClick r:id="rId3"/>
              </a:rPr>
              <a:t>API.ipynb</a:t>
            </a:r>
            <a:r>
              <a:rPr lang="en-GB" dirty="0">
                <a:hlinkClick r:id="rId3"/>
              </a:rPr>
              <a:t> at main · Marsbars65/IBM-Data-Science-Capstone</a:t>
            </a:r>
            <a:endParaRPr lang="en-GB" dirty="0"/>
          </a:p>
        </p:txBody>
      </p:sp>
    </p:spTree>
    <p:extLst>
      <p:ext uri="{BB962C8B-B14F-4D97-AF65-F5344CB8AC3E}">
        <p14:creationId xmlns:p14="http://schemas.microsoft.com/office/powerpoint/2010/main" val="2393260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FAAC-8907-3F96-CC39-0D03FD93A959}"/>
            </a:ext>
          </a:extLst>
        </p:cNvPr>
        <p:cNvGrpSpPr/>
        <p:nvPr/>
      </p:nvGrpSpPr>
      <p:grpSpPr>
        <a:xfrm>
          <a:off x="0" y="0"/>
          <a:ext cx="0" cy="0"/>
          <a:chOff x="0" y="0"/>
          <a:chExt cx="0" cy="0"/>
        </a:xfrm>
      </p:grpSpPr>
      <p:sp>
        <p:nvSpPr>
          <p:cNvPr id="6" name="Content Placeholder 4">
            <a:extLst>
              <a:ext uri="{FF2B5EF4-FFF2-40B4-BE49-F238E27FC236}">
                <a16:creationId xmlns:a16="http://schemas.microsoft.com/office/drawing/2014/main" id="{DDC70F52-7FAB-0911-AE85-7C37ADA01321}"/>
              </a:ext>
            </a:extLst>
          </p:cNvPr>
          <p:cNvSpPr txBox="1">
            <a:spLocks/>
          </p:cNvSpPr>
          <p:nvPr/>
        </p:nvSpPr>
        <p:spPr>
          <a:xfrm>
            <a:off x="719192" y="1232899"/>
            <a:ext cx="10914560" cy="469529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p:txBody>
      </p:sp>
      <p:sp>
        <p:nvSpPr>
          <p:cNvPr id="9" name="Title 1">
            <a:extLst>
              <a:ext uri="{FF2B5EF4-FFF2-40B4-BE49-F238E27FC236}">
                <a16:creationId xmlns:a16="http://schemas.microsoft.com/office/drawing/2014/main" id="{D078634C-9B12-B1DD-D55E-946EBF00E25B}"/>
              </a:ext>
            </a:extLst>
          </p:cNvPr>
          <p:cNvSpPr txBox="1">
            <a:spLocks noGrp="1"/>
          </p:cNvSpPr>
          <p:nvPr>
            <p:ph type="title"/>
          </p:nvPr>
        </p:nvSpPr>
        <p:spPr>
          <a:xfrm>
            <a:off x="838200" y="365126"/>
            <a:ext cx="10515600" cy="775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3600" dirty="0">
                <a:solidFill>
                  <a:srgbClr val="0B49CB"/>
                </a:solidFill>
                <a:latin typeface="Abadi"/>
              </a:rPr>
              <a:t>Data Collection – Web Scraping Flowchart</a:t>
            </a:r>
          </a:p>
        </p:txBody>
      </p:sp>
      <p:graphicFrame>
        <p:nvGraphicFramePr>
          <p:cNvPr id="4" name="Diagram 3">
            <a:extLst>
              <a:ext uri="{FF2B5EF4-FFF2-40B4-BE49-F238E27FC236}">
                <a16:creationId xmlns:a16="http://schemas.microsoft.com/office/drawing/2014/main" id="{A5C96C3D-AFC1-5476-F661-24A69F70713A}"/>
              </a:ext>
            </a:extLst>
          </p:cNvPr>
          <p:cNvGraphicFramePr/>
          <p:nvPr>
            <p:extLst>
              <p:ext uri="{D42A27DB-BD31-4B8C-83A1-F6EECF244321}">
                <p14:modId xmlns:p14="http://schemas.microsoft.com/office/powerpoint/2010/main" val="4101642288"/>
              </p:ext>
            </p:extLst>
          </p:nvPr>
        </p:nvGraphicFramePr>
        <p:xfrm>
          <a:off x="1074579" y="1594890"/>
          <a:ext cx="10042841" cy="4059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44627D0-BCD2-451A-8DF5-76DECDA0D3EC}"/>
              </a:ext>
            </a:extLst>
          </p:cNvPr>
          <p:cNvSpPr txBox="1"/>
          <p:nvPr/>
        </p:nvSpPr>
        <p:spPr>
          <a:xfrm>
            <a:off x="719192" y="6169708"/>
            <a:ext cx="11085815" cy="646331"/>
          </a:xfrm>
          <a:prstGeom prst="rect">
            <a:avLst/>
          </a:prstGeom>
          <a:noFill/>
        </p:spPr>
        <p:txBody>
          <a:bodyPr wrap="square" rtlCol="0">
            <a:spAutoFit/>
          </a:bodyPr>
          <a:lstStyle/>
          <a:p>
            <a:r>
              <a:rPr lang="en-GB" dirty="0">
                <a:hlinkClick r:id="rId7"/>
              </a:rPr>
              <a:t>IBM-Data-Science-Capstone/SpaceX - Collecting the data with </a:t>
            </a:r>
            <a:r>
              <a:rPr lang="en-GB" dirty="0" err="1">
                <a:hlinkClick r:id="rId7"/>
              </a:rPr>
              <a:t>webscraping.ipynb</a:t>
            </a:r>
            <a:r>
              <a:rPr lang="en-GB" dirty="0">
                <a:hlinkClick r:id="rId7"/>
              </a:rPr>
              <a:t> at main · Marsbars65/IBM-Data-Science-Capstone</a:t>
            </a:r>
            <a:endParaRPr lang="en-GB" dirty="0"/>
          </a:p>
        </p:txBody>
      </p:sp>
    </p:spTree>
    <p:extLst>
      <p:ext uri="{BB962C8B-B14F-4D97-AF65-F5344CB8AC3E}">
        <p14:creationId xmlns:p14="http://schemas.microsoft.com/office/powerpoint/2010/main" val="210482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49745" y="1548534"/>
            <a:ext cx="8975725" cy="4351338"/>
          </a:xfrm>
          <a:prstGeom prst="rect">
            <a:avLst/>
          </a:prstGeom>
        </p:spPr>
        <p:txBody>
          <a:bodyPr/>
          <a:lstStyle/>
          <a:p>
            <a:pPr marL="0" indent="0">
              <a:lnSpc>
                <a:spcPct val="120000"/>
              </a:lnSpc>
              <a:spcBef>
                <a:spcPts val="0"/>
              </a:spcBef>
              <a:buNone/>
            </a:pPr>
            <a:r>
              <a:rPr lang="en-US" sz="2000" dirty="0">
                <a:solidFill>
                  <a:schemeClr val="accent3">
                    <a:lumMod val="25000"/>
                  </a:schemeClr>
                </a:solidFill>
                <a:latin typeface="Abadi" panose="020B0604020104020204" pitchFamily="34" charset="0"/>
              </a:rPr>
              <a:t>The main purpose of the data wrangling process was to extract information on launch sites, and </a:t>
            </a:r>
            <a:r>
              <a:rPr lang="en-GB" sz="2000" dirty="0">
                <a:latin typeface="Abadi" panose="020B0604020104020204" pitchFamily="34" charset="0"/>
              </a:rPr>
              <a:t>perform some Exploratory Data Analysis (EDA) to find some patterns in the data and determine what would be the label for training supervised models.</a:t>
            </a:r>
          </a:p>
          <a:p>
            <a:pPr marL="0" indent="0">
              <a:lnSpc>
                <a:spcPct val="120000"/>
              </a:lnSpc>
              <a:spcBef>
                <a:spcPts val="0"/>
              </a:spcBef>
              <a:buNone/>
            </a:pPr>
            <a:endParaRPr lang="en-US" sz="2000" dirty="0">
              <a:solidFill>
                <a:schemeClr val="accent3">
                  <a:lumMod val="25000"/>
                </a:schemeClr>
              </a:solidFill>
              <a:latin typeface="Abadi" panose="020B0604020104020204" pitchFamily="34" charset="0"/>
            </a:endParaRPr>
          </a:p>
          <a:p>
            <a:pPr marL="0" indent="0">
              <a:buNone/>
            </a:pPr>
            <a:r>
              <a:rPr lang="en-US" sz="2000" dirty="0">
                <a:latin typeface="Abadi" panose="020B0604020104020204" pitchFamily="34" charset="0"/>
              </a:rPr>
              <a:t>Of particular importance was to uncover the landing outcomes for each launch site.</a:t>
            </a:r>
          </a:p>
          <a:p>
            <a:pPr marL="0" indent="0">
              <a:buNone/>
            </a:pPr>
            <a:r>
              <a:rPr lang="en-US" sz="2000" dirty="0">
                <a:latin typeface="Abadi" panose="020B0604020104020204" pitchFamily="34" charset="0"/>
              </a:rPr>
              <a:t>Outcomes were converted to a binary classification of 0 for failure and 1 for success.</a:t>
            </a:r>
          </a:p>
          <a:p>
            <a:pPr marL="0" indent="0">
              <a:buNone/>
            </a:pPr>
            <a:r>
              <a:rPr lang="en-US" sz="2000" dirty="0">
                <a:latin typeface="Abadi" panose="020B0604020104020204" pitchFamily="34" charset="0"/>
              </a:rPr>
              <a:t>A new column called “Class” was added to the DataFrame for the binary data.</a:t>
            </a:r>
          </a:p>
          <a:p>
            <a:pPr marL="0" indent="0">
              <a:buNone/>
            </a:pPr>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A47E4BF-0DFE-5EA2-2865-0205CF179858}"/>
              </a:ext>
            </a:extLst>
          </p:cNvPr>
          <p:cNvGraphicFramePr/>
          <p:nvPr>
            <p:extLst>
              <p:ext uri="{D42A27DB-BD31-4B8C-83A1-F6EECF244321}">
                <p14:modId xmlns:p14="http://schemas.microsoft.com/office/powerpoint/2010/main" val="3618232252"/>
              </p:ext>
            </p:extLst>
          </p:nvPr>
        </p:nvGraphicFramePr>
        <p:xfrm>
          <a:off x="523982" y="763094"/>
          <a:ext cx="10027578" cy="5331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76E2060-9E5C-15E9-0156-43BE33FCC68A}"/>
              </a:ext>
            </a:extLst>
          </p:cNvPr>
          <p:cNvSpPr txBox="1"/>
          <p:nvPr/>
        </p:nvSpPr>
        <p:spPr>
          <a:xfrm>
            <a:off x="523982" y="202039"/>
            <a:ext cx="11267326" cy="646331"/>
          </a:xfrm>
          <a:prstGeom prst="rect">
            <a:avLst/>
          </a:prstGeom>
          <a:noFill/>
        </p:spPr>
        <p:txBody>
          <a:bodyPr wrap="square" rtlCol="0">
            <a:spAutoFit/>
          </a:bodyPr>
          <a:lstStyle/>
          <a:p>
            <a:r>
              <a:rPr lang="en-GB" sz="3600" dirty="0">
                <a:solidFill>
                  <a:srgbClr val="0B49CB"/>
                </a:solidFill>
                <a:latin typeface="Abadi" panose="020B0604020104020204" pitchFamily="34" charset="0"/>
              </a:rPr>
              <a:t>Data Wrangling Flowchart</a:t>
            </a:r>
          </a:p>
        </p:txBody>
      </p:sp>
      <p:sp>
        <p:nvSpPr>
          <p:cNvPr id="6" name="TextBox 5">
            <a:extLst>
              <a:ext uri="{FF2B5EF4-FFF2-40B4-BE49-F238E27FC236}">
                <a16:creationId xmlns:a16="http://schemas.microsoft.com/office/drawing/2014/main" id="{C7D7B2CC-45D5-7C02-7BD9-48151A0BC2FD}"/>
              </a:ext>
            </a:extLst>
          </p:cNvPr>
          <p:cNvSpPr txBox="1"/>
          <p:nvPr/>
        </p:nvSpPr>
        <p:spPr>
          <a:xfrm>
            <a:off x="523982" y="6082301"/>
            <a:ext cx="11072117" cy="369332"/>
          </a:xfrm>
          <a:prstGeom prst="rect">
            <a:avLst/>
          </a:prstGeom>
          <a:noFill/>
        </p:spPr>
        <p:txBody>
          <a:bodyPr wrap="square" rtlCol="0">
            <a:spAutoFit/>
          </a:bodyPr>
          <a:lstStyle/>
          <a:p>
            <a:r>
              <a:rPr lang="en-GB">
                <a:hlinkClick r:id="rId7"/>
              </a:rPr>
              <a:t>IBM-Data-Science-Capstone/SpaceX - Lab 2 Data Wrangling.ipynb at main · Marsbars65/IBM-Data-Science-Capstone</a:t>
            </a:r>
            <a:endParaRPr lang="en-GB" dirty="0"/>
          </a:p>
        </p:txBody>
      </p:sp>
    </p:spTree>
    <p:extLst>
      <p:ext uri="{BB962C8B-B14F-4D97-AF65-F5344CB8AC3E}">
        <p14:creationId xmlns:p14="http://schemas.microsoft.com/office/powerpoint/2010/main" val="2660553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385580"/>
            <a:ext cx="9667875" cy="4365625"/>
          </a:xfrm>
          <a:prstGeom prst="rect">
            <a:avLst/>
          </a:prstGeom>
        </p:spPr>
        <p:txBody>
          <a:bodyPr lIns="91440" tIns="45720" rIns="91440" bIns="45720" anchor="t">
            <a:normAutofit/>
          </a:bodyPr>
          <a:lstStyle/>
          <a:p>
            <a:pPr marL="0" indent="0">
              <a:lnSpc>
                <a:spcPct val="100000"/>
              </a:lnSpc>
              <a:spcBef>
                <a:spcPts val="0"/>
              </a:spcBef>
              <a:buNone/>
            </a:pPr>
            <a:r>
              <a:rPr lang="en-US" sz="2200" dirty="0">
                <a:solidFill>
                  <a:srgbClr val="0B49CB"/>
                </a:solidFill>
                <a:latin typeface="Abadi"/>
              </a:rPr>
              <a:t>Summary of the charts plotted for EDA visualisation</a:t>
            </a:r>
          </a:p>
          <a:p>
            <a:pPr marL="0" indent="0">
              <a:lnSpc>
                <a:spcPct val="100000"/>
              </a:lnSpc>
              <a:spcBef>
                <a:spcPts val="0"/>
              </a:spcBef>
              <a:buNone/>
            </a:pPr>
            <a:r>
              <a:rPr lang="en-US" sz="1800" dirty="0">
                <a:solidFill>
                  <a:schemeClr val="accent3">
                    <a:lumMod val="25000"/>
                  </a:schemeClr>
                </a:solidFill>
                <a:latin typeface="Abadi"/>
              </a:rPr>
              <a:t>Scatter plots were used to visualise:-</a:t>
            </a:r>
          </a:p>
          <a:p>
            <a:pPr>
              <a:lnSpc>
                <a:spcPct val="100000"/>
              </a:lnSpc>
              <a:spcBef>
                <a:spcPts val="0"/>
              </a:spcBef>
            </a:pPr>
            <a:r>
              <a:rPr lang="en-US" sz="1800" dirty="0">
                <a:solidFill>
                  <a:schemeClr val="accent3">
                    <a:lumMod val="25000"/>
                  </a:schemeClr>
                </a:solidFill>
                <a:latin typeface="Abadi"/>
              </a:rPr>
              <a:t>Flight number versus payload mass(kg), launch site and orbit</a:t>
            </a:r>
          </a:p>
          <a:p>
            <a:pPr>
              <a:lnSpc>
                <a:spcPct val="100000"/>
              </a:lnSpc>
              <a:spcBef>
                <a:spcPts val="0"/>
              </a:spcBef>
            </a:pPr>
            <a:r>
              <a:rPr lang="en-US" sz="1800" dirty="0">
                <a:solidFill>
                  <a:schemeClr val="accent3">
                    <a:lumMod val="25000"/>
                  </a:schemeClr>
                </a:solidFill>
                <a:latin typeface="Abadi"/>
              </a:rPr>
              <a:t>Payload mass(kg) versus launch site and orbit</a:t>
            </a:r>
          </a:p>
          <a:p>
            <a:pPr marL="0" indent="0">
              <a:lnSpc>
                <a:spcPct val="100000"/>
              </a:lnSpc>
              <a:spcBef>
                <a:spcPts val="0"/>
              </a:spcBef>
              <a:buNone/>
            </a:pPr>
            <a:endParaRPr lang="en-US" sz="1800" dirty="0">
              <a:solidFill>
                <a:schemeClr val="accent3">
                  <a:lumMod val="25000"/>
                </a:schemeClr>
              </a:solidFill>
              <a:latin typeface="Abadi"/>
            </a:endParaRPr>
          </a:p>
          <a:p>
            <a:pPr marL="0" indent="0">
              <a:lnSpc>
                <a:spcPct val="100000"/>
              </a:lnSpc>
              <a:spcBef>
                <a:spcPts val="0"/>
              </a:spcBef>
              <a:buNone/>
            </a:pPr>
            <a:r>
              <a:rPr lang="en-US" sz="1800" dirty="0">
                <a:solidFill>
                  <a:schemeClr val="accent3">
                    <a:lumMod val="25000"/>
                  </a:schemeClr>
                </a:solidFill>
                <a:latin typeface="Abadi"/>
              </a:rPr>
              <a:t>A bar chart was used to visualise:-</a:t>
            </a:r>
          </a:p>
          <a:p>
            <a:pPr>
              <a:lnSpc>
                <a:spcPct val="100000"/>
              </a:lnSpc>
              <a:spcBef>
                <a:spcPts val="0"/>
              </a:spcBef>
            </a:pPr>
            <a:r>
              <a:rPr lang="en-US" sz="1800" dirty="0">
                <a:solidFill>
                  <a:schemeClr val="accent3">
                    <a:lumMod val="25000"/>
                  </a:schemeClr>
                </a:solidFill>
                <a:latin typeface="Abadi"/>
              </a:rPr>
              <a:t>The success rate for each orbit type</a:t>
            </a:r>
          </a:p>
          <a:p>
            <a:pPr>
              <a:lnSpc>
                <a:spcPct val="100000"/>
              </a:lnSpc>
              <a:spcBef>
                <a:spcPts val="0"/>
              </a:spcBef>
            </a:pPr>
            <a:endParaRPr lang="en-US" sz="1800" dirty="0">
              <a:solidFill>
                <a:schemeClr val="accent3">
                  <a:lumMod val="25000"/>
                </a:schemeClr>
              </a:solidFill>
              <a:latin typeface="Abadi"/>
            </a:endParaRPr>
          </a:p>
          <a:p>
            <a:pPr marL="0" indent="0">
              <a:lnSpc>
                <a:spcPct val="100000"/>
              </a:lnSpc>
              <a:spcBef>
                <a:spcPts val="0"/>
              </a:spcBef>
              <a:buNone/>
            </a:pPr>
            <a:r>
              <a:rPr lang="en-US" sz="1800" dirty="0">
                <a:solidFill>
                  <a:schemeClr val="accent3">
                    <a:lumMod val="25000"/>
                  </a:schemeClr>
                </a:solidFill>
                <a:latin typeface="Abadi"/>
              </a:rPr>
              <a:t>A line chart was used to visualise:-</a:t>
            </a:r>
          </a:p>
          <a:p>
            <a:pPr>
              <a:lnSpc>
                <a:spcPct val="100000"/>
              </a:lnSpc>
              <a:spcBef>
                <a:spcPts val="0"/>
              </a:spcBef>
            </a:pPr>
            <a:r>
              <a:rPr lang="en-US" sz="1800" dirty="0">
                <a:solidFill>
                  <a:schemeClr val="accent3">
                    <a:lumMod val="25000"/>
                  </a:schemeClr>
                </a:solidFill>
                <a:latin typeface="Abadi"/>
              </a:rPr>
              <a:t>The success rate over a range of years from 2010 to 2020</a:t>
            </a:r>
          </a:p>
          <a:p>
            <a:pPr>
              <a:lnSpc>
                <a:spcPct val="100000"/>
              </a:lnSpc>
              <a:spcBef>
                <a:spcPts val="0"/>
              </a:spcBef>
            </a:pPr>
            <a:endParaRPr lang="en-US" sz="1800" dirty="0">
              <a:solidFill>
                <a:schemeClr val="accent3">
                  <a:lumMod val="25000"/>
                </a:schemeClr>
              </a:solidFill>
              <a:latin typeface="Abadi"/>
            </a:endParaRPr>
          </a:p>
          <a:p>
            <a:pPr marL="0" indent="0">
              <a:lnSpc>
                <a:spcPct val="100000"/>
              </a:lnSpc>
              <a:spcBef>
                <a:spcPts val="0"/>
              </a:spcBef>
              <a:buNone/>
            </a:pPr>
            <a:r>
              <a:rPr lang="en-US" sz="1800" dirty="0">
                <a:solidFill>
                  <a:schemeClr val="accent3">
                    <a:lumMod val="25000"/>
                  </a:schemeClr>
                </a:solidFill>
                <a:latin typeface="Abadi"/>
              </a:rPr>
              <a:t>Scatter plots were used to show the relationship between two variables.</a:t>
            </a:r>
          </a:p>
          <a:p>
            <a:pPr marL="0" indent="0">
              <a:lnSpc>
                <a:spcPct val="100000"/>
              </a:lnSpc>
              <a:spcBef>
                <a:spcPts val="0"/>
              </a:spcBef>
              <a:buNone/>
            </a:pPr>
            <a:r>
              <a:rPr lang="en-US" sz="1800" dirty="0">
                <a:solidFill>
                  <a:schemeClr val="accent3">
                    <a:lumMod val="25000"/>
                  </a:schemeClr>
                </a:solidFill>
                <a:latin typeface="Abadi"/>
              </a:rPr>
              <a:t>A bar chart was chosen for the categorical variable orbit type to show comparisons of success rate.</a:t>
            </a:r>
          </a:p>
          <a:p>
            <a:pPr marL="0" indent="0">
              <a:lnSpc>
                <a:spcPct val="100000"/>
              </a:lnSpc>
              <a:spcBef>
                <a:spcPts val="0"/>
              </a:spcBef>
              <a:buNone/>
            </a:pPr>
            <a:r>
              <a:rPr lang="en-US" sz="1800" dirty="0">
                <a:solidFill>
                  <a:schemeClr val="accent3">
                    <a:lumMod val="25000"/>
                  </a:schemeClr>
                </a:solidFill>
                <a:latin typeface="Abadi"/>
              </a:rPr>
              <a:t>A line chart was chosen for the time series as this provided the best visualisation over time.</a:t>
            </a:r>
          </a:p>
          <a:p>
            <a:pPr marL="0" indent="0">
              <a:lnSpc>
                <a:spcPct val="100000"/>
              </a:lnSpc>
              <a:spcBef>
                <a:spcPts val="0"/>
              </a:spcBef>
              <a:buNone/>
            </a:pPr>
            <a:endParaRPr lang="en-US" sz="2000" dirty="0">
              <a:solidFill>
                <a:schemeClr val="accent3">
                  <a:lumMod val="25000"/>
                </a:schemeClr>
              </a:solidFill>
              <a:latin typeface="Abadi"/>
            </a:endParaRPr>
          </a:p>
          <a:p>
            <a:pPr marL="0" indent="0">
              <a:buNone/>
            </a:pPr>
            <a:endParaRPr lang="en-US" dirty="0"/>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0" y="402584"/>
            <a:ext cx="10687961" cy="8596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3200" dirty="0">
                <a:solidFill>
                  <a:srgbClr val="0B49CB"/>
                </a:solidFill>
                <a:latin typeface="Abadi"/>
              </a:rPr>
              <a:t>EDA with Data Visualization</a:t>
            </a:r>
          </a:p>
        </p:txBody>
      </p:sp>
      <p:sp>
        <p:nvSpPr>
          <p:cNvPr id="6" name="TextBox 5">
            <a:extLst>
              <a:ext uri="{FF2B5EF4-FFF2-40B4-BE49-F238E27FC236}">
                <a16:creationId xmlns:a16="http://schemas.microsoft.com/office/drawing/2014/main" id="{8FBD735A-A600-FAA6-AD6F-EEF2D87F00B3}"/>
              </a:ext>
            </a:extLst>
          </p:cNvPr>
          <p:cNvSpPr txBox="1"/>
          <p:nvPr/>
        </p:nvSpPr>
        <p:spPr>
          <a:xfrm>
            <a:off x="770010" y="6154220"/>
            <a:ext cx="9781550" cy="646331"/>
          </a:xfrm>
          <a:prstGeom prst="rect">
            <a:avLst/>
          </a:prstGeom>
          <a:noFill/>
        </p:spPr>
        <p:txBody>
          <a:bodyPr wrap="square" rtlCol="0">
            <a:spAutoFit/>
          </a:bodyPr>
          <a:lstStyle/>
          <a:p>
            <a:r>
              <a:rPr lang="en-GB">
                <a:hlinkClick r:id="rId3"/>
              </a:rPr>
              <a:t>IBM-Data-Science-Capstone/Spacex - EDA with Visualisation (2).ipynb at main · Marsbars65/IBM-Data-Science-Capstone</a:t>
            </a:r>
            <a:endParaRPr lang="en-GB" dirty="0"/>
          </a:p>
        </p:txBody>
      </p:sp>
    </p:spTree>
    <p:extLst>
      <p:ext uri="{BB962C8B-B14F-4D97-AF65-F5344CB8AC3E}">
        <p14:creationId xmlns:p14="http://schemas.microsoft.com/office/powerpoint/2010/main" val="77997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433658"/>
            <a:ext cx="10058400" cy="4611687"/>
          </a:xfrm>
          <a:prstGeom prst="rect">
            <a:avLst/>
          </a:prstGeom>
        </p:spPr>
        <p:txBody>
          <a:bodyPr lIns="91440" tIns="45720" rIns="91440" bIns="45720" anchor="t">
            <a:normAutofit/>
          </a:bodyPr>
          <a:lstStyle/>
          <a:p>
            <a:pPr marL="0" indent="0">
              <a:lnSpc>
                <a:spcPct val="100000"/>
              </a:lnSpc>
              <a:spcBef>
                <a:spcPts val="0"/>
              </a:spcBef>
              <a:buNone/>
            </a:pPr>
            <a:r>
              <a:rPr lang="en-US" sz="2000" dirty="0">
                <a:solidFill>
                  <a:srgbClr val="0B49CB"/>
                </a:solidFill>
                <a:latin typeface="Abadi"/>
              </a:rPr>
              <a:t>Summary of SQL queries in EDA with SQL</a:t>
            </a:r>
          </a:p>
          <a:p>
            <a:pPr marL="0" indent="0">
              <a:lnSpc>
                <a:spcPct val="100000"/>
              </a:lnSpc>
              <a:spcBef>
                <a:spcPts val="0"/>
              </a:spcBef>
              <a:buNone/>
            </a:pPr>
            <a:endParaRPr lang="en-US" sz="1800" dirty="0">
              <a:solidFill>
                <a:srgbClr val="0B49CB"/>
              </a:solidFill>
              <a:latin typeface="Abadi"/>
            </a:endParaRPr>
          </a:p>
          <a:p>
            <a:pPr>
              <a:lnSpc>
                <a:spcPct val="100000"/>
              </a:lnSpc>
              <a:spcBef>
                <a:spcPts val="0"/>
              </a:spcBef>
            </a:pPr>
            <a:r>
              <a:rPr lang="en-US" sz="1600" dirty="0">
                <a:solidFill>
                  <a:schemeClr val="accent3">
                    <a:lumMod val="25000"/>
                  </a:schemeClr>
                </a:solidFill>
                <a:latin typeface="Abadi" panose="020B0604020104020204" pitchFamily="34" charset="0"/>
              </a:rPr>
              <a:t>SQL queries were used to query the launch record DataFrame as follows:-</a:t>
            </a:r>
          </a:p>
          <a:p>
            <a:pPr>
              <a:lnSpc>
                <a:spcPct val="100000"/>
              </a:lnSpc>
              <a:spcBef>
                <a:spcPts val="0"/>
              </a:spcBef>
            </a:pPr>
            <a:r>
              <a:rPr lang="en-US" sz="1600" dirty="0">
                <a:solidFill>
                  <a:schemeClr val="accent3">
                    <a:lumMod val="25000"/>
                  </a:schemeClr>
                </a:solidFill>
                <a:latin typeface="Abadi" panose="020B0604020104020204" pitchFamily="34" charset="0"/>
              </a:rPr>
              <a:t>Firstly, all columns for the DataFrame were selected</a:t>
            </a:r>
          </a:p>
          <a:p>
            <a:pPr>
              <a:lnSpc>
                <a:spcPct val="100000"/>
              </a:lnSpc>
              <a:spcBef>
                <a:spcPts val="0"/>
              </a:spcBef>
            </a:pPr>
            <a:r>
              <a:rPr lang="en-US" sz="1600" dirty="0">
                <a:solidFill>
                  <a:schemeClr val="accent3">
                    <a:lumMod val="25000"/>
                  </a:schemeClr>
                </a:solidFill>
                <a:latin typeface="Abadi" panose="020B0604020104020204" pitchFamily="34" charset="0"/>
              </a:rPr>
              <a:t>Displayed  distinct  launch sites for SpaceX rockets</a:t>
            </a:r>
          </a:p>
          <a:p>
            <a:pPr>
              <a:lnSpc>
                <a:spcPct val="100000"/>
              </a:lnSpc>
              <a:spcBef>
                <a:spcPts val="0"/>
              </a:spcBef>
            </a:pPr>
            <a:r>
              <a:rPr lang="en-US" sz="1600" dirty="0">
                <a:solidFill>
                  <a:schemeClr val="accent3">
                    <a:lumMod val="25000"/>
                  </a:schemeClr>
                </a:solidFill>
                <a:latin typeface="Abadi" panose="020B0604020104020204" pitchFamily="34" charset="0"/>
              </a:rPr>
              <a:t>Displayed 5 records where the launch site began with letters CCA</a:t>
            </a:r>
          </a:p>
          <a:p>
            <a:pPr>
              <a:lnSpc>
                <a:spcPct val="100000"/>
              </a:lnSpc>
              <a:spcBef>
                <a:spcPts val="0"/>
              </a:spcBef>
            </a:pPr>
            <a:r>
              <a:rPr lang="en-US" sz="1600" dirty="0">
                <a:solidFill>
                  <a:schemeClr val="accent3">
                    <a:lumMod val="25000"/>
                  </a:schemeClr>
                </a:solidFill>
                <a:latin typeface="Abadi" panose="020B0604020104020204" pitchFamily="34" charset="0"/>
              </a:rPr>
              <a:t>Displayed the total payload mass carried by boosters launched by NASA (CRS)</a:t>
            </a:r>
          </a:p>
          <a:p>
            <a:pPr>
              <a:lnSpc>
                <a:spcPct val="100000"/>
              </a:lnSpc>
              <a:spcBef>
                <a:spcPts val="0"/>
              </a:spcBef>
            </a:pPr>
            <a:r>
              <a:rPr lang="en-US" sz="1600" dirty="0">
                <a:solidFill>
                  <a:schemeClr val="accent3">
                    <a:lumMod val="25000"/>
                  </a:schemeClr>
                </a:solidFill>
                <a:latin typeface="Abadi" panose="020B0604020104020204" pitchFamily="34" charset="0"/>
              </a:rPr>
              <a:t>Displayed the average payload mass carried by booster version F9 v1.1</a:t>
            </a:r>
          </a:p>
          <a:p>
            <a:pPr>
              <a:lnSpc>
                <a:spcPct val="100000"/>
              </a:lnSpc>
              <a:spcBef>
                <a:spcPts val="0"/>
              </a:spcBef>
            </a:pPr>
            <a:r>
              <a:rPr lang="en-US" sz="1600" dirty="0">
                <a:solidFill>
                  <a:schemeClr val="accent3">
                    <a:lumMod val="25000"/>
                  </a:schemeClr>
                </a:solidFill>
                <a:latin typeface="Abadi" panose="020B0604020104020204" pitchFamily="34" charset="0"/>
              </a:rPr>
              <a:t>Listed the date when the first successful landing in ground pad was achieved</a:t>
            </a:r>
          </a:p>
          <a:p>
            <a:pPr>
              <a:lnSpc>
                <a:spcPct val="100000"/>
              </a:lnSpc>
              <a:spcBef>
                <a:spcPts val="0"/>
              </a:spcBef>
            </a:pPr>
            <a:r>
              <a:rPr lang="en-US" sz="1600" dirty="0">
                <a:solidFill>
                  <a:schemeClr val="accent3">
                    <a:lumMod val="25000"/>
                  </a:schemeClr>
                </a:solidFill>
                <a:latin typeface="Abadi" panose="020B0604020104020204" pitchFamily="34" charset="0"/>
              </a:rPr>
              <a:t>Listed the names of boosters which have success in drone ship and have payload mass greater than 4000 but less than 6000</a:t>
            </a:r>
          </a:p>
          <a:p>
            <a:pPr>
              <a:lnSpc>
                <a:spcPct val="100000"/>
              </a:lnSpc>
              <a:spcBef>
                <a:spcPts val="0"/>
              </a:spcBef>
            </a:pPr>
            <a:r>
              <a:rPr lang="en-US" sz="1600" dirty="0">
                <a:solidFill>
                  <a:schemeClr val="accent3">
                    <a:lumMod val="25000"/>
                  </a:schemeClr>
                </a:solidFill>
                <a:latin typeface="Abadi" panose="020B0604020104020204" pitchFamily="34" charset="0"/>
              </a:rPr>
              <a:t>Listed the total number of successful and failure missions</a:t>
            </a:r>
          </a:p>
          <a:p>
            <a:pPr>
              <a:lnSpc>
                <a:spcPct val="100000"/>
              </a:lnSpc>
              <a:spcBef>
                <a:spcPts val="0"/>
              </a:spcBef>
            </a:pPr>
            <a:r>
              <a:rPr lang="en-GB" sz="1600" dirty="0">
                <a:latin typeface="Abadi" panose="020B0604020104020204" pitchFamily="34" charset="0"/>
              </a:rPr>
              <a:t>Listed all the booster_versions that have carried the maximum payload mass, using a subquery with a suitable aggregate function</a:t>
            </a:r>
          </a:p>
          <a:p>
            <a:pPr>
              <a:lnSpc>
                <a:spcPct val="100000"/>
              </a:lnSpc>
              <a:spcBef>
                <a:spcPts val="0"/>
              </a:spcBef>
            </a:pPr>
            <a:r>
              <a:rPr lang="en-GB" sz="1600" dirty="0">
                <a:latin typeface="Abadi" panose="020B0604020104020204" pitchFamily="34" charset="0"/>
              </a:rPr>
              <a:t>Listed the records which will display the month names, failure landing_outcomes in drone ship, booster versions, launch_site for the months in year 2015.</a:t>
            </a:r>
          </a:p>
          <a:p>
            <a:pPr>
              <a:lnSpc>
                <a:spcPct val="100000"/>
              </a:lnSpc>
              <a:spcBef>
                <a:spcPts val="0"/>
              </a:spcBef>
            </a:pPr>
            <a:r>
              <a:rPr lang="en-GB" sz="1600" dirty="0">
                <a:latin typeface="Abadi" panose="020B0604020104020204" pitchFamily="34" charset="0"/>
              </a:rPr>
              <a:t>Ranked the count of landing outcomes (such as Failure (drone ship) or Success (ground pad)) between the date 2010-06-04 and 2017-03-20, in descending order.</a:t>
            </a: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2" name="TextBox 1">
            <a:extLst>
              <a:ext uri="{FF2B5EF4-FFF2-40B4-BE49-F238E27FC236}">
                <a16:creationId xmlns:a16="http://schemas.microsoft.com/office/drawing/2014/main" id="{B6B2D168-0ECA-5EBC-AADD-1A8D0569CD75}"/>
              </a:ext>
            </a:extLst>
          </p:cNvPr>
          <p:cNvSpPr txBox="1"/>
          <p:nvPr/>
        </p:nvSpPr>
        <p:spPr>
          <a:xfrm>
            <a:off x="872751" y="6226392"/>
            <a:ext cx="10223339" cy="369332"/>
          </a:xfrm>
          <a:prstGeom prst="rect">
            <a:avLst/>
          </a:prstGeom>
          <a:noFill/>
        </p:spPr>
        <p:txBody>
          <a:bodyPr wrap="square" rtlCol="0">
            <a:spAutoFit/>
          </a:bodyPr>
          <a:lstStyle/>
          <a:p>
            <a:r>
              <a:rPr lang="en-GB" dirty="0">
                <a:hlinkClick r:id="rId3"/>
              </a:rPr>
              <a:t>IBM-Data-Science-Capstone/SpaceX - EDA with </a:t>
            </a:r>
            <a:r>
              <a:rPr lang="en-GB" dirty="0" err="1">
                <a:hlinkClick r:id="rId3"/>
              </a:rPr>
              <a:t>SQL.ipynb</a:t>
            </a:r>
            <a:r>
              <a:rPr lang="en-GB" dirty="0">
                <a:hlinkClick r:id="rId3"/>
              </a:rPr>
              <a:t> at main · Marsbars65/IBM-Data-Science-Capstone</a:t>
            </a:r>
            <a:endParaRPr lang="en-GB" dirty="0"/>
          </a:p>
        </p:txBody>
      </p:sp>
    </p:spTree>
    <p:extLst>
      <p:ext uri="{BB962C8B-B14F-4D97-AF65-F5344CB8AC3E}">
        <p14:creationId xmlns:p14="http://schemas.microsoft.com/office/powerpoint/2010/main" val="157872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81891" y="1400175"/>
            <a:ext cx="10515600" cy="5027613"/>
          </a:xfrm>
          <a:prstGeom prst="rect">
            <a:avLst/>
          </a:prstGeom>
        </p:spPr>
        <p:txBody>
          <a:bodyPr>
            <a:normAutofit/>
          </a:bodyPr>
          <a:lstStyle/>
          <a:p>
            <a:pPr marL="0" indent="0">
              <a:lnSpc>
                <a:spcPct val="100000"/>
              </a:lnSpc>
              <a:spcBef>
                <a:spcPts val="0"/>
              </a:spcBef>
              <a:buNone/>
            </a:pPr>
            <a:r>
              <a:rPr lang="en-US" sz="2200" b="1" dirty="0">
                <a:solidFill>
                  <a:schemeClr val="accent3">
                    <a:lumMod val="25000"/>
                  </a:schemeClr>
                </a:solidFill>
                <a:latin typeface="Abadi" panose="020B0604020104020204" pitchFamily="34" charset="0"/>
              </a:rPr>
              <a:t>Summary of map objects such as markers, circles, lines, etc. created and added to a folium map</a:t>
            </a:r>
          </a:p>
          <a:p>
            <a:pPr>
              <a:lnSpc>
                <a:spcPct val="100000"/>
              </a:lnSpc>
              <a:spcBef>
                <a:spcPts val="0"/>
              </a:spcBef>
            </a:pPr>
            <a:r>
              <a:rPr lang="en-US" sz="1800" dirty="0">
                <a:solidFill>
                  <a:schemeClr val="accent3">
                    <a:lumMod val="25000"/>
                  </a:schemeClr>
                </a:solidFill>
                <a:latin typeface="Abadi" panose="020B0604020104020204" pitchFamily="34" charset="0"/>
              </a:rPr>
              <a:t>A folium map was created with the centre location as NASA Johnson Space Centre at Houston, Texas.</a:t>
            </a:r>
          </a:p>
          <a:p>
            <a:pPr>
              <a:lnSpc>
                <a:spcPct val="100000"/>
              </a:lnSpc>
              <a:spcBef>
                <a:spcPts val="0"/>
              </a:spcBef>
            </a:pPr>
            <a:r>
              <a:rPr lang="en-US" sz="1800" dirty="0">
                <a:solidFill>
                  <a:schemeClr val="accent3">
                    <a:lumMod val="25000"/>
                  </a:schemeClr>
                </a:solidFill>
                <a:latin typeface="Abadi" panose="020B0604020104020204" pitchFamily="34" charset="0"/>
              </a:rPr>
              <a:t>Circle objects were added for each launch site with an additional pop-up label showing launch site names</a:t>
            </a:r>
          </a:p>
          <a:p>
            <a:pPr>
              <a:lnSpc>
                <a:spcPct val="100000"/>
              </a:lnSpc>
              <a:spcBef>
                <a:spcPts val="0"/>
              </a:spcBef>
            </a:pPr>
            <a:r>
              <a:rPr lang="en-US" sz="1800" dirty="0">
                <a:solidFill>
                  <a:schemeClr val="accent3">
                    <a:lumMod val="25000"/>
                  </a:schemeClr>
                </a:solidFill>
                <a:latin typeface="Abadi" panose="020B0604020104020204" pitchFamily="34" charset="0"/>
              </a:rPr>
              <a:t>Marker clusters were added to show the launch outcomes for each launch site. Green markers and red markers were allocated to successful and unsuccessful launches respectively</a:t>
            </a:r>
          </a:p>
          <a:p>
            <a:pPr>
              <a:lnSpc>
                <a:spcPct val="100000"/>
              </a:lnSpc>
              <a:spcBef>
                <a:spcPts val="0"/>
              </a:spcBef>
            </a:pPr>
            <a:r>
              <a:rPr lang="en-US" sz="1800" dirty="0">
                <a:solidFill>
                  <a:schemeClr val="accent3">
                    <a:lumMod val="25000"/>
                  </a:schemeClr>
                </a:solidFill>
                <a:latin typeface="Abadi" panose="020B0604020104020204" pitchFamily="34" charset="0"/>
              </a:rPr>
              <a:t>A mouse position was added to the map which automatically returned latitude and longitude on scrolling through the map</a:t>
            </a:r>
          </a:p>
          <a:p>
            <a:pPr>
              <a:lnSpc>
                <a:spcPct val="100000"/>
              </a:lnSpc>
              <a:spcBef>
                <a:spcPts val="0"/>
              </a:spcBef>
            </a:pPr>
            <a:r>
              <a:rPr lang="en-US" sz="1800" dirty="0">
                <a:solidFill>
                  <a:schemeClr val="accent3">
                    <a:lumMod val="25000"/>
                  </a:schemeClr>
                </a:solidFill>
                <a:latin typeface="Abadi" panose="020B0604020104020204" pitchFamily="34" charset="0"/>
              </a:rPr>
              <a:t>Markers were added for the closest coastlines, railways, highways and cities with distances from launch sites being shown with polylines</a:t>
            </a:r>
          </a:p>
          <a:p>
            <a:pPr>
              <a:lnSpc>
                <a:spcPct val="100000"/>
              </a:lnSpc>
              <a:spcBef>
                <a:spcPts val="0"/>
              </a:spcBef>
            </a:pPr>
            <a:endParaRPr lang="en-US" sz="18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1800" dirty="0">
                <a:solidFill>
                  <a:schemeClr val="accent3">
                    <a:lumMod val="25000"/>
                  </a:schemeClr>
                </a:solidFill>
                <a:latin typeface="Abadi" panose="020B0604020104020204" pitchFamily="34" charset="0"/>
              </a:rPr>
              <a:t>By adding markers, marker clusters, pop up labels and lines the map became much easier to read.  Without the above there would have been no clear indication of where the launch sites are, the launch outcomes or the proximity to coastlines, railway lines etc.</a:t>
            </a:r>
          </a:p>
          <a:p>
            <a:pPr marL="0" indent="0">
              <a:lnSpc>
                <a:spcPct val="100000"/>
              </a:lnSpc>
              <a:spcBef>
                <a:spcPts val="0"/>
              </a:spcBef>
              <a:buNone/>
            </a:pPr>
            <a:r>
              <a:rPr lang="en-GB" sz="1800" dirty="0">
                <a:hlinkClick r:id="rId3"/>
              </a:rPr>
              <a:t>IBM-Data-Science-Capstone/</a:t>
            </a:r>
            <a:r>
              <a:rPr lang="en-GB" sz="1800" dirty="0" err="1">
                <a:hlinkClick r:id="rId3"/>
              </a:rPr>
              <a:t>Spacex</a:t>
            </a:r>
            <a:r>
              <a:rPr lang="en-GB" sz="1800" dirty="0">
                <a:hlinkClick r:id="rId3"/>
              </a:rPr>
              <a:t> - Interactive Visual Analytics with Folium (2).</a:t>
            </a:r>
            <a:r>
              <a:rPr lang="en-GB" sz="1800" dirty="0" err="1">
                <a:hlinkClick r:id="rId3"/>
              </a:rPr>
              <a:t>ipynb</a:t>
            </a:r>
            <a:r>
              <a:rPr lang="en-GB" sz="1800" dirty="0">
                <a:hlinkClick r:id="rId3"/>
              </a:rPr>
              <a:t> at main · Marsbars65/IBM-Data-Science-Capstone</a:t>
            </a:r>
            <a:endParaRPr lang="en-US" sz="1800" dirty="0">
              <a:solidFill>
                <a:schemeClr val="accent3">
                  <a:lumMod val="25000"/>
                </a:schemeClr>
              </a:solidFill>
              <a:latin typeface="Abadi" panose="020B0604020104020204" pitchFamily="34" charset="0"/>
            </a:endParaRPr>
          </a:p>
          <a:p>
            <a:pPr marL="0" indent="0">
              <a:buNone/>
            </a:pPr>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49745" y="1594716"/>
            <a:ext cx="9745663" cy="4351338"/>
          </a:xfrm>
          <a:prstGeom prst="rect">
            <a:avLst/>
          </a:prstGeom>
        </p:spPr>
        <p:txBody>
          <a:bodyPr vert="horz" lIns="91440" tIns="45720" rIns="91440" bIns="45720" rtlCol="0" anchor="t">
            <a:normAutofit/>
          </a:bodyPr>
          <a:lstStyle/>
          <a:p>
            <a:pPr marL="0" indent="0">
              <a:lnSpc>
                <a:spcPct val="100000"/>
              </a:lnSpc>
              <a:spcBef>
                <a:spcPts val="0"/>
              </a:spcBef>
              <a:buNone/>
            </a:pPr>
            <a:r>
              <a:rPr lang="en-US" sz="2200" b="1" dirty="0">
                <a:solidFill>
                  <a:schemeClr val="accent3">
                    <a:lumMod val="25000"/>
                  </a:schemeClr>
                </a:solidFill>
                <a:latin typeface="Abadi" panose="020B0604020104020204" pitchFamily="34" charset="0"/>
              </a:rPr>
              <a:t>Summary of plots/graphs and interactions added to a dashboard</a:t>
            </a:r>
          </a:p>
          <a:p>
            <a:pPr>
              <a:lnSpc>
                <a:spcPct val="100000"/>
              </a:lnSpc>
              <a:spcBef>
                <a:spcPts val="0"/>
              </a:spcBef>
            </a:pPr>
            <a:r>
              <a:rPr lang="en-US" sz="1800" dirty="0">
                <a:solidFill>
                  <a:schemeClr val="accent3">
                    <a:lumMod val="25000"/>
                  </a:schemeClr>
                </a:solidFill>
                <a:latin typeface="Abadi" panose="020B0604020104020204" pitchFamily="34" charset="0"/>
              </a:rPr>
              <a:t>A dropdown list to enable selection of all sites or specific launch sites was added</a:t>
            </a:r>
          </a:p>
          <a:p>
            <a:pPr>
              <a:lnSpc>
                <a:spcPct val="100000"/>
              </a:lnSpc>
              <a:spcBef>
                <a:spcPts val="0"/>
              </a:spcBef>
            </a:pPr>
            <a:r>
              <a:rPr lang="en-US" sz="1800" dirty="0">
                <a:solidFill>
                  <a:schemeClr val="accent3">
                    <a:lumMod val="25000"/>
                  </a:schemeClr>
                </a:solidFill>
                <a:latin typeface="Abadi" panose="020B0604020104020204" pitchFamily="34" charset="0"/>
              </a:rPr>
              <a:t>Pie charts were added to show the success and failure rates for all sites or for specific sites</a:t>
            </a:r>
          </a:p>
          <a:p>
            <a:pPr>
              <a:lnSpc>
                <a:spcPct val="100000"/>
              </a:lnSpc>
              <a:spcBef>
                <a:spcPts val="0"/>
              </a:spcBef>
            </a:pPr>
            <a:r>
              <a:rPr lang="en-US" sz="1800" dirty="0">
                <a:solidFill>
                  <a:schemeClr val="accent3">
                    <a:lumMod val="25000"/>
                  </a:schemeClr>
                </a:solidFill>
                <a:latin typeface="Abadi" panose="020B0604020104020204" pitchFamily="34" charset="0"/>
              </a:rPr>
              <a:t>A slider was added to enable selection of payload mass ranges</a:t>
            </a:r>
          </a:p>
          <a:p>
            <a:pPr>
              <a:lnSpc>
                <a:spcPct val="100000"/>
              </a:lnSpc>
              <a:spcBef>
                <a:spcPts val="0"/>
              </a:spcBef>
            </a:pPr>
            <a:r>
              <a:rPr lang="en-US" sz="1800" dirty="0">
                <a:solidFill>
                  <a:schemeClr val="accent3">
                    <a:lumMod val="25000"/>
                  </a:schemeClr>
                </a:solidFill>
                <a:latin typeface="Abadi" panose="020B0604020104020204" pitchFamily="34" charset="0"/>
              </a:rPr>
              <a:t>Scatter graphs were added to show the correlation of payload mass and class of outcome for different booster versions</a:t>
            </a:r>
          </a:p>
          <a:p>
            <a:pPr>
              <a:lnSpc>
                <a:spcPct val="100000"/>
              </a:lnSpc>
              <a:spcBef>
                <a:spcPts val="0"/>
              </a:spcBef>
            </a:pPr>
            <a:endParaRPr lang="en-US" sz="18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1800" dirty="0">
                <a:solidFill>
                  <a:schemeClr val="accent3">
                    <a:lumMod val="25000"/>
                  </a:schemeClr>
                </a:solidFill>
                <a:latin typeface="Abadi" panose="020B0604020104020204" pitchFamily="34" charset="0"/>
              </a:rPr>
              <a:t>Adding dropdown lists, visualisations and a slider has allowed for user friendliness of the dashboard. </a:t>
            </a:r>
          </a:p>
          <a:p>
            <a:pPr marL="0" indent="0">
              <a:lnSpc>
                <a:spcPct val="100000"/>
              </a:lnSpc>
              <a:spcBef>
                <a:spcPts val="0"/>
              </a:spcBef>
              <a:buNone/>
            </a:pPr>
            <a:endParaRPr lang="en-US" sz="2200" b="1" dirty="0">
              <a:solidFill>
                <a:schemeClr val="accent3">
                  <a:lumMod val="25000"/>
                </a:schemeClr>
              </a:solidFill>
              <a:latin typeface="Abadi" panose="020B0604020104020204" pitchFamily="34" charset="0"/>
            </a:endParaRPr>
          </a:p>
          <a:p>
            <a:pPr marL="0" indent="0">
              <a:buNone/>
            </a:pPr>
            <a:r>
              <a:rPr lang="en-GB" sz="1800" dirty="0">
                <a:hlinkClick r:id="rId3"/>
              </a:rPr>
              <a:t>IBM-Data-Science-Capstone/SpaceX - Launch Records Dashboard (2).</a:t>
            </a:r>
            <a:r>
              <a:rPr lang="en-GB" sz="1800" dirty="0" err="1">
                <a:hlinkClick r:id="rId3"/>
              </a:rPr>
              <a:t>ipynb</a:t>
            </a:r>
            <a:r>
              <a:rPr lang="en-GB" sz="1800" dirty="0">
                <a:hlinkClick r:id="rId3"/>
              </a:rPr>
              <a:t> at main · Marsbars65/IBM-Data-Science-Capstone</a:t>
            </a:r>
            <a:endParaRPr lang="en-US" sz="1800"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Plotly Dash</a:t>
            </a:r>
          </a:p>
        </p:txBody>
      </p:sp>
    </p:spTree>
    <p:extLst>
      <p:ext uri="{BB962C8B-B14F-4D97-AF65-F5344CB8AC3E}">
        <p14:creationId xmlns:p14="http://schemas.microsoft.com/office/powerpoint/2010/main" val="334532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5B2FCF1B-0814-1720-25D3-BD34F1E58F9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4AF0B56-BB16-A460-5979-C6C4402B9503}"/>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3600" dirty="0">
                <a:solidFill>
                  <a:srgbClr val="0B49CB"/>
                </a:solidFill>
                <a:latin typeface="Abadi"/>
              </a:rPr>
              <a:t>Predictive Analysis (Classification) - Flowchart</a:t>
            </a:r>
          </a:p>
        </p:txBody>
      </p:sp>
      <p:sp>
        <p:nvSpPr>
          <p:cNvPr id="12" name="Oval 11">
            <a:extLst>
              <a:ext uri="{FF2B5EF4-FFF2-40B4-BE49-F238E27FC236}">
                <a16:creationId xmlns:a16="http://schemas.microsoft.com/office/drawing/2014/main" id="{589D1A1C-3A82-7C98-DBFF-0A04CA0146E8}"/>
              </a:ext>
            </a:extLst>
          </p:cNvPr>
          <p:cNvSpPr/>
          <p:nvPr/>
        </p:nvSpPr>
        <p:spPr>
          <a:xfrm>
            <a:off x="770011" y="1662543"/>
            <a:ext cx="1311564" cy="549049"/>
          </a:xfrm>
          <a:prstGeom prst="ellipse">
            <a:avLst/>
          </a:prstGeom>
          <a:solidFill>
            <a:srgbClr val="C7F2C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r>
              <a:rPr lang="en-GB" sz="1400" dirty="0">
                <a:solidFill>
                  <a:schemeClr val="tx1"/>
                </a:solidFill>
              </a:rPr>
              <a:t>Start</a:t>
            </a:r>
          </a:p>
          <a:p>
            <a:pPr algn="ctr"/>
            <a:endParaRPr lang="en-GB" dirty="0"/>
          </a:p>
        </p:txBody>
      </p:sp>
      <p:sp>
        <p:nvSpPr>
          <p:cNvPr id="13" name="Arrow: Right 12">
            <a:extLst>
              <a:ext uri="{FF2B5EF4-FFF2-40B4-BE49-F238E27FC236}">
                <a16:creationId xmlns:a16="http://schemas.microsoft.com/office/drawing/2014/main" id="{CFB0BFB2-92F2-F1B0-78C7-2954208C4A1E}"/>
              </a:ext>
            </a:extLst>
          </p:cNvPr>
          <p:cNvSpPr/>
          <p:nvPr/>
        </p:nvSpPr>
        <p:spPr>
          <a:xfrm>
            <a:off x="2161308" y="1738487"/>
            <a:ext cx="665019" cy="39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0F756505-8448-3DE0-FA09-32EC793014B4}"/>
              </a:ext>
            </a:extLst>
          </p:cNvPr>
          <p:cNvSpPr/>
          <p:nvPr/>
        </p:nvSpPr>
        <p:spPr>
          <a:xfrm>
            <a:off x="2906060" y="1688453"/>
            <a:ext cx="1958109" cy="690677"/>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Create numpy array from class column in data</a:t>
            </a:r>
          </a:p>
        </p:txBody>
      </p:sp>
      <p:sp>
        <p:nvSpPr>
          <p:cNvPr id="15" name="Arrow: Right 14">
            <a:extLst>
              <a:ext uri="{FF2B5EF4-FFF2-40B4-BE49-F238E27FC236}">
                <a16:creationId xmlns:a16="http://schemas.microsoft.com/office/drawing/2014/main" id="{27D4BE82-B692-ACBB-9368-BDE7C27B7D8B}"/>
              </a:ext>
            </a:extLst>
          </p:cNvPr>
          <p:cNvSpPr/>
          <p:nvPr/>
        </p:nvSpPr>
        <p:spPr>
          <a:xfrm>
            <a:off x="4918644" y="1792618"/>
            <a:ext cx="770010" cy="4164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FC2CB5B2-481B-EF06-65D7-5AF76761FDF2}"/>
              </a:ext>
            </a:extLst>
          </p:cNvPr>
          <p:cNvSpPr/>
          <p:nvPr/>
        </p:nvSpPr>
        <p:spPr>
          <a:xfrm>
            <a:off x="5718532" y="1660101"/>
            <a:ext cx="2530763" cy="747379"/>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Standardise data and assign to the variable X using fit_transform</a:t>
            </a:r>
          </a:p>
        </p:txBody>
      </p:sp>
      <p:sp>
        <p:nvSpPr>
          <p:cNvPr id="17" name="Rectangle: Rounded Corners 16">
            <a:extLst>
              <a:ext uri="{FF2B5EF4-FFF2-40B4-BE49-F238E27FC236}">
                <a16:creationId xmlns:a16="http://schemas.microsoft.com/office/drawing/2014/main" id="{91B67B17-B2F7-822F-5FF7-CC2107B570D1}"/>
              </a:ext>
            </a:extLst>
          </p:cNvPr>
          <p:cNvSpPr/>
          <p:nvPr/>
        </p:nvSpPr>
        <p:spPr>
          <a:xfrm>
            <a:off x="9150385" y="1738487"/>
            <a:ext cx="2540000" cy="711200"/>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Split the data using into training and test sets using train_test_split</a:t>
            </a:r>
          </a:p>
        </p:txBody>
      </p:sp>
      <p:sp>
        <p:nvSpPr>
          <p:cNvPr id="18" name="Arrow: Down 17">
            <a:extLst>
              <a:ext uri="{FF2B5EF4-FFF2-40B4-BE49-F238E27FC236}">
                <a16:creationId xmlns:a16="http://schemas.microsoft.com/office/drawing/2014/main" id="{C408C949-B9BB-4FA9-749F-7C61BFFC734A}"/>
              </a:ext>
            </a:extLst>
          </p:cNvPr>
          <p:cNvSpPr/>
          <p:nvPr/>
        </p:nvSpPr>
        <p:spPr>
          <a:xfrm>
            <a:off x="10206183" y="2519308"/>
            <a:ext cx="295563" cy="6507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Left 18">
            <a:extLst>
              <a:ext uri="{FF2B5EF4-FFF2-40B4-BE49-F238E27FC236}">
                <a16:creationId xmlns:a16="http://schemas.microsoft.com/office/drawing/2014/main" id="{23C35692-41DD-E0C8-98A8-CF2356292F16}"/>
              </a:ext>
            </a:extLst>
          </p:cNvPr>
          <p:cNvSpPr/>
          <p:nvPr/>
        </p:nvSpPr>
        <p:spPr>
          <a:xfrm>
            <a:off x="8296021" y="3399682"/>
            <a:ext cx="900545" cy="3556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9E695CF0-E07B-EBD0-BE54-6C4C58AC59AB}"/>
              </a:ext>
            </a:extLst>
          </p:cNvPr>
          <p:cNvSpPr/>
          <p:nvPr/>
        </p:nvSpPr>
        <p:spPr>
          <a:xfrm>
            <a:off x="9316639" y="3225049"/>
            <a:ext cx="2207491" cy="711200"/>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Create logistic regression, SVC, decision tree and KNN models</a:t>
            </a:r>
          </a:p>
        </p:txBody>
      </p:sp>
      <p:sp>
        <p:nvSpPr>
          <p:cNvPr id="21" name="Arrow: Right 20">
            <a:extLst>
              <a:ext uri="{FF2B5EF4-FFF2-40B4-BE49-F238E27FC236}">
                <a16:creationId xmlns:a16="http://schemas.microsoft.com/office/drawing/2014/main" id="{10B6DEFF-1E38-B579-0612-C43969D3B68E}"/>
              </a:ext>
            </a:extLst>
          </p:cNvPr>
          <p:cNvSpPr/>
          <p:nvPr/>
        </p:nvSpPr>
        <p:spPr>
          <a:xfrm>
            <a:off x="8296021" y="1822387"/>
            <a:ext cx="807638" cy="401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9A741754-6242-B680-33DC-1D81F7AE15CD}"/>
              </a:ext>
            </a:extLst>
          </p:cNvPr>
          <p:cNvSpPr/>
          <p:nvPr/>
        </p:nvSpPr>
        <p:spPr>
          <a:xfrm>
            <a:off x="5449455" y="3302957"/>
            <a:ext cx="2726493" cy="633292"/>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Create a grid search object for each of the models to find the best parameters</a:t>
            </a:r>
          </a:p>
        </p:txBody>
      </p:sp>
      <p:sp>
        <p:nvSpPr>
          <p:cNvPr id="23" name="Rectangle: Rounded Corners 22">
            <a:extLst>
              <a:ext uri="{FF2B5EF4-FFF2-40B4-BE49-F238E27FC236}">
                <a16:creationId xmlns:a16="http://schemas.microsoft.com/office/drawing/2014/main" id="{2ED05BCB-4E02-A04F-44B8-359E8B757F74}"/>
              </a:ext>
            </a:extLst>
          </p:cNvPr>
          <p:cNvSpPr/>
          <p:nvPr/>
        </p:nvSpPr>
        <p:spPr>
          <a:xfrm>
            <a:off x="1958110" y="3302957"/>
            <a:ext cx="2332182" cy="711200"/>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Calculate the accuracy of each model on the test data using the method score</a:t>
            </a:r>
          </a:p>
        </p:txBody>
      </p:sp>
      <p:sp>
        <p:nvSpPr>
          <p:cNvPr id="24" name="Arrow: Left 23">
            <a:extLst>
              <a:ext uri="{FF2B5EF4-FFF2-40B4-BE49-F238E27FC236}">
                <a16:creationId xmlns:a16="http://schemas.microsoft.com/office/drawing/2014/main" id="{93166933-75F4-B048-6795-F8496B180992}"/>
              </a:ext>
            </a:extLst>
          </p:cNvPr>
          <p:cNvSpPr/>
          <p:nvPr/>
        </p:nvSpPr>
        <p:spPr>
          <a:xfrm>
            <a:off x="4479164" y="3429000"/>
            <a:ext cx="770010" cy="32628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C0E5D46F-9D8C-FF3F-1699-0FD75EF458D7}"/>
              </a:ext>
            </a:extLst>
          </p:cNvPr>
          <p:cNvSpPr/>
          <p:nvPr/>
        </p:nvSpPr>
        <p:spPr>
          <a:xfrm>
            <a:off x="2641600" y="4110182"/>
            <a:ext cx="310179" cy="8035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FF61E7D7-9BC8-A6C7-9257-D759B304BDD4}"/>
              </a:ext>
            </a:extLst>
          </p:cNvPr>
          <p:cNvSpPr/>
          <p:nvPr/>
        </p:nvSpPr>
        <p:spPr>
          <a:xfrm>
            <a:off x="1874983" y="5015345"/>
            <a:ext cx="2415310" cy="637310"/>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Plot the confusion matrices for each of the models</a:t>
            </a:r>
          </a:p>
        </p:txBody>
      </p:sp>
      <p:sp>
        <p:nvSpPr>
          <p:cNvPr id="27" name="Arrow: Right 26">
            <a:extLst>
              <a:ext uri="{FF2B5EF4-FFF2-40B4-BE49-F238E27FC236}">
                <a16:creationId xmlns:a16="http://schemas.microsoft.com/office/drawing/2014/main" id="{D43F392A-C007-F4A6-D324-CC84AA7FBB79}"/>
              </a:ext>
            </a:extLst>
          </p:cNvPr>
          <p:cNvSpPr/>
          <p:nvPr/>
        </p:nvSpPr>
        <p:spPr>
          <a:xfrm>
            <a:off x="4389247" y="5169547"/>
            <a:ext cx="986318" cy="3509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DA0F82FD-CBDE-0087-70FE-6516930D3A16}"/>
              </a:ext>
            </a:extLst>
          </p:cNvPr>
          <p:cNvSpPr/>
          <p:nvPr/>
        </p:nvSpPr>
        <p:spPr>
          <a:xfrm>
            <a:off x="5419101" y="4960310"/>
            <a:ext cx="2836511" cy="747379"/>
          </a:xfrm>
          <a:prstGeom prst="roundRect">
            <a:avLst/>
          </a:prstGeom>
          <a:solidFill>
            <a:srgbClr val="D9E8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Determine the best model by comparing the accuracy scores and confusion matrices of the models</a:t>
            </a:r>
          </a:p>
        </p:txBody>
      </p:sp>
      <p:sp>
        <p:nvSpPr>
          <p:cNvPr id="30" name="Arrow: Right 29">
            <a:extLst>
              <a:ext uri="{FF2B5EF4-FFF2-40B4-BE49-F238E27FC236}">
                <a16:creationId xmlns:a16="http://schemas.microsoft.com/office/drawing/2014/main" id="{090D425A-0E98-9754-AEED-55776D00FC30}"/>
              </a:ext>
            </a:extLst>
          </p:cNvPr>
          <p:cNvSpPr/>
          <p:nvPr/>
        </p:nvSpPr>
        <p:spPr>
          <a:xfrm>
            <a:off x="8423563" y="5169547"/>
            <a:ext cx="1043709" cy="318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1E122E99-EC5B-A26E-7145-C2EEBA432A79}"/>
              </a:ext>
            </a:extLst>
          </p:cNvPr>
          <p:cNvSpPr/>
          <p:nvPr/>
        </p:nvSpPr>
        <p:spPr>
          <a:xfrm>
            <a:off x="9688945" y="5169547"/>
            <a:ext cx="1191491" cy="401638"/>
          </a:xfrm>
          <a:prstGeom prst="ellipse">
            <a:avLst/>
          </a:prstGeom>
          <a:solidFill>
            <a:srgbClr val="C7F2C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End</a:t>
            </a:r>
          </a:p>
        </p:txBody>
      </p:sp>
      <p:sp>
        <p:nvSpPr>
          <p:cNvPr id="33" name="TextBox 32">
            <a:extLst>
              <a:ext uri="{FF2B5EF4-FFF2-40B4-BE49-F238E27FC236}">
                <a16:creationId xmlns:a16="http://schemas.microsoft.com/office/drawing/2014/main" id="{3DD1BDD0-1C9C-60E2-CE55-4BA052D3610A}"/>
              </a:ext>
            </a:extLst>
          </p:cNvPr>
          <p:cNvSpPr txBox="1"/>
          <p:nvPr/>
        </p:nvSpPr>
        <p:spPr>
          <a:xfrm>
            <a:off x="637309" y="5869091"/>
            <a:ext cx="10648302" cy="646331"/>
          </a:xfrm>
          <a:prstGeom prst="rect">
            <a:avLst/>
          </a:prstGeom>
          <a:noFill/>
        </p:spPr>
        <p:txBody>
          <a:bodyPr wrap="square">
            <a:spAutoFit/>
          </a:bodyPr>
          <a:lstStyle/>
          <a:p>
            <a:r>
              <a:rPr lang="en-GB" dirty="0">
                <a:hlinkClick r:id="rId3"/>
              </a:rPr>
              <a:t>IBM-Data-Science-Capstone/</a:t>
            </a:r>
            <a:r>
              <a:rPr lang="en-GB" dirty="0" err="1">
                <a:hlinkClick r:id="rId3"/>
              </a:rPr>
              <a:t>SpaceX_Machine</a:t>
            </a:r>
            <a:r>
              <a:rPr lang="en-GB" dirty="0">
                <a:hlinkClick r:id="rId3"/>
              </a:rPr>
              <a:t> Learning Prediction_Part_5 (3).</a:t>
            </a:r>
            <a:r>
              <a:rPr lang="en-GB" dirty="0" err="1">
                <a:hlinkClick r:id="rId3"/>
              </a:rPr>
              <a:t>ipynb</a:t>
            </a:r>
            <a:r>
              <a:rPr lang="en-GB" dirty="0">
                <a:hlinkClick r:id="rId3"/>
              </a:rPr>
              <a:t> at main · Marsbars65/IBM-Data-Science-Capstone</a:t>
            </a:r>
            <a:endParaRPr lang="en-GB" dirty="0"/>
          </a:p>
        </p:txBody>
      </p:sp>
    </p:spTree>
    <p:extLst>
      <p:ext uri="{BB962C8B-B14F-4D97-AF65-F5344CB8AC3E}">
        <p14:creationId xmlns:p14="http://schemas.microsoft.com/office/powerpoint/2010/main" val="307375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lvl="1"/>
            <a:endParaRPr lang="en-US" sz="1800"/>
          </a:p>
          <a:p>
            <a:pPr marL="457200" lvl="1" indent="0">
              <a:buNone/>
            </a:pPr>
            <a:endParaRPr lang="en-US" sz="180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49C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463A2F-FCE8-B42D-2B27-44B579C6CD73}"/>
              </a:ext>
            </a:extLst>
          </p:cNvPr>
          <p:cNvSpPr txBox="1"/>
          <p:nvPr/>
        </p:nvSpPr>
        <p:spPr>
          <a:xfrm>
            <a:off x="2873828" y="2598003"/>
            <a:ext cx="6326156" cy="830997"/>
          </a:xfrm>
          <a:prstGeom prst="rect">
            <a:avLst/>
          </a:prstGeom>
          <a:noFill/>
        </p:spPr>
        <p:txBody>
          <a:bodyPr wrap="square" rtlCol="0">
            <a:spAutoFit/>
          </a:bodyPr>
          <a:lstStyle/>
          <a:p>
            <a:r>
              <a:rPr lang="en-GB" sz="4800" dirty="0">
                <a:solidFill>
                  <a:schemeClr val="bg1"/>
                </a:solidFill>
                <a:latin typeface="Abadi" panose="020B0604020104020204" pitchFamily="34" charset="0"/>
              </a:rPr>
              <a:t>EDA with Visualisation</a:t>
            </a:r>
          </a:p>
        </p:txBody>
      </p:sp>
    </p:spTree>
    <p:extLst>
      <p:ext uri="{BB962C8B-B14F-4D97-AF65-F5344CB8AC3E}">
        <p14:creationId xmlns:p14="http://schemas.microsoft.com/office/powerpoint/2010/main" val="2974222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695325" y="1376363"/>
            <a:ext cx="11496675" cy="5173662"/>
          </a:xfrm>
          <a:prstGeom prst="rect">
            <a:avLst/>
          </a:prstGeom>
        </p:spPr>
        <p:txBody>
          <a:bodyPr>
            <a:normAutofit/>
          </a:bodyPr>
          <a:lstStyle/>
          <a:p>
            <a:pPr marL="0" indent="0">
              <a:lnSpc>
                <a:spcPct val="100000"/>
              </a:lnSpc>
              <a:spcBef>
                <a:spcPts val="1400"/>
              </a:spcBef>
              <a:buNone/>
            </a:pPr>
            <a:r>
              <a:rPr lang="en-CA" sz="2200" dirty="0">
                <a:solidFill>
                  <a:schemeClr val="accent3">
                    <a:lumMod val="25000"/>
                  </a:schemeClr>
                </a:solidFill>
                <a:latin typeface="Abadi" panose="020B0604020104020204" pitchFamily="34" charset="0"/>
              </a:rPr>
              <a:t>Scatter plot of Flight Number vs. Launch Site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GB" sz="2000" dirty="0">
              <a:latin typeface="Abadi" panose="020B0604020104020204" pitchFamily="34" charset="0"/>
            </a:endParaRPr>
          </a:p>
          <a:p>
            <a:pPr>
              <a:lnSpc>
                <a:spcPct val="110000"/>
              </a:lnSpc>
              <a:spcBef>
                <a:spcPts val="0"/>
              </a:spcBef>
            </a:pPr>
            <a:r>
              <a:rPr lang="en-GB" sz="2000" dirty="0">
                <a:latin typeface="Abadi" panose="020B0604020104020204" pitchFamily="34" charset="0"/>
              </a:rPr>
              <a:t>The majority of flights came from CCAFS SLC 40 launch site. The least number of flights was from VAFB SLC 4E. </a:t>
            </a:r>
          </a:p>
          <a:p>
            <a:pPr>
              <a:lnSpc>
                <a:spcPct val="110000"/>
              </a:lnSpc>
              <a:spcBef>
                <a:spcPts val="0"/>
              </a:spcBef>
            </a:pPr>
            <a:r>
              <a:rPr lang="en-GB" sz="2000" dirty="0">
                <a:latin typeface="Abadi" panose="020B0604020104020204" pitchFamily="34" charset="0"/>
              </a:rPr>
              <a:t>The number of successes appears to outnumber the number of failures for each launch site.</a:t>
            </a:r>
          </a:p>
          <a:p>
            <a:pPr>
              <a:lnSpc>
                <a:spcPct val="110000"/>
              </a:lnSpc>
              <a:spcBef>
                <a:spcPts val="0"/>
              </a:spcBef>
            </a:pPr>
            <a:r>
              <a:rPr lang="en-GB" sz="2000" dirty="0">
                <a:latin typeface="Abadi" panose="020B0604020104020204" pitchFamily="34" charset="0"/>
              </a:rPr>
              <a:t>The earliest flights were all unsuccessful</a:t>
            </a:r>
          </a:p>
          <a:p>
            <a:pPr>
              <a:lnSpc>
                <a:spcPct val="110000"/>
              </a:lnSpc>
              <a:spcBef>
                <a:spcPts val="0"/>
              </a:spcBef>
            </a:pPr>
            <a:r>
              <a:rPr lang="en-GB" sz="2000" dirty="0">
                <a:latin typeface="Abadi" panose="020B0604020104020204" pitchFamily="34" charset="0"/>
              </a:rPr>
              <a:t>The highest success rate is from the VAFB SLC 4E launch site, however there are less flights </a:t>
            </a:r>
          </a:p>
          <a:p>
            <a:pPr>
              <a:lnSpc>
                <a:spcPct val="110000"/>
              </a:lnSpc>
              <a:spcBef>
                <a:spcPts val="0"/>
              </a:spcBef>
            </a:pPr>
            <a:r>
              <a:rPr lang="en-GB" sz="2000" dirty="0">
                <a:latin typeface="Abadi" panose="020B0604020104020204" pitchFamily="34" charset="0"/>
              </a:rPr>
              <a:t>The latest flights have 100% success rate</a:t>
            </a: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544531" y="366894"/>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14" name="Picture 13">
            <a:extLst>
              <a:ext uri="{FF2B5EF4-FFF2-40B4-BE49-F238E27FC236}">
                <a16:creationId xmlns:a16="http://schemas.microsoft.com/office/drawing/2014/main" id="{BB952F9C-F233-07AD-5C5F-4B40426AAF22}"/>
              </a:ext>
            </a:extLst>
          </p:cNvPr>
          <p:cNvPicPr>
            <a:picLocks noChangeAspect="1"/>
          </p:cNvPicPr>
          <p:nvPr/>
        </p:nvPicPr>
        <p:blipFill>
          <a:blip r:embed="rId3"/>
          <a:stretch>
            <a:fillRect/>
          </a:stretch>
        </p:blipFill>
        <p:spPr>
          <a:xfrm>
            <a:off x="723013" y="1850065"/>
            <a:ext cx="11048385" cy="2307265"/>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0" y="1354138"/>
            <a:ext cx="11858625" cy="5259387"/>
          </a:xfrm>
          <a:prstGeom prst="rect">
            <a:avLst/>
          </a:prstGeom>
        </p:spPr>
        <p:txBody>
          <a:bodyPr>
            <a:normAutofit/>
          </a:bodyPr>
          <a:lstStyle/>
          <a:p>
            <a:pPr marL="0" indent="0">
              <a:lnSpc>
                <a:spcPct val="100000"/>
              </a:lnSpc>
              <a:spcBef>
                <a:spcPts val="1400"/>
              </a:spcBef>
              <a:buNone/>
            </a:pPr>
            <a:r>
              <a:rPr lang="en-CA" sz="2200" dirty="0">
                <a:solidFill>
                  <a:schemeClr val="accent3">
                    <a:lumMod val="25000"/>
                  </a:schemeClr>
                </a:solidFill>
                <a:latin typeface="Abadi" panose="020B0604020104020204" pitchFamily="34" charset="0"/>
              </a:rPr>
              <a:t>Scatter plot of Payload vs. Launch Site</a:t>
            </a:r>
          </a:p>
          <a:p>
            <a:pPr marL="0" indent="0">
              <a:lnSpc>
                <a:spcPct val="100000"/>
              </a:lnSpc>
              <a:spcBef>
                <a:spcPts val="1400"/>
              </a:spcBef>
              <a:buNone/>
            </a:pPr>
            <a:endParaRPr lang="en-CA"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CA"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CA"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CA"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CA" sz="2200" dirty="0">
              <a:solidFill>
                <a:schemeClr val="accent3">
                  <a:lumMod val="25000"/>
                </a:schemeClr>
              </a:solidFill>
              <a:latin typeface="Abadi" panose="020B0604020104020204" pitchFamily="34" charset="0"/>
            </a:endParaRPr>
          </a:p>
          <a:p>
            <a:pPr>
              <a:lnSpc>
                <a:spcPct val="110000"/>
              </a:lnSpc>
              <a:spcBef>
                <a:spcPts val="0"/>
              </a:spcBef>
            </a:pPr>
            <a:r>
              <a:rPr lang="en-US" sz="2000" dirty="0">
                <a:solidFill>
                  <a:schemeClr val="accent3">
                    <a:lumMod val="25000"/>
                  </a:schemeClr>
                </a:solidFill>
                <a:latin typeface="Abadi" panose="020B0604020104020204" pitchFamily="34" charset="0"/>
              </a:rPr>
              <a:t>No rockets were launched with a higher payload mass than 10000 from the VAFB-SLC launch site</a:t>
            </a:r>
          </a:p>
          <a:p>
            <a:pPr>
              <a:lnSpc>
                <a:spcPct val="110000"/>
              </a:lnSpc>
              <a:spcBef>
                <a:spcPts val="0"/>
              </a:spcBef>
            </a:pPr>
            <a:r>
              <a:rPr lang="en-US" sz="2000" dirty="0">
                <a:solidFill>
                  <a:schemeClr val="accent3">
                    <a:lumMod val="25000"/>
                  </a:schemeClr>
                </a:solidFill>
                <a:latin typeface="Abadi" panose="020B0604020104020204" pitchFamily="34" charset="0"/>
              </a:rPr>
              <a:t>At payloads higher than approximately 7000kg all launches were successful for the CCAFS_SLC launch site</a:t>
            </a:r>
          </a:p>
          <a:p>
            <a:pPr>
              <a:lnSpc>
                <a:spcPct val="110000"/>
              </a:lnSpc>
              <a:spcBef>
                <a:spcPts val="0"/>
              </a:spcBef>
            </a:pPr>
            <a:r>
              <a:rPr lang="en-US" sz="2000" dirty="0">
                <a:solidFill>
                  <a:schemeClr val="accent3">
                    <a:lumMod val="25000"/>
                  </a:schemeClr>
                </a:solidFill>
                <a:latin typeface="Abadi" panose="020B0604020104020204" pitchFamily="34" charset="0"/>
              </a:rPr>
              <a:t>Most of the launches with a higher payload than 7000kg were successful</a:t>
            </a:r>
          </a:p>
          <a:p>
            <a:pPr>
              <a:lnSpc>
                <a:spcPct val="110000"/>
              </a:lnSpc>
              <a:spcBef>
                <a:spcPts val="0"/>
              </a:spcBef>
            </a:pPr>
            <a:r>
              <a:rPr lang="en-US" sz="2000" dirty="0">
                <a:solidFill>
                  <a:schemeClr val="accent3">
                    <a:lumMod val="25000"/>
                  </a:schemeClr>
                </a:solidFill>
                <a:latin typeface="Abadi" panose="020B0604020104020204" pitchFamily="34" charset="0"/>
              </a:rPr>
              <a:t>The KSC LC launch site has the greatest success at lower payloads up to 6000kg</a:t>
            </a:r>
          </a:p>
          <a:p>
            <a:pPr marL="0" indent="0">
              <a:lnSpc>
                <a:spcPct val="110000"/>
              </a:lnSpc>
              <a:spcBef>
                <a:spcPts val="0"/>
              </a:spcBef>
              <a:buNone/>
            </a:pPr>
            <a:endParaRPr lang="en-US" sz="20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a:extLst>
              <a:ext uri="{FF2B5EF4-FFF2-40B4-BE49-F238E27FC236}">
                <a16:creationId xmlns:a16="http://schemas.microsoft.com/office/drawing/2014/main" id="{DAE1978C-5A08-5138-DD32-2927754836C7}"/>
              </a:ext>
            </a:extLst>
          </p:cNvPr>
          <p:cNvPicPr>
            <a:picLocks noChangeAspect="1"/>
          </p:cNvPicPr>
          <p:nvPr/>
        </p:nvPicPr>
        <p:blipFill>
          <a:blip r:embed="rId3"/>
          <a:stretch>
            <a:fillRect/>
          </a:stretch>
        </p:blipFill>
        <p:spPr>
          <a:xfrm>
            <a:off x="329657" y="1976214"/>
            <a:ext cx="11532684" cy="2330463"/>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0" y="1543050"/>
            <a:ext cx="11222038" cy="4776788"/>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Bar chart for the success rate of each orbit type</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Orbits ES-LI, GEO, HEO and SSO had 100% success rate</a:t>
            </a: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Orbit SO had 0% success</a:t>
            </a: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Orbits GTO, ISS, LEO, MEO, PO and VLEO had success rates between 50% and 90%</a:t>
            </a: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2FD37349-4021-229C-C2DB-E1E78831DF31}"/>
              </a:ext>
            </a:extLst>
          </p:cNvPr>
          <p:cNvPicPr>
            <a:picLocks noChangeAspect="1"/>
          </p:cNvPicPr>
          <p:nvPr/>
        </p:nvPicPr>
        <p:blipFill>
          <a:blip r:embed="rId3"/>
          <a:stretch>
            <a:fillRect/>
          </a:stretch>
        </p:blipFill>
        <p:spPr>
          <a:xfrm>
            <a:off x="341744" y="1928380"/>
            <a:ext cx="5521180" cy="2800637"/>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0" y="1457325"/>
            <a:ext cx="11734800" cy="4862513"/>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Scatter plot of Flight number vs. Orbit type</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The later flights in the LEO orbit are all successful therefore there does appear to be a correlation</a:t>
            </a:r>
          </a:p>
          <a:p>
            <a:pPr>
              <a:lnSpc>
                <a:spcPct val="100000"/>
              </a:lnSpc>
              <a:spcBef>
                <a:spcPts val="0"/>
              </a:spcBef>
            </a:pPr>
            <a:r>
              <a:rPr lang="en-US" sz="2000" dirty="0">
                <a:solidFill>
                  <a:schemeClr val="accent3">
                    <a:lumMod val="25000"/>
                  </a:schemeClr>
                </a:solidFill>
                <a:latin typeface="Abadi" panose="020B0604020104020204" pitchFamily="34" charset="0"/>
              </a:rPr>
              <a:t>GTO orbit and number of flights appear to have no or very little correlation</a:t>
            </a: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a:extLst>
              <a:ext uri="{FF2B5EF4-FFF2-40B4-BE49-F238E27FC236}">
                <a16:creationId xmlns:a16="http://schemas.microsoft.com/office/drawing/2014/main" id="{F982D8ED-FFB1-EAE1-78B0-0F3E3DDD10D6}"/>
              </a:ext>
            </a:extLst>
          </p:cNvPr>
          <p:cNvPicPr>
            <a:picLocks noChangeAspect="1"/>
          </p:cNvPicPr>
          <p:nvPr/>
        </p:nvPicPr>
        <p:blipFill>
          <a:blip r:embed="rId3"/>
          <a:stretch>
            <a:fillRect/>
          </a:stretch>
        </p:blipFill>
        <p:spPr>
          <a:xfrm>
            <a:off x="523873" y="1928004"/>
            <a:ext cx="11144253" cy="2207823"/>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0" y="1412875"/>
            <a:ext cx="10618788" cy="4906963"/>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Scatter point of payload vs. orbit type</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000" dirty="0">
                <a:solidFill>
                  <a:schemeClr val="accent3">
                    <a:lumMod val="25000"/>
                  </a:schemeClr>
                </a:solidFill>
                <a:latin typeface="Abadi" panose="020B0604020104020204" pitchFamily="34" charset="0"/>
              </a:rPr>
              <a:t>For LEO, ISS and Polar orbits successful landing rate is greater for heavier payloads</a:t>
            </a:r>
          </a:p>
          <a:p>
            <a:pPr>
              <a:lnSpc>
                <a:spcPct val="100000"/>
              </a:lnSpc>
              <a:spcBef>
                <a:spcPts val="1400"/>
              </a:spcBef>
            </a:pPr>
            <a:r>
              <a:rPr lang="en-US" sz="2000" dirty="0">
                <a:solidFill>
                  <a:schemeClr val="accent3">
                    <a:lumMod val="25000"/>
                  </a:schemeClr>
                </a:solidFill>
                <a:latin typeface="Abadi" panose="020B0604020104020204" pitchFamily="34" charset="0"/>
              </a:rPr>
              <a:t>GTO shows a very mixed successful/failed landing rate and does not appear to be correlated with payload mass</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a:extLst>
              <a:ext uri="{FF2B5EF4-FFF2-40B4-BE49-F238E27FC236}">
                <a16:creationId xmlns:a16="http://schemas.microsoft.com/office/drawing/2014/main" id="{F8A6A525-0D61-F058-602B-F20367184767}"/>
              </a:ext>
            </a:extLst>
          </p:cNvPr>
          <p:cNvPicPr>
            <a:picLocks noChangeAspect="1"/>
          </p:cNvPicPr>
          <p:nvPr/>
        </p:nvPicPr>
        <p:blipFill>
          <a:blip r:embed="rId3"/>
          <a:stretch>
            <a:fillRect/>
          </a:stretch>
        </p:blipFill>
        <p:spPr>
          <a:xfrm>
            <a:off x="912089" y="1939540"/>
            <a:ext cx="10060711" cy="2012629"/>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1435100" y="1487488"/>
            <a:ext cx="10756900" cy="4832350"/>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Line chart of yearly average success rate</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Since 2013 there has been an increase in the success rate </a:t>
            </a:r>
          </a:p>
          <a:p>
            <a:pPr>
              <a:lnSpc>
                <a:spcPct val="100000"/>
              </a:lnSpc>
              <a:spcBef>
                <a:spcPts val="0"/>
              </a:spcBef>
            </a:pPr>
            <a:r>
              <a:rPr lang="en-US" sz="2000" dirty="0">
                <a:solidFill>
                  <a:schemeClr val="accent3">
                    <a:lumMod val="25000"/>
                  </a:schemeClr>
                </a:solidFill>
                <a:latin typeface="Abadi" panose="020B0604020104020204" pitchFamily="34" charset="0"/>
              </a:rPr>
              <a:t>Success rate stabilised from 2014 to 2015 than started to increase</a:t>
            </a:r>
          </a:p>
          <a:p>
            <a:pPr>
              <a:lnSpc>
                <a:spcPct val="100000"/>
              </a:lnSpc>
              <a:spcBef>
                <a:spcPts val="0"/>
              </a:spcBef>
            </a:pPr>
            <a:r>
              <a:rPr lang="en-US" sz="2000" dirty="0">
                <a:solidFill>
                  <a:schemeClr val="accent3">
                    <a:lumMod val="25000"/>
                  </a:schemeClr>
                </a:solidFill>
                <a:latin typeface="Abadi" panose="020B0604020104020204" pitchFamily="34" charset="0"/>
              </a:rPr>
              <a:t>There was a sharp decrease from 2017 to 2018 and another slight decrease from 2019 to 2020</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a:extLst>
              <a:ext uri="{FF2B5EF4-FFF2-40B4-BE49-F238E27FC236}">
                <a16:creationId xmlns:a16="http://schemas.microsoft.com/office/drawing/2014/main" id="{D4AA12A6-4832-FD61-9490-EA8E2B216AF5}"/>
              </a:ext>
            </a:extLst>
          </p:cNvPr>
          <p:cNvPicPr>
            <a:picLocks noChangeAspect="1"/>
          </p:cNvPicPr>
          <p:nvPr/>
        </p:nvPicPr>
        <p:blipFill>
          <a:blip r:embed="rId3"/>
          <a:stretch>
            <a:fillRect/>
          </a:stretch>
        </p:blipFill>
        <p:spPr>
          <a:xfrm>
            <a:off x="880630" y="1909549"/>
            <a:ext cx="5658716" cy="3009042"/>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49C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161B81-439F-91EC-FC17-30990D61C421}"/>
              </a:ext>
            </a:extLst>
          </p:cNvPr>
          <p:cNvSpPr txBox="1"/>
          <p:nvPr/>
        </p:nvSpPr>
        <p:spPr>
          <a:xfrm>
            <a:off x="3685592" y="2444620"/>
            <a:ext cx="4450702" cy="830997"/>
          </a:xfrm>
          <a:prstGeom prst="rect">
            <a:avLst/>
          </a:prstGeom>
          <a:noFill/>
        </p:spPr>
        <p:txBody>
          <a:bodyPr wrap="square" rtlCol="0">
            <a:spAutoFit/>
          </a:bodyPr>
          <a:lstStyle/>
          <a:p>
            <a:r>
              <a:rPr lang="en-GB" sz="4800" dirty="0">
                <a:solidFill>
                  <a:schemeClr val="bg1"/>
                </a:solidFill>
                <a:latin typeface="Abadi" panose="020B0604020104020204" pitchFamily="34" charset="0"/>
              </a:rPr>
              <a:t>EDA with SQL</a:t>
            </a:r>
          </a:p>
        </p:txBody>
      </p:sp>
    </p:spTree>
    <p:extLst>
      <p:ext uri="{BB962C8B-B14F-4D97-AF65-F5344CB8AC3E}">
        <p14:creationId xmlns:p14="http://schemas.microsoft.com/office/powerpoint/2010/main" val="4266302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466850"/>
            <a:ext cx="11179175" cy="5062538"/>
          </a:xfrm>
          <a:prstGeom prst="rect">
            <a:avLst/>
          </a:prstGeom>
        </p:spPr>
        <p:txBody>
          <a:bodyPr>
            <a:normAutofit fontScale="85000" lnSpcReduction="20000"/>
          </a:bodyPr>
          <a:lstStyle/>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6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a:spcBef>
                <a:spcPts val="0"/>
              </a:spcBef>
            </a:pPr>
            <a:endParaRPr lang="en-US" sz="2200" dirty="0">
              <a:solidFill>
                <a:schemeClr val="accent3">
                  <a:lumMod val="25000"/>
                </a:schemeClr>
              </a:solidFill>
              <a:latin typeface="Abadi" panose="020B0604020104020204" pitchFamily="34" charset="0"/>
            </a:endParaRPr>
          </a:p>
          <a:p>
            <a:pPr marL="0" indent="0">
              <a:spcBef>
                <a:spcPts val="0"/>
              </a:spcBef>
              <a:buNone/>
            </a:pPr>
            <a:endParaRPr lang="en-US" sz="2200" dirty="0">
              <a:solidFill>
                <a:schemeClr val="accent3">
                  <a:lumMod val="25000"/>
                </a:schemeClr>
              </a:solidFill>
              <a:latin typeface="Abadi" panose="020B0604020104020204" pitchFamily="34" charset="0"/>
            </a:endParaRPr>
          </a:p>
          <a:p>
            <a:pPr marL="0" indent="0">
              <a:spcBef>
                <a:spcPts val="0"/>
              </a:spcBef>
              <a:buNone/>
            </a:pPr>
            <a:r>
              <a:rPr lang="en-US" sz="2400" dirty="0">
                <a:solidFill>
                  <a:schemeClr val="accent3">
                    <a:lumMod val="25000"/>
                  </a:schemeClr>
                </a:solidFill>
                <a:latin typeface="Abadi" panose="020B0604020104020204" pitchFamily="34" charset="0"/>
              </a:rPr>
              <a:t> </a:t>
            </a:r>
          </a:p>
          <a:p>
            <a:pPr marL="0" indent="0">
              <a:spcBef>
                <a:spcPts val="0"/>
              </a:spcBef>
              <a:buNone/>
            </a:pPr>
            <a:r>
              <a:rPr lang="en-US" sz="2600" dirty="0">
                <a:solidFill>
                  <a:schemeClr val="accent3">
                    <a:lumMod val="25000"/>
                  </a:schemeClr>
                </a:solidFill>
                <a:latin typeface="Abadi" panose="020B0604020104020204" pitchFamily="34" charset="0"/>
              </a:rPr>
              <a:t>Explanation</a:t>
            </a:r>
          </a:p>
          <a:p>
            <a:pPr marL="0" indent="0">
              <a:spcBef>
                <a:spcPts val="0"/>
              </a:spcBef>
              <a:buNone/>
            </a:pPr>
            <a:endParaRPr lang="en-US" sz="2600" dirty="0">
              <a:solidFill>
                <a:schemeClr val="accent3">
                  <a:lumMod val="25000"/>
                </a:schemeClr>
              </a:solidFill>
              <a:latin typeface="Abadi" panose="020B0604020104020204" pitchFamily="34" charset="0"/>
            </a:endParaRPr>
          </a:p>
          <a:p>
            <a:pPr marL="0" indent="0">
              <a:spcBef>
                <a:spcPts val="0"/>
              </a:spcBef>
              <a:buNone/>
            </a:pPr>
            <a:r>
              <a:rPr lang="en-US" sz="2600" dirty="0">
                <a:solidFill>
                  <a:schemeClr val="accent3">
                    <a:lumMod val="25000"/>
                  </a:schemeClr>
                </a:solidFill>
                <a:latin typeface="Abadi" panose="020B0604020104020204" pitchFamily="34" charset="0"/>
              </a:rPr>
              <a:t>The SQL query selected launch sites starting with CCA from spacextable DataFrame and displayed them.</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pic>
        <p:nvPicPr>
          <p:cNvPr id="6" name="Picture 5">
            <a:extLst>
              <a:ext uri="{FF2B5EF4-FFF2-40B4-BE49-F238E27FC236}">
                <a16:creationId xmlns:a16="http://schemas.microsoft.com/office/drawing/2014/main" id="{12276C42-20A1-0575-B4AA-98D1694EE391}"/>
              </a:ext>
            </a:extLst>
          </p:cNvPr>
          <p:cNvPicPr>
            <a:picLocks noChangeAspect="1"/>
          </p:cNvPicPr>
          <p:nvPr/>
        </p:nvPicPr>
        <p:blipFill>
          <a:blip r:embed="rId3"/>
          <a:stretch>
            <a:fillRect/>
          </a:stretch>
        </p:blipFill>
        <p:spPr>
          <a:xfrm>
            <a:off x="509511" y="2477523"/>
            <a:ext cx="1890150" cy="2308462"/>
          </a:xfrm>
          <a:prstGeom prst="rect">
            <a:avLst/>
          </a:prstGeom>
        </p:spPr>
      </p:pic>
      <p:pic>
        <p:nvPicPr>
          <p:cNvPr id="9" name="Picture 8">
            <a:extLst>
              <a:ext uri="{FF2B5EF4-FFF2-40B4-BE49-F238E27FC236}">
                <a16:creationId xmlns:a16="http://schemas.microsoft.com/office/drawing/2014/main" id="{8905008F-28D2-2744-533E-D6A8C7FD58E0}"/>
              </a:ext>
            </a:extLst>
          </p:cNvPr>
          <p:cNvPicPr>
            <a:picLocks noChangeAspect="1"/>
          </p:cNvPicPr>
          <p:nvPr/>
        </p:nvPicPr>
        <p:blipFill>
          <a:blip r:embed="rId4"/>
          <a:stretch>
            <a:fillRect/>
          </a:stretch>
        </p:blipFill>
        <p:spPr>
          <a:xfrm>
            <a:off x="509511" y="1565330"/>
            <a:ext cx="4367652" cy="601053"/>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10916157" y="6172461"/>
            <a:ext cx="559063" cy="401638"/>
          </a:xfrm>
        </p:spPr>
        <p:txBody>
          <a:bodyPr/>
          <a:lstStyle/>
          <a:p>
            <a:fld id="{5075537C-CA84-1446-933C-8E9D027F9201}" type="slidenum">
              <a:rPr lang="en-US" smtClean="0"/>
              <a:t>28</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452563"/>
            <a:ext cx="10515600" cy="4867275"/>
          </a:xfrm>
          <a:prstGeom prst="rect">
            <a:avLst/>
          </a:prstGeom>
        </p:spPr>
        <p:txBody>
          <a:bodyPr>
            <a:normAutofit/>
          </a:bodyPr>
          <a:lstStyle/>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Result</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spcBef>
                <a:spcPts val="1400"/>
              </a:spcBef>
              <a:buNone/>
            </a:pPr>
            <a:endParaRPr lang="en-US" sz="2000" dirty="0">
              <a:solidFill>
                <a:schemeClr val="accent3">
                  <a:lumMod val="25000"/>
                </a:schemeClr>
              </a:solidFill>
              <a:latin typeface="Abadi" panose="020B0604020104020204" pitchFamily="34" charset="0"/>
            </a:endParaRPr>
          </a:p>
          <a:p>
            <a:pPr marL="0" indent="0">
              <a:spcBef>
                <a:spcPts val="1400"/>
              </a:spcBef>
              <a:buNone/>
            </a:pPr>
            <a:endParaRPr lang="en-US" sz="2000" dirty="0">
              <a:solidFill>
                <a:schemeClr val="accent3">
                  <a:lumMod val="25000"/>
                </a:schemeClr>
              </a:solidFill>
              <a:latin typeface="Abadi" panose="020B0604020104020204" pitchFamily="34" charset="0"/>
            </a:endParaRPr>
          </a:p>
          <a:p>
            <a:pPr marL="0" indent="0">
              <a:spcBef>
                <a:spcPts val="0"/>
              </a:spcBef>
              <a:buNone/>
            </a:pPr>
            <a:r>
              <a:rPr lang="en-US" sz="2000" dirty="0">
                <a:solidFill>
                  <a:schemeClr val="accent3">
                    <a:lumMod val="25000"/>
                  </a:schemeClr>
                </a:solidFill>
                <a:latin typeface="Abadi" panose="020B0604020104020204" pitchFamily="34" charset="0"/>
              </a:rPr>
              <a:t>Explanation</a:t>
            </a:r>
          </a:p>
          <a:p>
            <a:pPr marL="0" indent="0">
              <a:spcBef>
                <a:spcPts val="0"/>
              </a:spcBef>
              <a:buNone/>
            </a:pPr>
            <a:endParaRPr lang="en-US" sz="2000" dirty="0">
              <a:solidFill>
                <a:schemeClr val="accent3">
                  <a:lumMod val="25000"/>
                </a:schemeClr>
              </a:solidFill>
              <a:latin typeface="Abadi" panose="020B0604020104020204" pitchFamily="34" charset="0"/>
            </a:endParaRPr>
          </a:p>
          <a:p>
            <a:pPr marL="0" indent="0">
              <a:spcBef>
                <a:spcPts val="0"/>
              </a:spcBef>
              <a:buNone/>
            </a:pPr>
            <a:r>
              <a:rPr lang="en-US" sz="2000" dirty="0">
                <a:solidFill>
                  <a:schemeClr val="accent3">
                    <a:lumMod val="25000"/>
                  </a:schemeClr>
                </a:solidFill>
                <a:latin typeface="Abadi" panose="020B0604020104020204" pitchFamily="34" charset="0"/>
              </a:rPr>
              <a:t>The SQL query selected launch sites starting with CCA from spacextable DataFrame and displayed them.</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12" name="Picture 11">
            <a:extLst>
              <a:ext uri="{FF2B5EF4-FFF2-40B4-BE49-F238E27FC236}">
                <a16:creationId xmlns:a16="http://schemas.microsoft.com/office/drawing/2014/main" id="{6B582C77-FE4C-B9E9-8745-4776FD0A6AEC}"/>
              </a:ext>
            </a:extLst>
          </p:cNvPr>
          <p:cNvPicPr>
            <a:picLocks noChangeAspect="1"/>
          </p:cNvPicPr>
          <p:nvPr/>
        </p:nvPicPr>
        <p:blipFill>
          <a:blip r:embed="rId3"/>
          <a:stretch>
            <a:fillRect/>
          </a:stretch>
        </p:blipFill>
        <p:spPr>
          <a:xfrm>
            <a:off x="827665" y="1740953"/>
            <a:ext cx="4697916" cy="600075"/>
          </a:xfrm>
          <a:prstGeom prst="rect">
            <a:avLst/>
          </a:prstGeom>
        </p:spPr>
      </p:pic>
      <p:pic>
        <p:nvPicPr>
          <p:cNvPr id="14" name="Picture 13">
            <a:extLst>
              <a:ext uri="{FF2B5EF4-FFF2-40B4-BE49-F238E27FC236}">
                <a16:creationId xmlns:a16="http://schemas.microsoft.com/office/drawing/2014/main" id="{0EF610D5-027E-AEBD-F93A-2CFFBD21FD0C}"/>
              </a:ext>
            </a:extLst>
          </p:cNvPr>
          <p:cNvPicPr>
            <a:picLocks noChangeAspect="1"/>
          </p:cNvPicPr>
          <p:nvPr/>
        </p:nvPicPr>
        <p:blipFill>
          <a:blip r:embed="rId4"/>
          <a:stretch>
            <a:fillRect/>
          </a:stretch>
        </p:blipFill>
        <p:spPr>
          <a:xfrm>
            <a:off x="827665" y="2529804"/>
            <a:ext cx="10320626" cy="1580556"/>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825625"/>
            <a:ext cx="9745663" cy="4351338"/>
          </a:xfrm>
          <a:prstGeom prst="rect">
            <a:avLst/>
          </a:prstGeom>
        </p:spPr>
        <p:txBody>
          <a:bodyPr>
            <a:normAutofit/>
          </a:bodyPr>
          <a:lstStyle/>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Explanation</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The query returned the total payload mass only for NASA (CRS) entries in the customer column of the spacextable DataFrame.</a:t>
            </a: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6" name="Picture 5">
            <a:extLst>
              <a:ext uri="{FF2B5EF4-FFF2-40B4-BE49-F238E27FC236}">
                <a16:creationId xmlns:a16="http://schemas.microsoft.com/office/drawing/2014/main" id="{98A3357B-B7AC-FECF-DFC6-F96BA2AE2B95}"/>
              </a:ext>
            </a:extLst>
          </p:cNvPr>
          <p:cNvPicPr>
            <a:picLocks noChangeAspect="1"/>
          </p:cNvPicPr>
          <p:nvPr/>
        </p:nvPicPr>
        <p:blipFill>
          <a:blip r:embed="rId3"/>
          <a:stretch>
            <a:fillRect/>
          </a:stretch>
        </p:blipFill>
        <p:spPr>
          <a:xfrm>
            <a:off x="770011" y="1423317"/>
            <a:ext cx="9560861" cy="614103"/>
          </a:xfrm>
          <a:prstGeom prst="rect">
            <a:avLst/>
          </a:prstGeom>
        </p:spPr>
      </p:pic>
      <p:pic>
        <p:nvPicPr>
          <p:cNvPr id="8" name="Picture 7">
            <a:extLst>
              <a:ext uri="{FF2B5EF4-FFF2-40B4-BE49-F238E27FC236}">
                <a16:creationId xmlns:a16="http://schemas.microsoft.com/office/drawing/2014/main" id="{089105B1-CB28-DBBD-66EA-201504A4D6AD}"/>
              </a:ext>
            </a:extLst>
          </p:cNvPr>
          <p:cNvPicPr>
            <a:picLocks noChangeAspect="1"/>
          </p:cNvPicPr>
          <p:nvPr/>
        </p:nvPicPr>
        <p:blipFill>
          <a:blip r:embed="rId4"/>
          <a:stretch>
            <a:fillRect/>
          </a:stretch>
        </p:blipFill>
        <p:spPr>
          <a:xfrm>
            <a:off x="770011" y="2222896"/>
            <a:ext cx="1724025" cy="552450"/>
          </a:xfrm>
          <a:prstGeom prst="rect">
            <a:avLst/>
          </a:prstGeom>
        </p:spPr>
      </p:pic>
    </p:spTree>
    <p:extLst>
      <p:ext uri="{BB962C8B-B14F-4D97-AF65-F5344CB8AC3E}">
        <p14:creationId xmlns:p14="http://schemas.microsoft.com/office/powerpoint/2010/main" val="4010014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301750"/>
            <a:ext cx="9745663" cy="4524375"/>
          </a:xfrm>
          <a:prstGeom prst="rect">
            <a:avLst/>
          </a:prstGeom>
        </p:spPr>
        <p:txBody>
          <a:bodyPr>
            <a:normAutofit/>
          </a:bodyPr>
          <a:lstStyle/>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Explanation</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The query averaged the payload mass only for booster version F9 v1.1 in the booster version column of the spacextable DataFrame.</a:t>
            </a: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pic>
        <p:nvPicPr>
          <p:cNvPr id="6" name="Picture 5">
            <a:extLst>
              <a:ext uri="{FF2B5EF4-FFF2-40B4-BE49-F238E27FC236}">
                <a16:creationId xmlns:a16="http://schemas.microsoft.com/office/drawing/2014/main" id="{C837B609-4D93-B2BB-093E-CAAB32B0B7DE}"/>
              </a:ext>
            </a:extLst>
          </p:cNvPr>
          <p:cNvPicPr>
            <a:picLocks noChangeAspect="1"/>
          </p:cNvPicPr>
          <p:nvPr/>
        </p:nvPicPr>
        <p:blipFill>
          <a:blip r:embed="rId3"/>
          <a:stretch>
            <a:fillRect/>
          </a:stretch>
        </p:blipFill>
        <p:spPr>
          <a:xfrm>
            <a:off x="770011" y="1425286"/>
            <a:ext cx="6896100" cy="542925"/>
          </a:xfrm>
          <a:prstGeom prst="rect">
            <a:avLst/>
          </a:prstGeom>
        </p:spPr>
      </p:pic>
      <p:pic>
        <p:nvPicPr>
          <p:cNvPr id="8" name="Picture 7">
            <a:extLst>
              <a:ext uri="{FF2B5EF4-FFF2-40B4-BE49-F238E27FC236}">
                <a16:creationId xmlns:a16="http://schemas.microsoft.com/office/drawing/2014/main" id="{EF3B5811-F4DB-1581-08D3-DE24F5E1D089}"/>
              </a:ext>
            </a:extLst>
          </p:cNvPr>
          <p:cNvPicPr>
            <a:picLocks noChangeAspect="1"/>
          </p:cNvPicPr>
          <p:nvPr/>
        </p:nvPicPr>
        <p:blipFill>
          <a:blip r:embed="rId4"/>
          <a:stretch>
            <a:fillRect/>
          </a:stretch>
        </p:blipFill>
        <p:spPr>
          <a:xfrm>
            <a:off x="770009" y="2150023"/>
            <a:ext cx="1866900" cy="600075"/>
          </a:xfrm>
          <a:prstGeom prst="rect">
            <a:avLst/>
          </a:prstGeom>
        </p:spPr>
      </p:pic>
    </p:spTree>
    <p:extLst>
      <p:ext uri="{BB962C8B-B14F-4D97-AF65-F5344CB8AC3E}">
        <p14:creationId xmlns:p14="http://schemas.microsoft.com/office/powerpoint/2010/main" val="2735560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493838"/>
            <a:ext cx="9745663" cy="4351337"/>
          </a:xfrm>
          <a:prstGeom prst="rect">
            <a:avLst/>
          </a:prstGeom>
        </p:spPr>
        <p:txBody>
          <a:bodyPr lIns="91440" tIns="45720" rIns="91440" bIns="45720" anchor="t">
            <a:normAutofit/>
          </a:bodyPr>
          <a:lstStyle/>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000" dirty="0">
              <a:solidFill>
                <a:schemeClr val="accent3">
                  <a:lumMod val="25000"/>
                </a:schemeClr>
              </a:solidFill>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Explanation</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The query selected the minimum date or very first date from the landing outcome column where success was on ground pad.</a:t>
            </a:r>
          </a:p>
          <a:p>
            <a:pPr marL="0" indent="0">
              <a:lnSpc>
                <a:spcPct val="100000"/>
              </a:lnSpc>
              <a:spcBef>
                <a:spcPts val="1400"/>
              </a:spcBef>
              <a:buNone/>
            </a:pPr>
            <a:endParaRPr lang="en-US" dirty="0">
              <a:solidFill>
                <a:schemeClr val="accent3">
                  <a:lumMod val="25000"/>
                </a:schemeClr>
              </a:solidFill>
            </a:endParaRP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pic>
        <p:nvPicPr>
          <p:cNvPr id="6" name="Picture 5">
            <a:extLst>
              <a:ext uri="{FF2B5EF4-FFF2-40B4-BE49-F238E27FC236}">
                <a16:creationId xmlns:a16="http://schemas.microsoft.com/office/drawing/2014/main" id="{7B4AE97C-8BD3-299E-ED0B-F93975CB0C0F}"/>
              </a:ext>
            </a:extLst>
          </p:cNvPr>
          <p:cNvPicPr>
            <a:picLocks noChangeAspect="1"/>
          </p:cNvPicPr>
          <p:nvPr/>
        </p:nvPicPr>
        <p:blipFill>
          <a:blip r:embed="rId3"/>
          <a:stretch>
            <a:fillRect/>
          </a:stretch>
        </p:blipFill>
        <p:spPr>
          <a:xfrm>
            <a:off x="856384" y="1576758"/>
            <a:ext cx="6877050" cy="838200"/>
          </a:xfrm>
          <a:prstGeom prst="rect">
            <a:avLst/>
          </a:prstGeom>
        </p:spPr>
      </p:pic>
      <p:pic>
        <p:nvPicPr>
          <p:cNvPr id="8" name="Picture 7">
            <a:extLst>
              <a:ext uri="{FF2B5EF4-FFF2-40B4-BE49-F238E27FC236}">
                <a16:creationId xmlns:a16="http://schemas.microsoft.com/office/drawing/2014/main" id="{445FD096-9F50-1757-068E-3FBEEC506949}"/>
              </a:ext>
            </a:extLst>
          </p:cNvPr>
          <p:cNvPicPr>
            <a:picLocks noChangeAspect="1"/>
          </p:cNvPicPr>
          <p:nvPr/>
        </p:nvPicPr>
        <p:blipFill>
          <a:blip r:embed="rId4"/>
          <a:stretch>
            <a:fillRect/>
          </a:stretch>
        </p:blipFill>
        <p:spPr>
          <a:xfrm>
            <a:off x="856384" y="2511934"/>
            <a:ext cx="1123950" cy="581025"/>
          </a:xfrm>
          <a:prstGeom prst="rect">
            <a:avLst/>
          </a:prstGeom>
        </p:spPr>
      </p:pic>
    </p:spTree>
    <p:extLst>
      <p:ext uri="{BB962C8B-B14F-4D97-AF65-F5344CB8AC3E}">
        <p14:creationId xmlns:p14="http://schemas.microsoft.com/office/powerpoint/2010/main" val="1434679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397000"/>
            <a:ext cx="10590213" cy="4922838"/>
          </a:xfrm>
          <a:prstGeom prst="rect">
            <a:avLst/>
          </a:prstGeom>
        </p:spPr>
        <p:txBody>
          <a:bodyPr lIns="91440" tIns="45720" rIns="91440" bIns="45720" anchor="t">
            <a:normAutofit/>
          </a:bodyPr>
          <a:lstStyle/>
          <a:p>
            <a:pPr marL="0" indent="0">
              <a:lnSpc>
                <a:spcPct val="100000"/>
              </a:lnSpc>
              <a:spcBef>
                <a:spcPts val="0"/>
              </a:spcBef>
              <a:buNone/>
            </a:pPr>
            <a:endParaRPr lang="en-US" sz="2000" dirty="0">
              <a:solidFill>
                <a:schemeClr val="accent3">
                  <a:lumMod val="25000"/>
                </a:schemeClr>
              </a:solidFill>
              <a:latin typeface="Abadi"/>
            </a:endParaRPr>
          </a:p>
          <a:p>
            <a:pPr marL="0" indent="0">
              <a:lnSpc>
                <a:spcPct val="100000"/>
              </a:lnSpc>
              <a:spcBef>
                <a:spcPts val="0"/>
              </a:spcBef>
              <a:buNone/>
            </a:pPr>
            <a:endParaRPr lang="en-US" sz="2000" dirty="0">
              <a:solidFill>
                <a:schemeClr val="accent3">
                  <a:lumMod val="25000"/>
                </a:schemeClr>
              </a:solidFill>
              <a:latin typeface="Abadi"/>
            </a:endParaRPr>
          </a:p>
          <a:p>
            <a:pPr marL="0" indent="0">
              <a:lnSpc>
                <a:spcPct val="100000"/>
              </a:lnSpc>
              <a:spcBef>
                <a:spcPts val="0"/>
              </a:spcBef>
              <a:buNone/>
            </a:pPr>
            <a:endParaRPr lang="en-US" sz="2000" dirty="0">
              <a:solidFill>
                <a:schemeClr val="accent3">
                  <a:lumMod val="25000"/>
                </a:schemeClr>
              </a:solidFill>
              <a:latin typeface="Abadi"/>
            </a:endParaRPr>
          </a:p>
          <a:p>
            <a:pPr marL="0" indent="0">
              <a:lnSpc>
                <a:spcPct val="100000"/>
              </a:lnSpc>
              <a:spcBef>
                <a:spcPts val="0"/>
              </a:spcBef>
              <a:buNone/>
            </a:pPr>
            <a:endParaRPr lang="en-US" sz="2000" dirty="0">
              <a:solidFill>
                <a:schemeClr val="accent3">
                  <a:lumMod val="25000"/>
                </a:schemeClr>
              </a:solidFill>
              <a:latin typeface="Abadi"/>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Explanation</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The query selected the landing outcome success (drone ship) then limited the result to payload masses between 4000kg and 6000kg.</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pic>
        <p:nvPicPr>
          <p:cNvPr id="3" name="Picture 2">
            <a:extLst>
              <a:ext uri="{FF2B5EF4-FFF2-40B4-BE49-F238E27FC236}">
                <a16:creationId xmlns:a16="http://schemas.microsoft.com/office/drawing/2014/main" id="{EF42D8D4-0E9A-FEE5-277C-9C0BCDE02D2E}"/>
              </a:ext>
            </a:extLst>
          </p:cNvPr>
          <p:cNvPicPr>
            <a:picLocks noChangeAspect="1"/>
          </p:cNvPicPr>
          <p:nvPr/>
        </p:nvPicPr>
        <p:blipFill>
          <a:blip r:embed="rId3"/>
          <a:stretch>
            <a:fillRect/>
          </a:stretch>
        </p:blipFill>
        <p:spPr>
          <a:xfrm>
            <a:off x="908554" y="1430555"/>
            <a:ext cx="7139708" cy="753134"/>
          </a:xfrm>
          <a:prstGeom prst="rect">
            <a:avLst/>
          </a:prstGeom>
        </p:spPr>
      </p:pic>
      <p:pic>
        <p:nvPicPr>
          <p:cNvPr id="7" name="Picture 6">
            <a:extLst>
              <a:ext uri="{FF2B5EF4-FFF2-40B4-BE49-F238E27FC236}">
                <a16:creationId xmlns:a16="http://schemas.microsoft.com/office/drawing/2014/main" id="{016F37C3-9337-128D-86D4-4F2A03EBE289}"/>
              </a:ext>
            </a:extLst>
          </p:cNvPr>
          <p:cNvPicPr>
            <a:picLocks noChangeAspect="1"/>
          </p:cNvPicPr>
          <p:nvPr/>
        </p:nvPicPr>
        <p:blipFill>
          <a:blip r:embed="rId4"/>
          <a:stretch>
            <a:fillRect/>
          </a:stretch>
        </p:blipFill>
        <p:spPr>
          <a:xfrm>
            <a:off x="908554" y="2328033"/>
            <a:ext cx="1390650" cy="1485900"/>
          </a:xfrm>
          <a:prstGeom prst="rect">
            <a:avLst/>
          </a:prstGeom>
        </p:spPr>
      </p:pic>
    </p:spTree>
    <p:extLst>
      <p:ext uri="{BB962C8B-B14F-4D97-AF65-F5344CB8AC3E}">
        <p14:creationId xmlns:p14="http://schemas.microsoft.com/office/powerpoint/2010/main" val="639399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431925"/>
            <a:ext cx="9745663" cy="4745038"/>
          </a:xfrm>
          <a:prstGeom prst="rect">
            <a:avLst/>
          </a:prstGeom>
        </p:spPr>
        <p:txBody>
          <a:bodyPr>
            <a:normAutofit/>
          </a:bodyPr>
          <a:lstStyle/>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Explanation</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r>
              <a:rPr lang="en-US" sz="2000" dirty="0">
                <a:solidFill>
                  <a:schemeClr val="accent3">
                    <a:lumMod val="25000"/>
                  </a:schemeClr>
                </a:solidFill>
                <a:latin typeface="Abadi" panose="020B0604020104020204" pitchFamily="34" charset="0"/>
              </a:rPr>
              <a:t>The query counted the distinct mission outcomes from the spacextable DataFrame then grouped by mission outcome.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pic>
        <p:nvPicPr>
          <p:cNvPr id="6" name="Picture 5">
            <a:extLst>
              <a:ext uri="{FF2B5EF4-FFF2-40B4-BE49-F238E27FC236}">
                <a16:creationId xmlns:a16="http://schemas.microsoft.com/office/drawing/2014/main" id="{C874F4AC-10F3-F998-3D7D-8CA68F608281}"/>
              </a:ext>
            </a:extLst>
          </p:cNvPr>
          <p:cNvPicPr>
            <a:picLocks noChangeAspect="1"/>
          </p:cNvPicPr>
          <p:nvPr/>
        </p:nvPicPr>
        <p:blipFill>
          <a:blip r:embed="rId3"/>
          <a:stretch>
            <a:fillRect/>
          </a:stretch>
        </p:blipFill>
        <p:spPr>
          <a:xfrm>
            <a:off x="770012" y="1496064"/>
            <a:ext cx="6315075" cy="495300"/>
          </a:xfrm>
          <a:prstGeom prst="rect">
            <a:avLst/>
          </a:prstGeom>
        </p:spPr>
      </p:pic>
      <p:pic>
        <p:nvPicPr>
          <p:cNvPr id="8" name="Picture 7">
            <a:extLst>
              <a:ext uri="{FF2B5EF4-FFF2-40B4-BE49-F238E27FC236}">
                <a16:creationId xmlns:a16="http://schemas.microsoft.com/office/drawing/2014/main" id="{A84B6066-1A96-768E-4D8E-F6DBE67EFD36}"/>
              </a:ext>
            </a:extLst>
          </p:cNvPr>
          <p:cNvPicPr>
            <a:picLocks noChangeAspect="1"/>
          </p:cNvPicPr>
          <p:nvPr/>
        </p:nvPicPr>
        <p:blipFill>
          <a:blip r:embed="rId4"/>
          <a:stretch>
            <a:fillRect/>
          </a:stretch>
        </p:blipFill>
        <p:spPr>
          <a:xfrm>
            <a:off x="770012" y="2055792"/>
            <a:ext cx="3478716" cy="1435932"/>
          </a:xfrm>
          <a:prstGeom prst="rect">
            <a:avLst/>
          </a:prstGeom>
        </p:spPr>
      </p:pic>
    </p:spTree>
    <p:extLst>
      <p:ext uri="{BB962C8B-B14F-4D97-AF65-F5344CB8AC3E}">
        <p14:creationId xmlns:p14="http://schemas.microsoft.com/office/powerpoint/2010/main" val="1756972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1503363" y="1381125"/>
            <a:ext cx="10688637" cy="5259388"/>
          </a:xfrm>
          <a:prstGeom prst="rect">
            <a:avLst/>
          </a:prstGeom>
        </p:spPr>
        <p:txBody>
          <a:bodyPr>
            <a:normAutofit/>
          </a:bodyPr>
          <a:lstStyle/>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0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pic>
        <p:nvPicPr>
          <p:cNvPr id="6" name="Picture 5">
            <a:extLst>
              <a:ext uri="{FF2B5EF4-FFF2-40B4-BE49-F238E27FC236}">
                <a16:creationId xmlns:a16="http://schemas.microsoft.com/office/drawing/2014/main" id="{3C36A176-D6B9-5729-63E9-56C829E56A25}"/>
              </a:ext>
            </a:extLst>
          </p:cNvPr>
          <p:cNvPicPr>
            <a:picLocks noChangeAspect="1"/>
          </p:cNvPicPr>
          <p:nvPr/>
        </p:nvPicPr>
        <p:blipFill>
          <a:blip r:embed="rId3"/>
          <a:stretch>
            <a:fillRect/>
          </a:stretch>
        </p:blipFill>
        <p:spPr>
          <a:xfrm>
            <a:off x="827616" y="1460703"/>
            <a:ext cx="4385540" cy="695325"/>
          </a:xfrm>
          <a:prstGeom prst="rect">
            <a:avLst/>
          </a:prstGeom>
        </p:spPr>
      </p:pic>
      <p:pic>
        <p:nvPicPr>
          <p:cNvPr id="8" name="Picture 7">
            <a:extLst>
              <a:ext uri="{FF2B5EF4-FFF2-40B4-BE49-F238E27FC236}">
                <a16:creationId xmlns:a16="http://schemas.microsoft.com/office/drawing/2014/main" id="{C8BF5019-52F7-B7D5-8EEA-9566CE4D2259}"/>
              </a:ext>
            </a:extLst>
          </p:cNvPr>
          <p:cNvPicPr>
            <a:picLocks noChangeAspect="1"/>
          </p:cNvPicPr>
          <p:nvPr/>
        </p:nvPicPr>
        <p:blipFill>
          <a:blip r:embed="rId4"/>
          <a:stretch>
            <a:fillRect/>
          </a:stretch>
        </p:blipFill>
        <p:spPr>
          <a:xfrm>
            <a:off x="827616" y="2235765"/>
            <a:ext cx="2340457" cy="2923479"/>
          </a:xfrm>
          <a:prstGeom prst="rect">
            <a:avLst/>
          </a:prstGeom>
        </p:spPr>
      </p:pic>
      <p:sp>
        <p:nvSpPr>
          <p:cNvPr id="11" name="TextBox 10">
            <a:extLst>
              <a:ext uri="{FF2B5EF4-FFF2-40B4-BE49-F238E27FC236}">
                <a16:creationId xmlns:a16="http://schemas.microsoft.com/office/drawing/2014/main" id="{7A70403B-C353-005E-D6F4-2804B30CA570}"/>
              </a:ext>
            </a:extLst>
          </p:cNvPr>
          <p:cNvSpPr txBox="1"/>
          <p:nvPr/>
        </p:nvSpPr>
        <p:spPr>
          <a:xfrm>
            <a:off x="734028" y="5159244"/>
            <a:ext cx="10723944" cy="1200329"/>
          </a:xfrm>
          <a:prstGeom prst="rect">
            <a:avLst/>
          </a:prstGeom>
          <a:noFill/>
        </p:spPr>
        <p:txBody>
          <a:bodyPr wrap="square">
            <a:spAutoFit/>
          </a:bodyPr>
          <a:lstStyle/>
          <a:p>
            <a:r>
              <a:rPr lang="en-GB" sz="1800" dirty="0">
                <a:latin typeface="Abadi" panose="020B0604020104020204" pitchFamily="34" charset="0"/>
              </a:rPr>
              <a:t>Explanation</a:t>
            </a:r>
          </a:p>
          <a:p>
            <a:endParaRPr lang="en-GB" sz="1800" dirty="0">
              <a:latin typeface="Abadi" panose="020B0604020104020204" pitchFamily="34" charset="0"/>
            </a:endParaRPr>
          </a:p>
          <a:p>
            <a:r>
              <a:rPr lang="en-GB" sz="1800" dirty="0">
                <a:latin typeface="Abadi" panose="020B0604020104020204" pitchFamily="34" charset="0"/>
              </a:rPr>
              <a:t>The query used a subquery and the aggregate function select max to find the booster versions that carried the maximum payload.</a:t>
            </a:r>
          </a:p>
        </p:txBody>
      </p:sp>
    </p:spTree>
    <p:extLst>
      <p:ext uri="{BB962C8B-B14F-4D97-AF65-F5344CB8AC3E}">
        <p14:creationId xmlns:p14="http://schemas.microsoft.com/office/powerpoint/2010/main" val="3566646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35</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797050"/>
            <a:ext cx="10515600" cy="4940300"/>
          </a:xfrm>
          <a:prstGeom prst="rect">
            <a:avLst/>
          </a:prstGeom>
        </p:spPr>
        <p:txBody>
          <a:bodyPr lIns="91440" tIns="45720" rIns="91440" bIns="45720" anchor="t">
            <a:normAutofit/>
          </a:bodyPr>
          <a:lstStyle/>
          <a:p>
            <a:pPr marL="0" indent="0">
              <a:lnSpc>
                <a:spcPct val="100000"/>
              </a:lnSpc>
              <a:spcBef>
                <a:spcPts val="1400"/>
              </a:spcBef>
              <a:buNone/>
            </a:pPr>
            <a:endParaRPr lang="en-US" sz="2000" dirty="0">
              <a:solidFill>
                <a:schemeClr val="accent3">
                  <a:lumMod val="25000"/>
                </a:schemeClr>
              </a:solidFill>
              <a:latin typeface="Abadi"/>
            </a:endParaRPr>
          </a:p>
          <a:p>
            <a:pPr marL="0" indent="0">
              <a:lnSpc>
                <a:spcPct val="100000"/>
              </a:lnSpc>
              <a:spcBef>
                <a:spcPts val="1400"/>
              </a:spcBef>
              <a:buNone/>
            </a:pPr>
            <a:endParaRPr lang="en-US" sz="2000" dirty="0">
              <a:solidFill>
                <a:schemeClr val="accent3">
                  <a:lumMod val="25000"/>
                </a:schemeClr>
              </a:solidFill>
              <a:ea typeface="Calibri"/>
              <a:cs typeface="Calibri"/>
            </a:endParaRPr>
          </a:p>
          <a:p>
            <a:pPr marL="0" indent="0">
              <a:lnSpc>
                <a:spcPct val="100000"/>
              </a:lnSpc>
              <a:spcBef>
                <a:spcPts val="1400"/>
              </a:spcBef>
              <a:buNone/>
            </a:pP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pic>
        <p:nvPicPr>
          <p:cNvPr id="8" name="Picture 7">
            <a:extLst>
              <a:ext uri="{FF2B5EF4-FFF2-40B4-BE49-F238E27FC236}">
                <a16:creationId xmlns:a16="http://schemas.microsoft.com/office/drawing/2014/main" id="{685B0AC1-5007-529A-05B6-21509BED7596}"/>
              </a:ext>
            </a:extLst>
          </p:cNvPr>
          <p:cNvPicPr>
            <a:picLocks noChangeAspect="1"/>
          </p:cNvPicPr>
          <p:nvPr/>
        </p:nvPicPr>
        <p:blipFill>
          <a:blip r:embed="rId3"/>
          <a:srcRect t="8654"/>
          <a:stretch>
            <a:fillRect/>
          </a:stretch>
        </p:blipFill>
        <p:spPr>
          <a:xfrm>
            <a:off x="775301" y="1411446"/>
            <a:ext cx="4499996" cy="2937164"/>
          </a:xfrm>
          <a:prstGeom prst="rect">
            <a:avLst/>
          </a:prstGeom>
        </p:spPr>
      </p:pic>
      <p:pic>
        <p:nvPicPr>
          <p:cNvPr id="10" name="Picture 9">
            <a:extLst>
              <a:ext uri="{FF2B5EF4-FFF2-40B4-BE49-F238E27FC236}">
                <a16:creationId xmlns:a16="http://schemas.microsoft.com/office/drawing/2014/main" id="{E6C6C308-C42E-5F16-E30B-21BF79773E99}"/>
              </a:ext>
            </a:extLst>
          </p:cNvPr>
          <p:cNvPicPr>
            <a:picLocks noChangeAspect="1"/>
          </p:cNvPicPr>
          <p:nvPr/>
        </p:nvPicPr>
        <p:blipFill>
          <a:blip r:embed="rId4"/>
          <a:stretch>
            <a:fillRect/>
          </a:stretch>
        </p:blipFill>
        <p:spPr>
          <a:xfrm>
            <a:off x="906390" y="4462140"/>
            <a:ext cx="4302920" cy="856859"/>
          </a:xfrm>
          <a:prstGeom prst="rect">
            <a:avLst/>
          </a:prstGeom>
        </p:spPr>
      </p:pic>
      <p:sp>
        <p:nvSpPr>
          <p:cNvPr id="11" name="TextBox 10">
            <a:extLst>
              <a:ext uri="{FF2B5EF4-FFF2-40B4-BE49-F238E27FC236}">
                <a16:creationId xmlns:a16="http://schemas.microsoft.com/office/drawing/2014/main" id="{09EADFE4-E0CC-24B2-5FA7-832C6338C055}"/>
              </a:ext>
            </a:extLst>
          </p:cNvPr>
          <p:cNvSpPr txBox="1"/>
          <p:nvPr/>
        </p:nvSpPr>
        <p:spPr>
          <a:xfrm>
            <a:off x="770010" y="5432283"/>
            <a:ext cx="9946338" cy="1231106"/>
          </a:xfrm>
          <a:prstGeom prst="rect">
            <a:avLst/>
          </a:prstGeom>
          <a:noFill/>
        </p:spPr>
        <p:txBody>
          <a:bodyPr wrap="square" rtlCol="0">
            <a:spAutoFit/>
          </a:bodyPr>
          <a:lstStyle/>
          <a:p>
            <a:r>
              <a:rPr lang="en-GB" sz="2000" dirty="0">
                <a:latin typeface="Abadi" panose="020B0604020104020204" pitchFamily="34" charset="0"/>
              </a:rPr>
              <a:t>Explanation</a:t>
            </a:r>
          </a:p>
          <a:p>
            <a:endParaRPr lang="en-GB" sz="1400" dirty="0">
              <a:latin typeface="Abadi" panose="020B0604020104020204" pitchFamily="34" charset="0"/>
            </a:endParaRPr>
          </a:p>
          <a:p>
            <a:r>
              <a:rPr lang="en-GB" sz="2000" dirty="0">
                <a:latin typeface="Abadi" panose="020B0604020104020204" pitchFamily="34" charset="0"/>
              </a:rPr>
              <a:t>The query listed the failed landing outcomes in drone ship, months, booster versions and launch sites for the year 2015.</a:t>
            </a:r>
          </a:p>
        </p:txBody>
      </p:sp>
    </p:spTree>
    <p:extLst>
      <p:ext uri="{BB962C8B-B14F-4D97-AF65-F5344CB8AC3E}">
        <p14:creationId xmlns:p14="http://schemas.microsoft.com/office/powerpoint/2010/main" val="1398439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36</a:t>
            </a:fld>
            <a:endParaRPr lang="en-US" dirty="0"/>
          </a:p>
        </p:txBody>
      </p:sp>
      <p:pic>
        <p:nvPicPr>
          <p:cNvPr id="6" name="Content Placeholder 5">
            <a:extLst>
              <a:ext uri="{FF2B5EF4-FFF2-40B4-BE49-F238E27FC236}">
                <a16:creationId xmlns:a16="http://schemas.microsoft.com/office/drawing/2014/main" id="{10E8185C-EA5F-AB7D-FDAD-1B1726BFCB12}"/>
              </a:ext>
            </a:extLst>
          </p:cNvPr>
          <p:cNvPicPr>
            <a:picLocks noGrp="1" noChangeAspect="1"/>
          </p:cNvPicPr>
          <p:nvPr>
            <p:ph idx="4294967295"/>
          </p:nvPr>
        </p:nvPicPr>
        <p:blipFill>
          <a:blip r:embed="rId3"/>
          <a:stretch>
            <a:fillRect/>
          </a:stretch>
        </p:blipFill>
        <p:spPr>
          <a:xfrm>
            <a:off x="0" y="1347788"/>
            <a:ext cx="8761413" cy="1373187"/>
          </a:xfrm>
          <a:prstGeom prst="rect">
            <a:avLst/>
          </a:prstGeom>
        </p:spPr>
      </p:pic>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pic>
        <p:nvPicPr>
          <p:cNvPr id="8" name="Picture 7">
            <a:extLst>
              <a:ext uri="{FF2B5EF4-FFF2-40B4-BE49-F238E27FC236}">
                <a16:creationId xmlns:a16="http://schemas.microsoft.com/office/drawing/2014/main" id="{6EDEF62D-DD27-2DA9-835C-CFF7F7CB2045}"/>
              </a:ext>
            </a:extLst>
          </p:cNvPr>
          <p:cNvPicPr>
            <a:picLocks noChangeAspect="1"/>
          </p:cNvPicPr>
          <p:nvPr/>
        </p:nvPicPr>
        <p:blipFill>
          <a:blip r:embed="rId4"/>
          <a:stretch>
            <a:fillRect/>
          </a:stretch>
        </p:blipFill>
        <p:spPr>
          <a:xfrm>
            <a:off x="770011" y="2910386"/>
            <a:ext cx="6748389" cy="2428232"/>
          </a:xfrm>
          <a:prstGeom prst="rect">
            <a:avLst/>
          </a:prstGeom>
        </p:spPr>
      </p:pic>
      <p:sp>
        <p:nvSpPr>
          <p:cNvPr id="9" name="TextBox 8">
            <a:extLst>
              <a:ext uri="{FF2B5EF4-FFF2-40B4-BE49-F238E27FC236}">
                <a16:creationId xmlns:a16="http://schemas.microsoft.com/office/drawing/2014/main" id="{E77F5343-3313-0B07-FAB8-A469DF32C302}"/>
              </a:ext>
            </a:extLst>
          </p:cNvPr>
          <p:cNvSpPr txBox="1"/>
          <p:nvPr/>
        </p:nvSpPr>
        <p:spPr>
          <a:xfrm>
            <a:off x="770011" y="5560291"/>
            <a:ext cx="10165844" cy="1231106"/>
          </a:xfrm>
          <a:prstGeom prst="rect">
            <a:avLst/>
          </a:prstGeom>
          <a:noFill/>
        </p:spPr>
        <p:txBody>
          <a:bodyPr wrap="square" rtlCol="0">
            <a:spAutoFit/>
          </a:bodyPr>
          <a:lstStyle/>
          <a:p>
            <a:r>
              <a:rPr lang="en-GB" sz="2000" dirty="0">
                <a:latin typeface="Abadi" panose="020B0604020104020204" pitchFamily="34" charset="0"/>
              </a:rPr>
              <a:t>Explanation</a:t>
            </a:r>
          </a:p>
          <a:p>
            <a:endParaRPr lang="en-GB" sz="1400" dirty="0">
              <a:latin typeface="Abadi" panose="020B0604020104020204" pitchFamily="34" charset="0"/>
            </a:endParaRPr>
          </a:p>
          <a:p>
            <a:r>
              <a:rPr lang="en-GB" sz="2000" dirty="0">
                <a:latin typeface="Abadi" panose="020B0604020104020204" pitchFamily="34" charset="0"/>
              </a:rPr>
              <a:t>Landing outcomes ranked by landing counts between 4</a:t>
            </a:r>
            <a:r>
              <a:rPr lang="en-GB" sz="2000" baseline="30000" dirty="0">
                <a:latin typeface="Abadi" panose="020B0604020104020204" pitchFamily="34" charset="0"/>
              </a:rPr>
              <a:t>th</a:t>
            </a:r>
            <a:r>
              <a:rPr lang="en-GB" sz="2000" dirty="0">
                <a:latin typeface="Abadi" panose="020B0604020104020204" pitchFamily="34" charset="0"/>
              </a:rPr>
              <a:t> of June 2010 and 20</a:t>
            </a:r>
            <a:r>
              <a:rPr lang="en-GB" sz="2000" baseline="30000" dirty="0">
                <a:latin typeface="Abadi" panose="020B0604020104020204" pitchFamily="34" charset="0"/>
              </a:rPr>
              <a:t>th</a:t>
            </a:r>
            <a:r>
              <a:rPr lang="en-GB" sz="2000" dirty="0">
                <a:latin typeface="Abadi" panose="020B0604020104020204" pitchFamily="34" charset="0"/>
              </a:rPr>
              <a:t> of March 2017.</a:t>
            </a:r>
          </a:p>
        </p:txBody>
      </p:sp>
    </p:spTree>
    <p:extLst>
      <p:ext uri="{BB962C8B-B14F-4D97-AF65-F5344CB8AC3E}">
        <p14:creationId xmlns:p14="http://schemas.microsoft.com/office/powerpoint/2010/main" val="3975168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38</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858417" y="1601690"/>
            <a:ext cx="5237583" cy="4627660"/>
          </a:xfrm>
          <a:prstGeom prst="rect">
            <a:avLst/>
          </a:prstGeom>
        </p:spPr>
        <p:txBody>
          <a:bodyPr lIns="91440" tIns="45720" rIns="91440" bIns="45720" anchor="t">
            <a:normAutofit/>
          </a:bodyPr>
          <a:lstStyle/>
          <a:p>
            <a:pPr marL="0" indent="0">
              <a:lnSpc>
                <a:spcPct val="100000"/>
              </a:lnSpc>
              <a:spcBef>
                <a:spcPts val="1400"/>
              </a:spcBef>
              <a:buNone/>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sites’ location markers on a global map</a:t>
            </a:r>
          </a:p>
        </p:txBody>
      </p:sp>
      <p:pic>
        <p:nvPicPr>
          <p:cNvPr id="8" name="Picture 7">
            <a:extLst>
              <a:ext uri="{FF2B5EF4-FFF2-40B4-BE49-F238E27FC236}">
                <a16:creationId xmlns:a16="http://schemas.microsoft.com/office/drawing/2014/main" id="{3ACBF3E0-509A-9265-6CA8-72479AA2E54A}"/>
              </a:ext>
            </a:extLst>
          </p:cNvPr>
          <p:cNvPicPr>
            <a:picLocks noChangeAspect="1"/>
          </p:cNvPicPr>
          <p:nvPr/>
        </p:nvPicPr>
        <p:blipFill>
          <a:blip r:embed="rId3"/>
          <a:stretch>
            <a:fillRect/>
          </a:stretch>
        </p:blipFill>
        <p:spPr>
          <a:xfrm>
            <a:off x="6162072" y="1987452"/>
            <a:ext cx="5767629" cy="3856135"/>
          </a:xfrm>
          <a:prstGeom prst="rect">
            <a:avLst/>
          </a:prstGeom>
        </p:spPr>
      </p:pic>
      <p:sp>
        <p:nvSpPr>
          <p:cNvPr id="9" name="TextBox 8">
            <a:extLst>
              <a:ext uri="{FF2B5EF4-FFF2-40B4-BE49-F238E27FC236}">
                <a16:creationId xmlns:a16="http://schemas.microsoft.com/office/drawing/2014/main" id="{84C58251-467E-97E8-A533-7168B1509269}"/>
              </a:ext>
            </a:extLst>
          </p:cNvPr>
          <p:cNvSpPr txBox="1"/>
          <p:nvPr/>
        </p:nvSpPr>
        <p:spPr>
          <a:xfrm>
            <a:off x="858417" y="1485900"/>
            <a:ext cx="5237583" cy="5570756"/>
          </a:xfrm>
          <a:prstGeom prst="rect">
            <a:avLst/>
          </a:prstGeom>
          <a:noFill/>
        </p:spPr>
        <p:txBody>
          <a:bodyPr wrap="square" rtlCol="0">
            <a:spAutoFit/>
          </a:bodyPr>
          <a:lstStyle/>
          <a:p>
            <a:r>
              <a:rPr lang="en-GB" sz="2000" dirty="0">
                <a:latin typeface="Abadi" panose="020B0604020104020204" pitchFamily="34" charset="0"/>
              </a:rPr>
              <a:t>Explanation</a:t>
            </a:r>
          </a:p>
          <a:p>
            <a:endParaRPr lang="en-GB" dirty="0"/>
          </a:p>
          <a:p>
            <a:pPr marL="342900" indent="-342900">
              <a:buFont typeface="Arial" panose="020B0604020202020204" pitchFamily="34" charset="0"/>
              <a:buChar char="•"/>
            </a:pPr>
            <a:r>
              <a:rPr lang="en-GB" sz="2000" dirty="0">
                <a:latin typeface="Abadi" panose="020B0604020104020204" pitchFamily="34" charset="0"/>
              </a:rPr>
              <a:t>All launch sites are close to a coastline. This is for safety as rockets can be launched seaward to ensure falling debris does not land near any populations of people</a:t>
            </a:r>
          </a:p>
          <a:p>
            <a:pPr marL="342900" indent="-342900">
              <a:buFont typeface="Arial" panose="020B0604020202020204" pitchFamily="34" charset="0"/>
              <a:buChar char="•"/>
            </a:pPr>
            <a:endParaRPr lang="en-GB" sz="2000" dirty="0">
              <a:latin typeface="Abadi" panose="020B0604020104020204" pitchFamily="34" charset="0"/>
            </a:endParaRPr>
          </a:p>
          <a:p>
            <a:pPr marL="342900" indent="-342900">
              <a:buFont typeface="Arial" panose="020B0604020202020204" pitchFamily="34" charset="0"/>
              <a:buChar char="•"/>
            </a:pPr>
            <a:r>
              <a:rPr lang="en-GB" sz="2000" dirty="0">
                <a:latin typeface="Abadi" panose="020B0604020104020204" pitchFamily="34" charset="0"/>
              </a:rPr>
              <a:t>All launch sites are near the equator which takes advantage of the Earth’s rotational speed, thereby providing extra velocity boost which reduces fuel consumption and allows more efficient  access to various orbital inclinations (ref: Microsoft Copilot Search)</a:t>
            </a:r>
          </a:p>
          <a:p>
            <a:pPr marL="342900" indent="-342900">
              <a:buFont typeface="Arial" panose="020B0604020202020204" pitchFamily="34" charset="0"/>
              <a:buChar char="•"/>
            </a:pPr>
            <a:endParaRPr lang="en-GB" sz="2000" dirty="0">
              <a:latin typeface="Abadi" panose="020B0604020104020204" pitchFamily="34" charset="0"/>
            </a:endParaRPr>
          </a:p>
          <a:p>
            <a:pPr marL="342900" indent="-342900">
              <a:buFont typeface="Arial" panose="020B0604020202020204" pitchFamily="34" charset="0"/>
              <a:buChar char="•"/>
            </a:pPr>
            <a:endParaRPr lang="en-GB" sz="2000" dirty="0">
              <a:latin typeface="Abadi" panose="020B0604020104020204" pitchFamily="34" charset="0"/>
            </a:endParaRPr>
          </a:p>
          <a:p>
            <a:endParaRPr lang="en-GB" dirty="0"/>
          </a:p>
        </p:txBody>
      </p:sp>
    </p:spTree>
    <p:extLst>
      <p:ext uri="{BB962C8B-B14F-4D97-AF65-F5344CB8AC3E}">
        <p14:creationId xmlns:p14="http://schemas.microsoft.com/office/powerpoint/2010/main" val="981671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Colour-labeled launch outcomes on the map</a:t>
            </a:r>
          </a:p>
        </p:txBody>
      </p:sp>
      <p:pic>
        <p:nvPicPr>
          <p:cNvPr id="7" name="Picture 6">
            <a:extLst>
              <a:ext uri="{FF2B5EF4-FFF2-40B4-BE49-F238E27FC236}">
                <a16:creationId xmlns:a16="http://schemas.microsoft.com/office/drawing/2014/main" id="{46312196-41DA-AB14-3A43-FF102D4F5A07}"/>
              </a:ext>
            </a:extLst>
          </p:cNvPr>
          <p:cNvPicPr>
            <a:picLocks noChangeAspect="1"/>
          </p:cNvPicPr>
          <p:nvPr/>
        </p:nvPicPr>
        <p:blipFill>
          <a:blip r:embed="rId3"/>
          <a:stretch>
            <a:fillRect/>
          </a:stretch>
        </p:blipFill>
        <p:spPr>
          <a:xfrm>
            <a:off x="6810375" y="1504950"/>
            <a:ext cx="4983550" cy="3600450"/>
          </a:xfrm>
          <a:prstGeom prst="rect">
            <a:avLst/>
          </a:prstGeom>
        </p:spPr>
      </p:pic>
      <p:sp>
        <p:nvSpPr>
          <p:cNvPr id="9" name="TextBox 8">
            <a:extLst>
              <a:ext uri="{FF2B5EF4-FFF2-40B4-BE49-F238E27FC236}">
                <a16:creationId xmlns:a16="http://schemas.microsoft.com/office/drawing/2014/main" id="{ED937BA9-45A0-787D-A725-9AA57930FD30}"/>
              </a:ext>
            </a:extLst>
          </p:cNvPr>
          <p:cNvSpPr txBox="1"/>
          <p:nvPr/>
        </p:nvSpPr>
        <p:spPr>
          <a:xfrm>
            <a:off x="857250" y="1504950"/>
            <a:ext cx="5686425" cy="4678204"/>
          </a:xfrm>
          <a:prstGeom prst="rect">
            <a:avLst/>
          </a:prstGeom>
          <a:noFill/>
        </p:spPr>
        <p:txBody>
          <a:bodyPr wrap="square" rtlCol="0">
            <a:spAutoFit/>
          </a:bodyPr>
          <a:lstStyle/>
          <a:p>
            <a:r>
              <a:rPr lang="en-GB" sz="2000" dirty="0">
                <a:latin typeface="Abadi" panose="020B0604020104020204" pitchFamily="34" charset="0"/>
              </a:rPr>
              <a:t>Explanation</a:t>
            </a:r>
          </a:p>
          <a:p>
            <a:endParaRPr lang="en-GB" sz="2000" dirty="0">
              <a:latin typeface="Abadi" panose="020B0604020104020204" pitchFamily="34" charset="0"/>
            </a:endParaRPr>
          </a:p>
          <a:p>
            <a:pPr marL="342900" indent="-342900">
              <a:buFont typeface="Arial" panose="020B0604020202020204" pitchFamily="34" charset="0"/>
              <a:buChar char="•"/>
            </a:pPr>
            <a:r>
              <a:rPr lang="en-GB" sz="2000" dirty="0">
                <a:latin typeface="Abadi" panose="020B0604020104020204" pitchFamily="34" charset="0"/>
              </a:rPr>
              <a:t>Colour markers allow for easy identification of launch sites with high success rates as follows:-</a:t>
            </a:r>
          </a:p>
          <a:p>
            <a:endParaRPr lang="en-GB" sz="2000" dirty="0">
              <a:solidFill>
                <a:srgbClr val="00B050"/>
              </a:solidFill>
              <a:latin typeface="Abadi" panose="020B0604020104020204" pitchFamily="34" charset="0"/>
            </a:endParaRPr>
          </a:p>
          <a:p>
            <a:r>
              <a:rPr lang="en-GB" sz="2000" dirty="0">
                <a:solidFill>
                  <a:srgbClr val="00B050"/>
                </a:solidFill>
                <a:latin typeface="Abadi" panose="020B0604020104020204" pitchFamily="34" charset="0"/>
              </a:rPr>
              <a:t>     Green Marker </a:t>
            </a:r>
            <a:r>
              <a:rPr lang="en-GB" sz="2000" dirty="0">
                <a:latin typeface="Abadi" panose="020B0604020104020204" pitchFamily="34" charset="0"/>
              </a:rPr>
              <a:t>= Successful Launch</a:t>
            </a:r>
          </a:p>
          <a:p>
            <a:r>
              <a:rPr lang="en-GB" sz="2000" dirty="0">
                <a:solidFill>
                  <a:srgbClr val="FF0000"/>
                </a:solidFill>
                <a:latin typeface="Abadi" panose="020B0604020104020204" pitchFamily="34" charset="0"/>
              </a:rPr>
              <a:t>     Red Marker </a:t>
            </a:r>
            <a:r>
              <a:rPr lang="en-GB" sz="2000" dirty="0">
                <a:latin typeface="Abadi" panose="020B0604020104020204" pitchFamily="34" charset="0"/>
              </a:rPr>
              <a:t>= Failed Launch</a:t>
            </a:r>
          </a:p>
          <a:p>
            <a:endParaRPr lang="en-GB" sz="2000" dirty="0">
              <a:latin typeface="Abadi" panose="020B0604020104020204" pitchFamily="34" charset="0"/>
            </a:endParaRPr>
          </a:p>
          <a:p>
            <a:pPr marL="342900" indent="-342900">
              <a:buFont typeface="Arial" panose="020B0604020202020204" pitchFamily="34" charset="0"/>
              <a:buChar char="•"/>
            </a:pPr>
            <a:r>
              <a:rPr lang="en-GB" sz="2000" dirty="0">
                <a:latin typeface="Abadi" panose="020B0604020104020204" pitchFamily="34" charset="0"/>
              </a:rPr>
              <a:t>The KSC LC-39A has a high success rate as shown in the screenshot opposite with 10 out of 13 launches being successful</a:t>
            </a:r>
          </a:p>
          <a:p>
            <a:endParaRPr lang="en-GB" sz="2000" dirty="0">
              <a:latin typeface="Abadi" panose="020B0604020104020204" pitchFamily="34" charset="0"/>
            </a:endParaRPr>
          </a:p>
          <a:p>
            <a:endParaRPr lang="en-GB" sz="2000" dirty="0">
              <a:latin typeface="Abadi" panose="020B0604020104020204" pitchFamily="34" charset="0"/>
            </a:endParaRPr>
          </a:p>
          <a:p>
            <a:endParaRPr lang="en-GB" sz="2000" dirty="0">
              <a:latin typeface="Abadi" panose="020B0604020104020204" pitchFamily="34" charset="0"/>
            </a:endParaRPr>
          </a:p>
          <a:p>
            <a:endParaRPr lang="en-GB" dirty="0"/>
          </a:p>
        </p:txBody>
      </p:sp>
    </p:spTree>
    <p:extLst>
      <p:ext uri="{BB962C8B-B14F-4D97-AF65-F5344CB8AC3E}">
        <p14:creationId xmlns:p14="http://schemas.microsoft.com/office/powerpoint/2010/main" val="239597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Distances to proximities from KSC-LC-39A Launch Site</a:t>
            </a:r>
          </a:p>
        </p:txBody>
      </p:sp>
      <p:pic>
        <p:nvPicPr>
          <p:cNvPr id="7" name="Picture 6">
            <a:extLst>
              <a:ext uri="{FF2B5EF4-FFF2-40B4-BE49-F238E27FC236}">
                <a16:creationId xmlns:a16="http://schemas.microsoft.com/office/drawing/2014/main" id="{28759629-F568-57BE-1CF0-7CBB6E95DF8E}"/>
              </a:ext>
            </a:extLst>
          </p:cNvPr>
          <p:cNvPicPr>
            <a:picLocks noChangeAspect="1"/>
          </p:cNvPicPr>
          <p:nvPr/>
        </p:nvPicPr>
        <p:blipFill>
          <a:blip r:embed="rId3"/>
          <a:stretch>
            <a:fillRect/>
          </a:stretch>
        </p:blipFill>
        <p:spPr>
          <a:xfrm>
            <a:off x="5343159" y="1433512"/>
            <a:ext cx="5942452" cy="3775797"/>
          </a:xfrm>
          <a:prstGeom prst="rect">
            <a:avLst/>
          </a:prstGeom>
        </p:spPr>
      </p:pic>
      <p:sp>
        <p:nvSpPr>
          <p:cNvPr id="2" name="TextBox 1">
            <a:extLst>
              <a:ext uri="{FF2B5EF4-FFF2-40B4-BE49-F238E27FC236}">
                <a16:creationId xmlns:a16="http://schemas.microsoft.com/office/drawing/2014/main" id="{09239BB2-6598-E6B2-A951-B811F82EC207}"/>
              </a:ext>
            </a:extLst>
          </p:cNvPr>
          <p:cNvSpPr txBox="1"/>
          <p:nvPr/>
        </p:nvSpPr>
        <p:spPr>
          <a:xfrm>
            <a:off x="849745" y="1433512"/>
            <a:ext cx="4378037" cy="4524315"/>
          </a:xfrm>
          <a:prstGeom prst="rect">
            <a:avLst/>
          </a:prstGeom>
          <a:noFill/>
        </p:spPr>
        <p:txBody>
          <a:bodyPr wrap="square" rtlCol="0">
            <a:spAutoFit/>
          </a:bodyPr>
          <a:lstStyle/>
          <a:p>
            <a:r>
              <a:rPr lang="en-GB" dirty="0"/>
              <a:t>Explanation</a:t>
            </a:r>
          </a:p>
          <a:p>
            <a:endParaRPr lang="en-GB" dirty="0"/>
          </a:p>
          <a:p>
            <a:r>
              <a:rPr lang="en-GB" dirty="0"/>
              <a:t>Distances from the KSC-LC-39A launch site to proximities are:-</a:t>
            </a:r>
          </a:p>
          <a:p>
            <a:endParaRPr lang="en-GB" dirty="0"/>
          </a:p>
          <a:p>
            <a:r>
              <a:rPr lang="en-GB" dirty="0"/>
              <a:t>Railway line	15.72km</a:t>
            </a:r>
          </a:p>
          <a:p>
            <a:r>
              <a:rPr lang="en-GB" dirty="0"/>
              <a:t>Coastline		14.83km</a:t>
            </a:r>
          </a:p>
          <a:p>
            <a:r>
              <a:rPr lang="en-GB" dirty="0"/>
              <a:t>Highway		19.95km</a:t>
            </a:r>
          </a:p>
          <a:p>
            <a:r>
              <a:rPr lang="en-GB" dirty="0"/>
              <a:t>City(Titusville)	16.25km</a:t>
            </a:r>
          </a:p>
          <a:p>
            <a:endParaRPr lang="en-GB" dirty="0"/>
          </a:p>
          <a:p>
            <a:r>
              <a:rPr lang="en-GB" dirty="0"/>
              <a:t>The above are quite close to the launch site.</a:t>
            </a:r>
          </a:p>
          <a:p>
            <a:r>
              <a:rPr lang="en-GB" dirty="0"/>
              <a:t>The distance to the nearest city is of particular note.  This could be potentially dangerous if there was falling debris from a rocket launch.</a:t>
            </a:r>
          </a:p>
          <a:p>
            <a:endParaRPr lang="en-GB" dirty="0"/>
          </a:p>
        </p:txBody>
      </p:sp>
    </p:spTree>
    <p:extLst>
      <p:ext uri="{BB962C8B-B14F-4D97-AF65-F5344CB8AC3E}">
        <p14:creationId xmlns:p14="http://schemas.microsoft.com/office/powerpoint/2010/main" val="232499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Successful Launches by Site</a:t>
            </a:r>
          </a:p>
        </p:txBody>
      </p:sp>
      <p:pic>
        <p:nvPicPr>
          <p:cNvPr id="4" name="Picture 3">
            <a:extLst>
              <a:ext uri="{FF2B5EF4-FFF2-40B4-BE49-F238E27FC236}">
                <a16:creationId xmlns:a16="http://schemas.microsoft.com/office/drawing/2014/main" id="{58AC4484-A676-0863-C1C6-69DE2F48A619}"/>
              </a:ext>
            </a:extLst>
          </p:cNvPr>
          <p:cNvPicPr>
            <a:picLocks noChangeAspect="1"/>
          </p:cNvPicPr>
          <p:nvPr/>
        </p:nvPicPr>
        <p:blipFill>
          <a:blip r:embed="rId3"/>
          <a:stretch>
            <a:fillRect/>
          </a:stretch>
        </p:blipFill>
        <p:spPr>
          <a:xfrm>
            <a:off x="770011" y="1344323"/>
            <a:ext cx="7810571" cy="2927454"/>
          </a:xfrm>
          <a:prstGeom prst="rect">
            <a:avLst/>
          </a:prstGeom>
        </p:spPr>
      </p:pic>
      <p:sp>
        <p:nvSpPr>
          <p:cNvPr id="6" name="TextBox 5">
            <a:extLst>
              <a:ext uri="{FF2B5EF4-FFF2-40B4-BE49-F238E27FC236}">
                <a16:creationId xmlns:a16="http://schemas.microsoft.com/office/drawing/2014/main" id="{2ACAF75D-2630-D269-AC33-FDAE310A51CB}"/>
              </a:ext>
            </a:extLst>
          </p:cNvPr>
          <p:cNvSpPr txBox="1"/>
          <p:nvPr/>
        </p:nvSpPr>
        <p:spPr>
          <a:xfrm>
            <a:off x="734027" y="4548245"/>
            <a:ext cx="10368081" cy="1200329"/>
          </a:xfrm>
          <a:prstGeom prst="rect">
            <a:avLst/>
          </a:prstGeom>
          <a:noFill/>
        </p:spPr>
        <p:txBody>
          <a:bodyPr wrap="square" rtlCol="0">
            <a:spAutoFit/>
          </a:bodyPr>
          <a:lstStyle/>
          <a:p>
            <a:r>
              <a:rPr lang="en-GB" dirty="0"/>
              <a:t>Explanation</a:t>
            </a:r>
          </a:p>
          <a:p>
            <a:endParaRPr lang="en-GB" dirty="0"/>
          </a:p>
          <a:p>
            <a:r>
              <a:rPr lang="en-GB" dirty="0"/>
              <a:t>From the pie chart and the key opposite it can be seen that the launch site with the highest success rate is the KSC-LC-39A launch site with a rate of 41.7%.  Only 8.3% less than half of all launches.</a:t>
            </a:r>
          </a:p>
        </p:txBody>
      </p:sp>
    </p:spTree>
    <p:extLst>
      <p:ext uri="{BB962C8B-B14F-4D97-AF65-F5344CB8AC3E}">
        <p14:creationId xmlns:p14="http://schemas.microsoft.com/office/powerpoint/2010/main" val="7001329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3498" y="1465405"/>
            <a:ext cx="10617993" cy="4560167"/>
          </a:xfrm>
          <a:prstGeom prst="rect">
            <a:avLst/>
          </a:prstGeom>
        </p:spPr>
        <p:txBody>
          <a:bodyPr lIns="91440" tIns="45720" rIns="91440" bIns="45720" anchor="t">
            <a:normAutofit/>
          </a:bodyPr>
          <a:lstStyle/>
          <a:p>
            <a:pPr lvl="4">
              <a:lnSpc>
                <a:spcPct val="100000"/>
              </a:lnSpc>
              <a:spcBef>
                <a:spcPts val="1400"/>
              </a:spcBef>
            </a:pPr>
            <a:endParaRPr lang="en-US" sz="1200" dirty="0">
              <a:solidFill>
                <a:schemeClr val="accent3">
                  <a:lumMod val="25000"/>
                </a:schemeClr>
              </a:solidFill>
              <a:latin typeface="Abadi"/>
            </a:endParaRPr>
          </a:p>
          <a:p>
            <a:pPr marL="0" indent="0">
              <a:buNone/>
            </a:pPr>
            <a:endParaRPr lang="en-US" dirty="0"/>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Success/Failure Rate for Launch Site KSC-LC-39A</a:t>
            </a:r>
          </a:p>
        </p:txBody>
      </p:sp>
      <p:pic>
        <p:nvPicPr>
          <p:cNvPr id="4" name="Picture 3">
            <a:extLst>
              <a:ext uri="{FF2B5EF4-FFF2-40B4-BE49-F238E27FC236}">
                <a16:creationId xmlns:a16="http://schemas.microsoft.com/office/drawing/2014/main" id="{D7AD1104-30E3-B9FE-F3BC-C2758728A30E}"/>
              </a:ext>
            </a:extLst>
          </p:cNvPr>
          <p:cNvPicPr>
            <a:picLocks noChangeAspect="1"/>
          </p:cNvPicPr>
          <p:nvPr/>
        </p:nvPicPr>
        <p:blipFill>
          <a:blip r:embed="rId3"/>
          <a:stretch>
            <a:fillRect/>
          </a:stretch>
        </p:blipFill>
        <p:spPr>
          <a:xfrm>
            <a:off x="770012" y="1465404"/>
            <a:ext cx="6572898" cy="2883009"/>
          </a:xfrm>
          <a:prstGeom prst="rect">
            <a:avLst/>
          </a:prstGeom>
        </p:spPr>
      </p:pic>
      <p:sp>
        <p:nvSpPr>
          <p:cNvPr id="6" name="TextBox 5">
            <a:extLst>
              <a:ext uri="{FF2B5EF4-FFF2-40B4-BE49-F238E27FC236}">
                <a16:creationId xmlns:a16="http://schemas.microsoft.com/office/drawing/2014/main" id="{8371B4D1-B13F-5682-D741-A095E824BE07}"/>
              </a:ext>
            </a:extLst>
          </p:cNvPr>
          <p:cNvSpPr txBox="1"/>
          <p:nvPr/>
        </p:nvSpPr>
        <p:spPr>
          <a:xfrm>
            <a:off x="770012" y="4664364"/>
            <a:ext cx="10295152" cy="1200329"/>
          </a:xfrm>
          <a:prstGeom prst="rect">
            <a:avLst/>
          </a:prstGeom>
          <a:noFill/>
        </p:spPr>
        <p:txBody>
          <a:bodyPr wrap="square" rtlCol="0">
            <a:spAutoFit/>
          </a:bodyPr>
          <a:lstStyle/>
          <a:p>
            <a:r>
              <a:rPr lang="en-GB" dirty="0"/>
              <a:t>Explanation</a:t>
            </a:r>
          </a:p>
          <a:p>
            <a:endParaRPr lang="en-GB" dirty="0"/>
          </a:p>
          <a:p>
            <a:r>
              <a:rPr lang="en-GB" dirty="0"/>
              <a:t>The success rate of rocket launches at KSC-LC-39A launch site is 76.9%  as opposed to a failure rate of 23.1%.</a:t>
            </a:r>
          </a:p>
          <a:p>
            <a:r>
              <a:rPr lang="en-GB" dirty="0"/>
              <a:t>Also, the folium map showed that 10 out of 13 landings were successful.</a:t>
            </a:r>
          </a:p>
        </p:txBody>
      </p:sp>
    </p:spTree>
    <p:extLst>
      <p:ext uri="{BB962C8B-B14F-4D97-AF65-F5344CB8AC3E}">
        <p14:creationId xmlns:p14="http://schemas.microsoft.com/office/powerpoint/2010/main" val="1866160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8" y="1492683"/>
            <a:ext cx="10414000" cy="4560599"/>
          </a:xfrm>
          <a:prstGeom prst="rect">
            <a:avLst/>
          </a:prstGeom>
        </p:spPr>
        <p:txBody>
          <a:bodyPr lIns="91440" tIns="45720" rIns="91440" bIns="45720" anchor="t">
            <a:normAutofit/>
          </a:bodyPr>
          <a:lstStyle/>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Mass vs. Launch Outcome for all sites</a:t>
            </a:r>
          </a:p>
        </p:txBody>
      </p:sp>
      <p:pic>
        <p:nvPicPr>
          <p:cNvPr id="4" name="Picture 3">
            <a:extLst>
              <a:ext uri="{FF2B5EF4-FFF2-40B4-BE49-F238E27FC236}">
                <a16:creationId xmlns:a16="http://schemas.microsoft.com/office/drawing/2014/main" id="{81CC5BB7-C8A2-7136-4E43-62D19A07A6B9}"/>
              </a:ext>
            </a:extLst>
          </p:cNvPr>
          <p:cNvPicPr>
            <a:picLocks noChangeAspect="1"/>
          </p:cNvPicPr>
          <p:nvPr/>
        </p:nvPicPr>
        <p:blipFill>
          <a:blip r:embed="rId3"/>
          <a:stretch>
            <a:fillRect/>
          </a:stretch>
        </p:blipFill>
        <p:spPr>
          <a:xfrm>
            <a:off x="626267" y="1562840"/>
            <a:ext cx="5696642" cy="2210142"/>
          </a:xfrm>
          <a:prstGeom prst="rect">
            <a:avLst/>
          </a:prstGeom>
        </p:spPr>
      </p:pic>
      <p:pic>
        <p:nvPicPr>
          <p:cNvPr id="9" name="Picture 8">
            <a:extLst>
              <a:ext uri="{FF2B5EF4-FFF2-40B4-BE49-F238E27FC236}">
                <a16:creationId xmlns:a16="http://schemas.microsoft.com/office/drawing/2014/main" id="{408240DB-2E60-0089-C709-19CF988E846A}"/>
              </a:ext>
            </a:extLst>
          </p:cNvPr>
          <p:cNvPicPr>
            <a:picLocks noChangeAspect="1"/>
          </p:cNvPicPr>
          <p:nvPr/>
        </p:nvPicPr>
        <p:blipFill>
          <a:blip r:embed="rId4"/>
          <a:stretch>
            <a:fillRect/>
          </a:stretch>
        </p:blipFill>
        <p:spPr>
          <a:xfrm>
            <a:off x="6504561" y="1562840"/>
            <a:ext cx="5450752" cy="2203493"/>
          </a:xfrm>
          <a:prstGeom prst="rect">
            <a:avLst/>
          </a:prstGeom>
        </p:spPr>
      </p:pic>
      <p:sp>
        <p:nvSpPr>
          <p:cNvPr id="10" name="TextBox 9">
            <a:extLst>
              <a:ext uri="{FF2B5EF4-FFF2-40B4-BE49-F238E27FC236}">
                <a16:creationId xmlns:a16="http://schemas.microsoft.com/office/drawing/2014/main" id="{AC8034E4-047D-3A19-200E-8A3CB5EEFB56}"/>
              </a:ext>
            </a:extLst>
          </p:cNvPr>
          <p:cNvSpPr txBox="1"/>
          <p:nvPr/>
        </p:nvSpPr>
        <p:spPr>
          <a:xfrm>
            <a:off x="801122" y="4298956"/>
            <a:ext cx="10589754" cy="2308324"/>
          </a:xfrm>
          <a:prstGeom prst="rect">
            <a:avLst/>
          </a:prstGeom>
          <a:noFill/>
        </p:spPr>
        <p:txBody>
          <a:bodyPr wrap="square" rtlCol="0">
            <a:spAutoFit/>
          </a:bodyPr>
          <a:lstStyle/>
          <a:p>
            <a:r>
              <a:rPr lang="en-GB" dirty="0"/>
              <a:t>Explanation</a:t>
            </a:r>
          </a:p>
          <a:p>
            <a:endParaRPr lang="en-GB" dirty="0"/>
          </a:p>
          <a:p>
            <a:r>
              <a:rPr lang="en-GB" dirty="0"/>
              <a:t>Payload masses between 2000kg and 4000kg have a greater success rate.  </a:t>
            </a:r>
          </a:p>
          <a:p>
            <a:r>
              <a:rPr lang="en-GB" dirty="0"/>
              <a:t>Heavier payloads between 6000kg and 8000kg had no successful landings as can be seen from the plot on the right.</a:t>
            </a:r>
          </a:p>
          <a:p>
            <a:r>
              <a:rPr lang="en-GB" dirty="0"/>
              <a:t>Booster version FT has the highest success rate as can be seen from the plot on the left.  </a:t>
            </a:r>
          </a:p>
          <a:p>
            <a:r>
              <a:rPr lang="en-GB" dirty="0"/>
              <a:t>There is one out of one successful rocket launch for the B5 rocket, however this would not provide a fair comparison for the other booster versions.</a:t>
            </a:r>
          </a:p>
        </p:txBody>
      </p:sp>
    </p:spTree>
    <p:extLst>
      <p:ext uri="{BB962C8B-B14F-4D97-AF65-F5344CB8AC3E}">
        <p14:creationId xmlns:p14="http://schemas.microsoft.com/office/powerpoint/2010/main" val="2523596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988291" y="1454726"/>
            <a:ext cx="10297320" cy="4789055"/>
          </a:xfrm>
          <a:prstGeom prst="rect">
            <a:avLst/>
          </a:prstGeom>
        </p:spPr>
        <p:txBody>
          <a:bodyPr vert="horz" lIns="91440" tIns="45720" rIns="91440" bIns="45720" rtlCol="0" anchor="t">
            <a:normAutofit/>
          </a:bodyPr>
          <a:lstStyle/>
          <a:p>
            <a:pPr marL="0" indent="0">
              <a:lnSpc>
                <a:spcPct val="100000"/>
              </a:lnSpc>
              <a:spcBef>
                <a:spcPts val="1400"/>
              </a:spcBef>
              <a:buNone/>
            </a:pPr>
            <a:r>
              <a:rPr lang="en-US" sz="2200" dirty="0">
                <a:solidFill>
                  <a:schemeClr val="accent3">
                    <a:lumMod val="25000"/>
                  </a:schemeClr>
                </a:solidFill>
                <a:latin typeface="Abadi"/>
              </a:rPr>
              <a:t>The built model accuracy for all built classification models is shown below:-</a:t>
            </a: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The model with the highest classification accuracy is the Decision Tree model with an accuracy of 0.89 versus an accuracy of 0.83 for the other models.</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For three of the models the classification report metrics are the same which is due to the small sample size.</a:t>
            </a:r>
          </a:p>
          <a:p>
            <a:pPr marL="0" indent="0">
              <a:lnSpc>
                <a:spcPct val="100000"/>
              </a:lnSpc>
              <a:spcBef>
                <a:spcPts val="1400"/>
              </a:spcBef>
              <a:buNone/>
            </a:pPr>
            <a:r>
              <a:rPr lang="en-US" sz="2200" i="1" dirty="0">
                <a:solidFill>
                  <a:schemeClr val="accent3">
                    <a:lumMod val="25000"/>
                  </a:schemeClr>
                </a:solidFill>
                <a:latin typeface="Abadi" panose="020B0604020104020204" pitchFamily="34" charset="0"/>
              </a:rPr>
              <a:t>*The classification reports for the models are shown in Appendix A</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graphicFrame>
        <p:nvGraphicFramePr>
          <p:cNvPr id="2" name="Table 1">
            <a:extLst>
              <a:ext uri="{FF2B5EF4-FFF2-40B4-BE49-F238E27FC236}">
                <a16:creationId xmlns:a16="http://schemas.microsoft.com/office/drawing/2014/main" id="{F2684CB7-797A-7BCE-0910-861FB8B2FA1F}"/>
              </a:ext>
            </a:extLst>
          </p:cNvPr>
          <p:cNvGraphicFramePr>
            <a:graphicFrameLocks noGrp="1"/>
          </p:cNvGraphicFramePr>
          <p:nvPr>
            <p:extLst>
              <p:ext uri="{D42A27DB-BD31-4B8C-83A1-F6EECF244321}">
                <p14:modId xmlns:p14="http://schemas.microsoft.com/office/powerpoint/2010/main" val="3596501205"/>
              </p:ext>
            </p:extLst>
          </p:nvPr>
        </p:nvGraphicFramePr>
        <p:xfrm>
          <a:off x="1099127" y="1828169"/>
          <a:ext cx="8128000" cy="1888075"/>
        </p:xfrm>
        <a:graphic>
          <a:graphicData uri="http://schemas.openxmlformats.org/drawingml/2006/table">
            <a:tbl>
              <a:tblPr firstRow="1" bandRow="1">
                <a:tableStyleId>{5C22544A-7EE6-4342-B048-85BDC9FD1C3A}</a:tableStyleId>
              </a:tblPr>
              <a:tblGrid>
                <a:gridCol w="2253673">
                  <a:extLst>
                    <a:ext uri="{9D8B030D-6E8A-4147-A177-3AD203B41FA5}">
                      <a16:colId xmlns:a16="http://schemas.microsoft.com/office/drawing/2014/main" val="344072667"/>
                    </a:ext>
                  </a:extLst>
                </a:gridCol>
                <a:gridCol w="1173018">
                  <a:extLst>
                    <a:ext uri="{9D8B030D-6E8A-4147-A177-3AD203B41FA5}">
                      <a16:colId xmlns:a16="http://schemas.microsoft.com/office/drawing/2014/main" val="499766647"/>
                    </a:ext>
                  </a:extLst>
                </a:gridCol>
                <a:gridCol w="1450109">
                  <a:extLst>
                    <a:ext uri="{9D8B030D-6E8A-4147-A177-3AD203B41FA5}">
                      <a16:colId xmlns:a16="http://schemas.microsoft.com/office/drawing/2014/main" val="824969014"/>
                    </a:ext>
                  </a:extLst>
                </a:gridCol>
                <a:gridCol w="1625600">
                  <a:extLst>
                    <a:ext uri="{9D8B030D-6E8A-4147-A177-3AD203B41FA5}">
                      <a16:colId xmlns:a16="http://schemas.microsoft.com/office/drawing/2014/main" val="3085720405"/>
                    </a:ext>
                  </a:extLst>
                </a:gridCol>
                <a:gridCol w="1625600">
                  <a:extLst>
                    <a:ext uri="{9D8B030D-6E8A-4147-A177-3AD203B41FA5}">
                      <a16:colId xmlns:a16="http://schemas.microsoft.com/office/drawing/2014/main" val="3209198939"/>
                    </a:ext>
                  </a:extLst>
                </a:gridCol>
              </a:tblGrid>
              <a:tr h="370840">
                <a:tc>
                  <a:txBody>
                    <a:bodyPr/>
                    <a:lstStyle/>
                    <a:p>
                      <a:r>
                        <a:rPr lang="en-GB" dirty="0"/>
                        <a:t>Model</a:t>
                      </a:r>
                    </a:p>
                  </a:txBody>
                  <a:tcPr/>
                </a:tc>
                <a:tc>
                  <a:txBody>
                    <a:bodyPr/>
                    <a:lstStyle/>
                    <a:p>
                      <a:r>
                        <a:rPr lang="en-GB" dirty="0"/>
                        <a:t>Precision</a:t>
                      </a:r>
                    </a:p>
                  </a:txBody>
                  <a:tcPr/>
                </a:tc>
                <a:tc>
                  <a:txBody>
                    <a:bodyPr/>
                    <a:lstStyle/>
                    <a:p>
                      <a:r>
                        <a:rPr lang="en-GB" dirty="0"/>
                        <a:t>Recall</a:t>
                      </a:r>
                    </a:p>
                  </a:txBody>
                  <a:tcPr/>
                </a:tc>
                <a:tc>
                  <a:txBody>
                    <a:bodyPr/>
                    <a:lstStyle/>
                    <a:p>
                      <a:r>
                        <a:rPr lang="en-GB" dirty="0"/>
                        <a:t>F1 Score</a:t>
                      </a:r>
                    </a:p>
                  </a:txBody>
                  <a:tcPr/>
                </a:tc>
                <a:tc>
                  <a:txBody>
                    <a:bodyPr/>
                    <a:lstStyle/>
                    <a:p>
                      <a:r>
                        <a:rPr lang="en-GB" dirty="0"/>
                        <a:t>Accuracy</a:t>
                      </a:r>
                    </a:p>
                  </a:txBody>
                  <a:tcPr/>
                </a:tc>
                <a:extLst>
                  <a:ext uri="{0D108BD9-81ED-4DB2-BD59-A6C34878D82A}">
                    <a16:rowId xmlns:a16="http://schemas.microsoft.com/office/drawing/2014/main" val="3971791195"/>
                  </a:ext>
                </a:extLst>
              </a:tr>
              <a:tr h="370840">
                <a:tc>
                  <a:txBody>
                    <a:bodyPr/>
                    <a:lstStyle/>
                    <a:p>
                      <a:r>
                        <a:rPr lang="en-GB" dirty="0"/>
                        <a:t>Logistic Regression</a:t>
                      </a:r>
                    </a:p>
                  </a:txBody>
                  <a:tcPr/>
                </a:tc>
                <a:tc>
                  <a:txBody>
                    <a:bodyPr/>
                    <a:lstStyle/>
                    <a:p>
                      <a:r>
                        <a:rPr lang="en-GB" dirty="0"/>
                        <a:t>0.80</a:t>
                      </a:r>
                    </a:p>
                  </a:txBody>
                  <a:tcPr/>
                </a:tc>
                <a:tc>
                  <a:txBody>
                    <a:bodyPr/>
                    <a:lstStyle/>
                    <a:p>
                      <a:r>
                        <a:rPr lang="en-GB" dirty="0"/>
                        <a:t>1.00</a:t>
                      </a:r>
                    </a:p>
                  </a:txBody>
                  <a:tcPr/>
                </a:tc>
                <a:tc>
                  <a:txBody>
                    <a:bodyPr/>
                    <a:lstStyle/>
                    <a:p>
                      <a:r>
                        <a:rPr lang="en-GB" dirty="0"/>
                        <a:t>0.89</a:t>
                      </a:r>
                    </a:p>
                  </a:txBody>
                  <a:tcPr/>
                </a:tc>
                <a:tc>
                  <a:txBody>
                    <a:bodyPr/>
                    <a:lstStyle/>
                    <a:p>
                      <a:r>
                        <a:rPr lang="en-GB" dirty="0"/>
                        <a:t>0.83</a:t>
                      </a:r>
                    </a:p>
                  </a:txBody>
                  <a:tcPr/>
                </a:tc>
                <a:extLst>
                  <a:ext uri="{0D108BD9-81ED-4DB2-BD59-A6C34878D82A}">
                    <a16:rowId xmlns:a16="http://schemas.microsoft.com/office/drawing/2014/main" val="2952848209"/>
                  </a:ext>
                </a:extLst>
              </a:tr>
              <a:tr h="404715">
                <a:tc>
                  <a:txBody>
                    <a:bodyPr/>
                    <a:lstStyle/>
                    <a:p>
                      <a:r>
                        <a:rPr lang="en-GB" dirty="0"/>
                        <a:t>Support Vector</a:t>
                      </a:r>
                    </a:p>
                  </a:txBody>
                  <a:tcPr/>
                </a:tc>
                <a:tc>
                  <a:txBody>
                    <a:bodyPr/>
                    <a:lstStyle/>
                    <a:p>
                      <a:r>
                        <a:rPr lang="en-GB" dirty="0"/>
                        <a:t>0.80</a:t>
                      </a:r>
                    </a:p>
                  </a:txBody>
                  <a:tcPr/>
                </a:tc>
                <a:tc>
                  <a:txBody>
                    <a:bodyPr/>
                    <a:lstStyle/>
                    <a:p>
                      <a:r>
                        <a:rPr lang="en-GB" dirty="0"/>
                        <a:t>1.00</a:t>
                      </a:r>
                    </a:p>
                  </a:txBody>
                  <a:tcPr/>
                </a:tc>
                <a:tc>
                  <a:txBody>
                    <a:bodyPr/>
                    <a:lstStyle/>
                    <a:p>
                      <a:r>
                        <a:rPr lang="en-GB" dirty="0"/>
                        <a:t>0.89</a:t>
                      </a:r>
                    </a:p>
                  </a:txBody>
                  <a:tcPr/>
                </a:tc>
                <a:tc>
                  <a:txBody>
                    <a:bodyPr/>
                    <a:lstStyle/>
                    <a:p>
                      <a:r>
                        <a:rPr lang="en-GB" dirty="0"/>
                        <a:t>0.83</a:t>
                      </a:r>
                    </a:p>
                  </a:txBody>
                  <a:tcPr/>
                </a:tc>
                <a:extLst>
                  <a:ext uri="{0D108BD9-81ED-4DB2-BD59-A6C34878D82A}">
                    <a16:rowId xmlns:a16="http://schemas.microsoft.com/office/drawing/2014/main" val="1936259997"/>
                  </a:ext>
                </a:extLst>
              </a:tr>
              <a:tr h="370840">
                <a:tc>
                  <a:txBody>
                    <a:bodyPr/>
                    <a:lstStyle/>
                    <a:p>
                      <a:r>
                        <a:rPr lang="en-GB" dirty="0"/>
                        <a:t>Decision Tree</a:t>
                      </a:r>
                    </a:p>
                  </a:txBody>
                  <a:tcPr/>
                </a:tc>
                <a:tc>
                  <a:txBody>
                    <a:bodyPr/>
                    <a:lstStyle/>
                    <a:p>
                      <a:r>
                        <a:rPr lang="en-GB" dirty="0"/>
                        <a:t>0.92</a:t>
                      </a:r>
                    </a:p>
                  </a:txBody>
                  <a:tcPr/>
                </a:tc>
                <a:tc>
                  <a:txBody>
                    <a:bodyPr/>
                    <a:lstStyle/>
                    <a:p>
                      <a:r>
                        <a:rPr lang="en-GB" dirty="0"/>
                        <a:t>0.92</a:t>
                      </a:r>
                    </a:p>
                  </a:txBody>
                  <a:tcPr/>
                </a:tc>
                <a:tc>
                  <a:txBody>
                    <a:bodyPr/>
                    <a:lstStyle/>
                    <a:p>
                      <a:r>
                        <a:rPr lang="en-GB" dirty="0"/>
                        <a:t>0.92</a:t>
                      </a:r>
                    </a:p>
                  </a:txBody>
                  <a:tcPr/>
                </a:tc>
                <a:tc>
                  <a:txBody>
                    <a:bodyPr/>
                    <a:lstStyle/>
                    <a:p>
                      <a:r>
                        <a:rPr lang="en-GB" dirty="0"/>
                        <a:t>0.89</a:t>
                      </a:r>
                    </a:p>
                  </a:txBody>
                  <a:tcPr/>
                </a:tc>
                <a:extLst>
                  <a:ext uri="{0D108BD9-81ED-4DB2-BD59-A6C34878D82A}">
                    <a16:rowId xmlns:a16="http://schemas.microsoft.com/office/drawing/2014/main" val="2693909471"/>
                  </a:ext>
                </a:extLst>
              </a:tr>
              <a:tr h="370840">
                <a:tc>
                  <a:txBody>
                    <a:bodyPr/>
                    <a:lstStyle/>
                    <a:p>
                      <a:r>
                        <a:rPr lang="en-GB" dirty="0"/>
                        <a:t>K Nearest Neighbour</a:t>
                      </a:r>
                    </a:p>
                  </a:txBody>
                  <a:tcPr/>
                </a:tc>
                <a:tc>
                  <a:txBody>
                    <a:bodyPr/>
                    <a:lstStyle/>
                    <a:p>
                      <a:r>
                        <a:rPr lang="en-GB" dirty="0"/>
                        <a:t>0.80</a:t>
                      </a:r>
                    </a:p>
                  </a:txBody>
                  <a:tcPr/>
                </a:tc>
                <a:tc>
                  <a:txBody>
                    <a:bodyPr/>
                    <a:lstStyle/>
                    <a:p>
                      <a:r>
                        <a:rPr lang="en-GB" dirty="0"/>
                        <a:t>1.00</a:t>
                      </a:r>
                    </a:p>
                  </a:txBody>
                  <a:tcPr/>
                </a:tc>
                <a:tc>
                  <a:txBody>
                    <a:bodyPr/>
                    <a:lstStyle/>
                    <a:p>
                      <a:r>
                        <a:rPr lang="en-GB" dirty="0"/>
                        <a:t>0.89</a:t>
                      </a:r>
                    </a:p>
                  </a:txBody>
                  <a:tcPr/>
                </a:tc>
                <a:tc>
                  <a:txBody>
                    <a:bodyPr/>
                    <a:lstStyle/>
                    <a:p>
                      <a:r>
                        <a:rPr lang="en-GB" dirty="0"/>
                        <a:t>0.83</a:t>
                      </a:r>
                    </a:p>
                  </a:txBody>
                  <a:tcPr/>
                </a:tc>
                <a:extLst>
                  <a:ext uri="{0D108BD9-81ED-4DB2-BD59-A6C34878D82A}">
                    <a16:rowId xmlns:a16="http://schemas.microsoft.com/office/drawing/2014/main" val="3678148965"/>
                  </a:ext>
                </a:extLst>
              </a:tr>
            </a:tbl>
          </a:graphicData>
        </a:graphic>
      </p:graphicFrame>
    </p:spTree>
    <p:extLst>
      <p:ext uri="{BB962C8B-B14F-4D97-AF65-F5344CB8AC3E}">
        <p14:creationId xmlns:p14="http://schemas.microsoft.com/office/powerpoint/2010/main" val="2459446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519825" y="1359619"/>
            <a:ext cx="5914807" cy="4674395"/>
          </a:xfrm>
          <a:prstGeom prst="rect">
            <a:avLst/>
          </a:prstGeom>
        </p:spPr>
        <p:txBody>
          <a:bodyPr>
            <a:normAutofit fontScale="92500" lnSpcReduction="10000"/>
          </a:bodyPr>
          <a:lstStyle/>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The confusion matrix for the Decision Tree </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model is shown opposite.</a:t>
            </a:r>
          </a:p>
          <a:p>
            <a:pPr marL="0" indent="0">
              <a:lnSpc>
                <a:spcPct val="100000"/>
              </a:lnSpc>
              <a:spcBef>
                <a:spcPts val="1400"/>
              </a:spcBef>
              <a:buNone/>
            </a:pPr>
            <a:r>
              <a:rPr lang="en-US" sz="2000" b="1" dirty="0">
                <a:solidFill>
                  <a:schemeClr val="accent3">
                    <a:lumMod val="25000"/>
                  </a:schemeClr>
                </a:solidFill>
                <a:latin typeface="Abadi" panose="020B0604020104020204" pitchFamily="34" charset="0"/>
              </a:rPr>
              <a:t>Explanation</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The confusion matrix represents the following:-</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True Positive		11</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True Negative		5</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False Positive		1</a:t>
            </a: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False Negative		1</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16 out of 18 landing outcomes were predicted accurately. </a:t>
            </a:r>
          </a:p>
          <a:p>
            <a:pPr marL="0" indent="0">
              <a:lnSpc>
                <a:spcPct val="100000"/>
              </a:lnSpc>
              <a:spcBef>
                <a:spcPts val="1400"/>
              </a:spcBef>
              <a:buNone/>
            </a:pPr>
            <a:r>
              <a:rPr lang="en-US" sz="2200" i="1" dirty="0">
                <a:solidFill>
                  <a:schemeClr val="accent3">
                    <a:lumMod val="25000"/>
                  </a:schemeClr>
                </a:solidFill>
                <a:latin typeface="Abadi" panose="020B0604020104020204" pitchFamily="34" charset="0"/>
              </a:rPr>
              <a:t>*See Appendix B for confusion matrix of other models</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3" name="Picture 2">
            <a:extLst>
              <a:ext uri="{FF2B5EF4-FFF2-40B4-BE49-F238E27FC236}">
                <a16:creationId xmlns:a16="http://schemas.microsoft.com/office/drawing/2014/main" id="{7AD3DAC7-B135-EA7D-C624-2C2ABBF3643D}"/>
              </a:ext>
            </a:extLst>
          </p:cNvPr>
          <p:cNvPicPr>
            <a:picLocks noChangeAspect="1"/>
          </p:cNvPicPr>
          <p:nvPr/>
        </p:nvPicPr>
        <p:blipFill>
          <a:blip r:embed="rId3"/>
          <a:stretch>
            <a:fillRect/>
          </a:stretch>
        </p:blipFill>
        <p:spPr>
          <a:xfrm>
            <a:off x="6883197" y="1643278"/>
            <a:ext cx="4402414" cy="3427485"/>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48</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0" y="1514764"/>
            <a:ext cx="11285611" cy="4711411"/>
          </a:xfrm>
          <a:prstGeom prst="rect">
            <a:avLst/>
          </a:prstGeom>
        </p:spPr>
        <p:txBody>
          <a:bodyPr>
            <a:normAutofit/>
          </a:bodyPr>
          <a:lstStyle/>
          <a:p>
            <a:pPr>
              <a:lnSpc>
                <a:spcPct val="100000"/>
              </a:lnSpc>
              <a:spcBef>
                <a:spcPts val="0"/>
              </a:spcBef>
            </a:pPr>
            <a:r>
              <a:rPr lang="en-US" sz="2000" dirty="0">
                <a:solidFill>
                  <a:schemeClr val="accent3">
                    <a:lumMod val="25000"/>
                  </a:schemeClr>
                </a:solidFill>
                <a:latin typeface="Abadi" panose="020B0604020104020204" pitchFamily="34" charset="0"/>
              </a:rPr>
              <a:t>The KSC-LC-39A has the highest success rate of landing outcomes compared to other launch sites.</a:t>
            </a:r>
          </a:p>
          <a:p>
            <a:pPr marL="0" indent="0">
              <a:lnSpc>
                <a:spcPct val="100000"/>
              </a:lnSpc>
              <a:spcBef>
                <a:spcPts val="0"/>
              </a:spcBef>
              <a:buNone/>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There is an upwards trend in yearly success rates with a dip between 2017 to 2018 perhaps due to significant operational challenges(ref Microsoft co-pilot). There was  another dip between 2019 to 2020 perhaps due to covid-19.</a:t>
            </a:r>
          </a:p>
          <a:p>
            <a:pPr marL="0" indent="0">
              <a:lnSpc>
                <a:spcPct val="100000"/>
              </a:lnSpc>
              <a:spcBef>
                <a:spcPts val="0"/>
              </a:spcBef>
              <a:buNone/>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Lower payload mass results in a higher rate of launch successes than high payload mass.</a:t>
            </a:r>
          </a:p>
          <a:p>
            <a:pPr marL="0" indent="0">
              <a:lnSpc>
                <a:spcPct val="100000"/>
              </a:lnSpc>
              <a:spcBef>
                <a:spcPts val="0"/>
              </a:spcBef>
              <a:buNone/>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Launch sites are in close proximity to a railway line, highway, coastline or city.</a:t>
            </a:r>
          </a:p>
          <a:p>
            <a:pPr marL="0" indent="0">
              <a:lnSpc>
                <a:spcPct val="100000"/>
              </a:lnSpc>
              <a:spcBef>
                <a:spcPts val="0"/>
              </a:spcBef>
              <a:buNone/>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All launch sites are close to the equator to take advantage of the higher rotational speed of the Earth.</a:t>
            </a:r>
          </a:p>
          <a:p>
            <a:pPr marL="0" indent="0">
              <a:lnSpc>
                <a:spcPct val="100000"/>
              </a:lnSpc>
              <a:spcBef>
                <a:spcPts val="0"/>
              </a:spcBef>
              <a:buNone/>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The best model for predicting landing outcomes is the Decision Tree Model.</a:t>
            </a:r>
          </a:p>
          <a:p>
            <a:pPr>
              <a:lnSpc>
                <a:spcPct val="100000"/>
              </a:lnSpc>
              <a:spcBef>
                <a:spcPts val="0"/>
              </a:spcBef>
            </a:pPr>
            <a:endParaRPr lang="en-US" sz="1400" dirty="0">
              <a:solidFill>
                <a:schemeClr val="accent3">
                  <a:lumMod val="25000"/>
                </a:schemeClr>
              </a:solidFill>
              <a:latin typeface="Abadi" panose="020B0604020104020204" pitchFamily="34" charset="0"/>
            </a:endParaRPr>
          </a:p>
          <a:p>
            <a:pPr>
              <a:lnSpc>
                <a:spcPct val="100000"/>
              </a:lnSpc>
              <a:spcBef>
                <a:spcPts val="0"/>
              </a:spcBef>
            </a:pPr>
            <a:r>
              <a:rPr lang="en-US" sz="2000" dirty="0">
                <a:solidFill>
                  <a:schemeClr val="accent3">
                    <a:lumMod val="25000"/>
                  </a:schemeClr>
                </a:solidFill>
                <a:latin typeface="Abadi" panose="020B0604020104020204" pitchFamily="34" charset="0"/>
              </a:rPr>
              <a:t>Orbits ES-LI, GEO, HEO and SSO had 100% success rate.</a:t>
            </a:r>
          </a:p>
          <a:p>
            <a:pPr marL="0" indent="0">
              <a:lnSpc>
                <a:spcPct val="100000"/>
              </a:lnSpc>
              <a:spcBef>
                <a:spcPts val="0"/>
              </a:spcBef>
              <a:buNone/>
            </a:pPr>
            <a:endParaRPr lang="en-US" sz="20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49</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424873" y="1431638"/>
            <a:ext cx="11212945" cy="5310907"/>
          </a:xfrm>
          <a:prstGeom prst="rect">
            <a:avLst/>
          </a:prstGeom>
        </p:spPr>
        <p:txBody>
          <a:bodyPr>
            <a:normAutofit/>
          </a:bodyPr>
          <a:lstStyle/>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Appendix A</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2000" dirty="0">
                <a:solidFill>
                  <a:schemeClr val="accent3">
                    <a:lumMod val="25000"/>
                  </a:schemeClr>
                </a:solidFill>
                <a:latin typeface="Abadi" panose="020B0604020104020204" pitchFamily="34" charset="0"/>
              </a:rPr>
              <a:t>Appendix B</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pic>
        <p:nvPicPr>
          <p:cNvPr id="3" name="Picture 2">
            <a:extLst>
              <a:ext uri="{FF2B5EF4-FFF2-40B4-BE49-F238E27FC236}">
                <a16:creationId xmlns:a16="http://schemas.microsoft.com/office/drawing/2014/main" id="{6666EC5C-47E0-6172-00CB-33CA5C681EAE}"/>
              </a:ext>
            </a:extLst>
          </p:cNvPr>
          <p:cNvPicPr>
            <a:picLocks noChangeAspect="1"/>
          </p:cNvPicPr>
          <p:nvPr/>
        </p:nvPicPr>
        <p:blipFill>
          <a:blip r:embed="rId4"/>
          <a:stretch>
            <a:fillRect/>
          </a:stretch>
        </p:blipFill>
        <p:spPr>
          <a:xfrm>
            <a:off x="554182" y="4393317"/>
            <a:ext cx="2879293" cy="2250818"/>
          </a:xfrm>
          <a:prstGeom prst="rect">
            <a:avLst/>
          </a:prstGeom>
        </p:spPr>
      </p:pic>
      <p:pic>
        <p:nvPicPr>
          <p:cNvPr id="7" name="Picture 6">
            <a:extLst>
              <a:ext uri="{FF2B5EF4-FFF2-40B4-BE49-F238E27FC236}">
                <a16:creationId xmlns:a16="http://schemas.microsoft.com/office/drawing/2014/main" id="{CE0D4E11-08F6-C654-9437-F55F4EFB06D6}"/>
              </a:ext>
            </a:extLst>
          </p:cNvPr>
          <p:cNvPicPr>
            <a:picLocks noChangeAspect="1"/>
          </p:cNvPicPr>
          <p:nvPr/>
        </p:nvPicPr>
        <p:blipFill>
          <a:blip r:embed="rId5"/>
          <a:stretch>
            <a:fillRect/>
          </a:stretch>
        </p:blipFill>
        <p:spPr>
          <a:xfrm>
            <a:off x="424873" y="2235879"/>
            <a:ext cx="4610100" cy="1419225"/>
          </a:xfrm>
          <a:prstGeom prst="rect">
            <a:avLst/>
          </a:prstGeom>
        </p:spPr>
      </p:pic>
      <p:sp>
        <p:nvSpPr>
          <p:cNvPr id="8" name="TextBox 7">
            <a:extLst>
              <a:ext uri="{FF2B5EF4-FFF2-40B4-BE49-F238E27FC236}">
                <a16:creationId xmlns:a16="http://schemas.microsoft.com/office/drawing/2014/main" id="{C541BFC4-B983-7206-079A-B353D0BE7B81}"/>
              </a:ext>
            </a:extLst>
          </p:cNvPr>
          <p:cNvSpPr txBox="1"/>
          <p:nvPr/>
        </p:nvSpPr>
        <p:spPr>
          <a:xfrm>
            <a:off x="424873" y="1829118"/>
            <a:ext cx="2712100" cy="369332"/>
          </a:xfrm>
          <a:prstGeom prst="rect">
            <a:avLst/>
          </a:prstGeom>
          <a:noFill/>
        </p:spPr>
        <p:txBody>
          <a:bodyPr wrap="square" rtlCol="0">
            <a:spAutoFit/>
          </a:bodyPr>
          <a:lstStyle/>
          <a:p>
            <a:r>
              <a:rPr lang="en-GB" dirty="0">
                <a:latin typeface="Abadi" panose="020B0604020104020204" pitchFamily="34" charset="0"/>
              </a:rPr>
              <a:t>Decision Tree Model</a:t>
            </a:r>
          </a:p>
        </p:txBody>
      </p:sp>
      <p:pic>
        <p:nvPicPr>
          <p:cNvPr id="10" name="Picture 9">
            <a:extLst>
              <a:ext uri="{FF2B5EF4-FFF2-40B4-BE49-F238E27FC236}">
                <a16:creationId xmlns:a16="http://schemas.microsoft.com/office/drawing/2014/main" id="{CD6D9C97-15FC-DCF9-6D84-0F0FDEAF4C32}"/>
              </a:ext>
            </a:extLst>
          </p:cNvPr>
          <p:cNvPicPr>
            <a:picLocks noChangeAspect="1"/>
          </p:cNvPicPr>
          <p:nvPr/>
        </p:nvPicPr>
        <p:blipFill>
          <a:blip r:embed="rId6"/>
          <a:stretch>
            <a:fillRect/>
          </a:stretch>
        </p:blipFill>
        <p:spPr>
          <a:xfrm>
            <a:off x="5596659" y="2283393"/>
            <a:ext cx="4914900" cy="1485900"/>
          </a:xfrm>
          <a:prstGeom prst="rect">
            <a:avLst/>
          </a:prstGeom>
        </p:spPr>
      </p:pic>
      <p:sp>
        <p:nvSpPr>
          <p:cNvPr id="12" name="TextBox 11">
            <a:extLst>
              <a:ext uri="{FF2B5EF4-FFF2-40B4-BE49-F238E27FC236}">
                <a16:creationId xmlns:a16="http://schemas.microsoft.com/office/drawing/2014/main" id="{2722C376-EA59-BA20-FDF7-8148869112B8}"/>
              </a:ext>
            </a:extLst>
          </p:cNvPr>
          <p:cNvSpPr txBox="1"/>
          <p:nvPr/>
        </p:nvSpPr>
        <p:spPr>
          <a:xfrm>
            <a:off x="5448877" y="1783393"/>
            <a:ext cx="4748068" cy="369332"/>
          </a:xfrm>
          <a:prstGeom prst="rect">
            <a:avLst/>
          </a:prstGeom>
          <a:noFill/>
        </p:spPr>
        <p:txBody>
          <a:bodyPr wrap="square" rtlCol="0">
            <a:spAutoFit/>
          </a:bodyPr>
          <a:lstStyle/>
          <a:p>
            <a:r>
              <a:rPr lang="en-GB" dirty="0">
                <a:latin typeface="Abadi" panose="020B0604020104020204" pitchFamily="34" charset="0"/>
              </a:rPr>
              <a:t>SVC, KNN and Logistic Regression Models</a:t>
            </a:r>
          </a:p>
        </p:txBody>
      </p:sp>
    </p:spTree>
    <p:extLst>
      <p:ext uri="{BB962C8B-B14F-4D97-AF65-F5344CB8AC3E}">
        <p14:creationId xmlns:p14="http://schemas.microsoft.com/office/powerpoint/2010/main" val="34100085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155be751-a274-42e8-93fb-f39d3b9bccc8"/>
    <ds:schemaRef ds:uri="http://purl.org/dc/elements/1.1/"/>
    <ds:schemaRef ds:uri="f80a141d-92ca-4d3d-9308-f7e7b1d44ce8"/>
    <ds:schemaRef ds:uri="http://www.w3.org/XML/1998/namespace"/>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2000</TotalTime>
  <Words>3043</Words>
  <Application>Microsoft Office PowerPoint</Application>
  <PresentationFormat>Widescreen</PresentationFormat>
  <Paragraphs>503</Paragraphs>
  <Slides>50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Abadi</vt:lpstr>
      <vt:lpstr>Arial</vt:lpstr>
      <vt:lpstr>Calibri</vt:lpstr>
      <vt:lpstr>IBM Plex Mono SemiBold</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Collection – Web Scraping Flowchart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The Chapmans</cp:lastModifiedBy>
  <cp:revision>256</cp:revision>
  <dcterms:created xsi:type="dcterms:W3CDTF">2021-04-29T18:58:34Z</dcterms:created>
  <dcterms:modified xsi:type="dcterms:W3CDTF">2026-05-09T15:44:16Z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